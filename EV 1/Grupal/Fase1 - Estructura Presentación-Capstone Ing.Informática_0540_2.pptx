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Lato" panose="020F0502020204030203" pitchFamily="34" charset="0"/>
      <p:regular r:id="rId17"/>
      <p:bold r:id="rId18"/>
      <p:italic r:id="rId19"/>
      <p:boldItalic r:id="rId20"/>
    </p:embeddedFont>
    <p:embeddedFont>
      <p:font typeface="Montserrat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gZbXrViQhA5kc/uvLtuoijLZuP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FF28805-17AD-40E6-915C-37362F6C0C01}">
  <a:tblStyle styleId="{7FF28805-17AD-40E6-915C-37362F6C0C0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0F209F7-D95C-4DCF-97C7-5D4CA70DBA2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font" Target="fonts/font2.fntdata" /><Relationship Id="rId3" Type="http://schemas.openxmlformats.org/officeDocument/2006/relationships/slide" Target="slides/slide2.xml" /><Relationship Id="rId21" Type="http://schemas.openxmlformats.org/officeDocument/2006/relationships/font" Target="fonts/font5.fntdata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font" Target="fonts/font1.fntdata" /><Relationship Id="rId2" Type="http://schemas.openxmlformats.org/officeDocument/2006/relationships/slide" Target="slides/slide1.xml" /><Relationship Id="rId16" Type="http://schemas.openxmlformats.org/officeDocument/2006/relationships/notesMaster" Target="notesMasters/notesMaster1.xml" /><Relationship Id="rId20" Type="http://schemas.openxmlformats.org/officeDocument/2006/relationships/font" Target="fonts/font4.fntdata" /><Relationship Id="rId2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font" Target="fonts/font8.fntdata" /><Relationship Id="rId32" Type="http://schemas.openxmlformats.org/officeDocument/2006/relationships/tableStyles" Target="tableStyle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font" Target="fonts/font7.fntdata" /><Relationship Id="rId28" Type="http://customschemas.google.com/relationships/presentationmetadata" Target="metadata" /><Relationship Id="rId10" Type="http://schemas.openxmlformats.org/officeDocument/2006/relationships/slide" Target="slides/slide9.xml" /><Relationship Id="rId19" Type="http://schemas.openxmlformats.org/officeDocument/2006/relationships/font" Target="fonts/font3.fntdata" /><Relationship Id="rId31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font" Target="fonts/font6.fntdata" /><Relationship Id="rId30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2" name="Google Shape;13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8" name="Google Shape;13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a171f6bd2_1_9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5" name="Google Shape;145;g3fa171f6bd2_1_9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a171f6bd2_1_9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2" name="Google Shape;152;g3fa171f6bd2_1_9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a171f6bd2_1_9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9" name="Google Shape;159;g3fa171f6bd2_1_9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a171f6bd2_1_9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5" name="Google Shape;165;g3fa171f6bd2_1_9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a171f6bd2_1_9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1" name="Google Shape;171;g3fa171f6bd2_1_9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a171f6bd2_1_9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7" name="Google Shape;177;g3fa171f6bd2_1_9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a171f6bd2_1_10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3" name="Google Shape;183;g3fa171f6bd2_1_10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a171f6bd2_1_10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9" name="Google Shape;189;g3fa171f6bd2_1_10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a171f6bd2_1_10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5" name="Google Shape;195;g3fa171f6bd2_1_10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a171f6bd2_1_10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1" name="Google Shape;201;g3fa171f6bd2_1_10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a171f6bd2_1_10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7" name="Google Shape;207;g3fa171f6bd2_1_10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a171f6bd2_1_10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3" name="Google Shape;213;g3fa171f6bd2_1_10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fa171f6bd2_1_838"/>
          <p:cNvSpPr/>
          <p:nvPr/>
        </p:nvSpPr>
        <p:spPr>
          <a:xfrm rot="5400000">
            <a:off x="10000500" y="673"/>
            <a:ext cx="2191500" cy="21915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g3fa171f6bd2_1_838"/>
          <p:cNvGrpSpPr/>
          <p:nvPr/>
        </p:nvGrpSpPr>
        <p:grpSpPr>
          <a:xfrm>
            <a:off x="0" y="654"/>
            <a:ext cx="6871435" cy="6845694"/>
            <a:chOff x="0" y="75"/>
            <a:chExt cx="5153705" cy="5152950"/>
          </a:xfrm>
        </p:grpSpPr>
        <p:sp>
          <p:nvSpPr>
            <p:cNvPr id="12" name="Google Shape;12;g3fa171f6bd2_1_838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g3fa171f6bd2_1_838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g3fa171f6bd2_1_838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g3fa171f6bd2_1_838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g3fa171f6bd2_1_838"/>
          <p:cNvSpPr txBox="1">
            <a:spLocks noGrp="1"/>
          </p:cNvSpPr>
          <p:nvPr>
            <p:ph type="ctrTitle"/>
          </p:nvPr>
        </p:nvSpPr>
        <p:spPr>
          <a:xfrm>
            <a:off x="4716200" y="2104533"/>
            <a:ext cx="6690000" cy="2105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17" name="Google Shape;17;g3fa171f6bd2_1_838"/>
          <p:cNvSpPr txBox="1">
            <a:spLocks noGrp="1"/>
          </p:cNvSpPr>
          <p:nvPr>
            <p:ph type="subTitle" idx="1"/>
          </p:nvPr>
        </p:nvSpPr>
        <p:spPr>
          <a:xfrm>
            <a:off x="6778600" y="5233233"/>
            <a:ext cx="4627500" cy="67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18" name="Google Shape;18;g3fa171f6bd2_1_83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g3fa171f6bd2_1_848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21" name="Google Shape;21;g3fa171f6bd2_1_848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g3fa171f6bd2_1_848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g3fa171f6bd2_1_848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g3fa171f6bd2_1_848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g3fa171f6bd2_1_848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g3fa171f6bd2_1_848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g3fa171f6bd2_1_848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g3fa171f6bd2_1_848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g3fa171f6bd2_1_848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g3fa171f6bd2_1_848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g3fa171f6bd2_1_848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g3fa171f6bd2_1_848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g3fa171f6bd2_1_848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g3fa171f6bd2_1_848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g3fa171f6bd2_1_848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g3fa171f6bd2_1_848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g3fa171f6bd2_1_848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g3fa171f6bd2_1_848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g3fa171f6bd2_1_848"/>
          <p:cNvSpPr txBox="1">
            <a:spLocks noGrp="1"/>
          </p:cNvSpPr>
          <p:nvPr>
            <p:ph type="title"/>
          </p:nvPr>
        </p:nvSpPr>
        <p:spPr>
          <a:xfrm>
            <a:off x="1098467" y="2737333"/>
            <a:ext cx="6116100" cy="15315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g3fa171f6bd2_1_84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g3fa171f6bd2_1_870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43" name="Google Shape;43;g3fa171f6bd2_1_870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g3fa171f6bd2_1_870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g3fa171f6bd2_1_870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46" name="Google Shape;46;g3fa171f6bd2_1_870"/>
          <p:cNvSpPr txBox="1">
            <a:spLocks noGrp="1"/>
          </p:cNvSpPr>
          <p:nvPr>
            <p:ph type="body" idx="1"/>
          </p:nvPr>
        </p:nvSpPr>
        <p:spPr>
          <a:xfrm>
            <a:off x="1730000" y="2090067"/>
            <a:ext cx="9385200" cy="3881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g3fa171f6bd2_1_87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g3fa171f6bd2_1_877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50" name="Google Shape;50;g3fa171f6bd2_1_87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g3fa171f6bd2_1_87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g3fa171f6bd2_1_877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53" name="Google Shape;53;g3fa171f6bd2_1_877"/>
          <p:cNvSpPr txBox="1">
            <a:spLocks noGrp="1"/>
          </p:cNvSpPr>
          <p:nvPr>
            <p:ph type="body" idx="1"/>
          </p:nvPr>
        </p:nvSpPr>
        <p:spPr>
          <a:xfrm>
            <a:off x="1730000" y="2090067"/>
            <a:ext cx="4537500" cy="3881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g3fa171f6bd2_1_877"/>
          <p:cNvSpPr txBox="1">
            <a:spLocks noGrp="1"/>
          </p:cNvSpPr>
          <p:nvPr>
            <p:ph type="body" idx="2"/>
          </p:nvPr>
        </p:nvSpPr>
        <p:spPr>
          <a:xfrm>
            <a:off x="6577628" y="2090067"/>
            <a:ext cx="4537500" cy="3881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g3fa171f6bd2_1_87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g3fa171f6bd2_1_885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58" name="Google Shape;58;g3fa171f6bd2_1_88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g3fa171f6bd2_1_88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g3fa171f6bd2_1_885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61" name="Google Shape;61;g3fa171f6bd2_1_88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g3fa171f6bd2_1_891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64" name="Google Shape;64;g3fa171f6bd2_1_891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g3fa171f6bd2_1_891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g3fa171f6bd2_1_891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5065200" cy="1990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67" name="Google Shape;67;g3fa171f6bd2_1_891"/>
          <p:cNvSpPr txBox="1">
            <a:spLocks noGrp="1"/>
          </p:cNvSpPr>
          <p:nvPr>
            <p:ph type="body" idx="1"/>
          </p:nvPr>
        </p:nvSpPr>
        <p:spPr>
          <a:xfrm>
            <a:off x="1730000" y="2630067"/>
            <a:ext cx="5065200" cy="3221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g3fa171f6bd2_1_89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g3fa171f6bd2_1_898"/>
          <p:cNvGrpSpPr/>
          <p:nvPr/>
        </p:nvGrpSpPr>
        <p:grpSpPr>
          <a:xfrm>
            <a:off x="5875053" y="0"/>
            <a:ext cx="6316642" cy="6857829"/>
            <a:chOff x="4406400" y="0"/>
            <a:chExt cx="4737600" cy="5143500"/>
          </a:xfrm>
        </p:grpSpPr>
        <p:sp>
          <p:nvSpPr>
            <p:cNvPr id="71" name="Google Shape;71;g3fa171f6bd2_1_89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g3fa171f6bd2_1_89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g3fa171f6bd2_1_89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g3fa171f6bd2_1_89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g3fa171f6bd2_1_89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g3fa171f6bd2_1_89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g3fa171f6bd2_1_89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g3fa171f6bd2_1_89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g3fa171f6bd2_1_89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g3fa171f6bd2_1_89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g3fa171f6bd2_1_89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g3fa171f6bd2_1_89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g3fa171f6bd2_1_89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g3fa171f6bd2_1_89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g3fa171f6bd2_1_89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g3fa171f6bd2_1_89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g3fa171f6bd2_1_89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g3fa171f6bd2_1_89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g3fa171f6bd2_1_898"/>
          <p:cNvSpPr txBox="1">
            <a:spLocks noGrp="1"/>
          </p:cNvSpPr>
          <p:nvPr>
            <p:ph type="title"/>
          </p:nvPr>
        </p:nvSpPr>
        <p:spPr>
          <a:xfrm>
            <a:off x="1098467" y="1155700"/>
            <a:ext cx="6116100" cy="469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g3fa171f6bd2_1_89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g3fa171f6bd2_1_920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93" name="Google Shape;93;g3fa171f6bd2_1_920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g3fa171f6bd2_1_920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g3fa171f6bd2_1_920"/>
          <p:cNvSpPr txBox="1">
            <a:spLocks noGrp="1"/>
          </p:cNvSpPr>
          <p:nvPr>
            <p:ph type="title"/>
          </p:nvPr>
        </p:nvSpPr>
        <p:spPr>
          <a:xfrm>
            <a:off x="1730000" y="2211100"/>
            <a:ext cx="4048500" cy="2335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6" name="Google Shape;96;g3fa171f6bd2_1_920"/>
          <p:cNvSpPr txBox="1">
            <a:spLocks noGrp="1"/>
          </p:cNvSpPr>
          <p:nvPr>
            <p:ph type="subTitle" idx="1"/>
          </p:nvPr>
        </p:nvSpPr>
        <p:spPr>
          <a:xfrm>
            <a:off x="1730000" y="4717333"/>
            <a:ext cx="4048500" cy="67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97" name="Google Shape;97;g3fa171f6bd2_1_920"/>
          <p:cNvSpPr txBox="1">
            <a:spLocks noGrp="1"/>
          </p:cNvSpPr>
          <p:nvPr>
            <p:ph type="body" idx="2"/>
          </p:nvPr>
        </p:nvSpPr>
        <p:spPr>
          <a:xfrm>
            <a:off x="6197600" y="2262133"/>
            <a:ext cx="4902300" cy="3129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g3fa171f6bd2_1_92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g3fa171f6bd2_1_928"/>
          <p:cNvGrpSpPr/>
          <p:nvPr/>
        </p:nvGrpSpPr>
        <p:grpSpPr>
          <a:xfrm>
            <a:off x="0" y="5504636"/>
            <a:ext cx="931877" cy="912853"/>
            <a:chOff x="0" y="3785672"/>
            <a:chExt cx="698925" cy="684657"/>
          </a:xfrm>
        </p:grpSpPr>
        <p:sp>
          <p:nvSpPr>
            <p:cNvPr id="101" name="Google Shape;101;g3fa171f6bd2_1_928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g3fa171f6bd2_1_928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g3fa171f6bd2_1_928"/>
          <p:cNvSpPr txBox="1">
            <a:spLocks noGrp="1"/>
          </p:cNvSpPr>
          <p:nvPr>
            <p:ph type="body" idx="1"/>
          </p:nvPr>
        </p:nvSpPr>
        <p:spPr>
          <a:xfrm>
            <a:off x="1083633" y="5740500"/>
            <a:ext cx="9248100" cy="698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g3fa171f6bd2_1_92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g3fa171f6bd2_1_934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107" name="Google Shape;107;g3fa171f6bd2_1_93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g3fa171f6bd2_1_93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g3fa171f6bd2_1_93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g3fa171f6bd2_1_93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g3fa171f6bd2_1_93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g3fa171f6bd2_1_93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g3fa171f6bd2_1_93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g3fa171f6bd2_1_93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g3fa171f6bd2_1_93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g3fa171f6bd2_1_93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g3fa171f6bd2_1_93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g3fa171f6bd2_1_93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g3fa171f6bd2_1_93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g3fa171f6bd2_1_93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g3fa171f6bd2_1_93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g3fa171f6bd2_1_93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g3fa171f6bd2_1_93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g3fa171f6bd2_1_93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g3fa171f6bd2_1_934"/>
          <p:cNvSpPr txBox="1">
            <a:spLocks noGrp="1"/>
          </p:cNvSpPr>
          <p:nvPr>
            <p:ph type="title" hasCustomPrompt="1"/>
          </p:nvPr>
        </p:nvSpPr>
        <p:spPr>
          <a:xfrm>
            <a:off x="1098467" y="1712900"/>
            <a:ext cx="6368100" cy="173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1pPr>
            <a:lvl2pPr lvl="1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2pPr>
            <a:lvl3pPr lvl="2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3pPr>
            <a:lvl4pPr lvl="3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4pPr>
            <a:lvl5pPr lvl="4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5pPr>
            <a:lvl6pPr lvl="5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6pPr>
            <a:lvl7pPr lvl="6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7pPr>
            <a:lvl8pPr lvl="7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8pPr>
            <a:lvl9pPr lvl="8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9pPr>
          </a:lstStyle>
          <a:p>
            <a:r>
              <a:t>xx%</a:t>
            </a:r>
          </a:p>
        </p:txBody>
      </p:sp>
      <p:sp>
        <p:nvSpPr>
          <p:cNvPr id="126" name="Google Shape;126;g3fa171f6bd2_1_934"/>
          <p:cNvSpPr txBox="1">
            <a:spLocks noGrp="1"/>
          </p:cNvSpPr>
          <p:nvPr>
            <p:ph type="body" idx="1"/>
          </p:nvPr>
        </p:nvSpPr>
        <p:spPr>
          <a:xfrm>
            <a:off x="1098467" y="3524166"/>
            <a:ext cx="6368100" cy="1625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g3fa171f6bd2_1_93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a171f6bd2_1_95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fa171f6bd2_1_83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g3fa171f6bd2_1_83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Char char="●"/>
              <a:defRPr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g3fa171f6bd2_1_83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5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5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5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5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5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5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5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5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5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5.xml" /><Relationship Id="rId5" Type="http://schemas.microsoft.com/office/2007/relationships/hdphoto" Target="../media/hdphoto1.wdp" /><Relationship Id="rId4" Type="http://schemas.openxmlformats.org/officeDocument/2006/relationships/image" Target="../media/image6.png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5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5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5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3">
            <a:extLst>
              <a:ext uri="{FF2B5EF4-FFF2-40B4-BE49-F238E27FC236}">
                <a16:creationId xmlns:a16="http://schemas.microsoft.com/office/drawing/2014/main" id="{B868F711-0435-200B-8755-69C51DB83E73}"/>
              </a:ext>
            </a:extLst>
          </p:cNvPr>
          <p:cNvSpPr/>
          <p:nvPr/>
        </p:nvSpPr>
        <p:spPr>
          <a:xfrm>
            <a:off x="1389888" y="758952"/>
            <a:ext cx="9646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500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</a:t>
            </a:r>
            <a:endParaRPr lang="en-US" sz="25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D202C172-78C0-A870-CB46-67001DB30E41}"/>
              </a:ext>
            </a:extLst>
          </p:cNvPr>
          <p:cNvSpPr/>
          <p:nvPr/>
        </p:nvSpPr>
        <p:spPr>
          <a:xfrm>
            <a:off x="1892808" y="119786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B7C1CB"/>
                </a:solidFill>
              </a:rPr>
              <a:t>“Service Go” · Escuela de Informática y Telecomunicaciones · Sede Puente Alto 2026</a:t>
            </a:r>
            <a:endParaRPr lang="en-US" sz="115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D6315283-3B6A-4C50-489B-054452408B53}"/>
              </a:ext>
            </a:extLst>
          </p:cNvPr>
          <p:cNvSpPr/>
          <p:nvPr/>
        </p:nvSpPr>
        <p:spPr>
          <a:xfrm>
            <a:off x="502920" y="6556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909D"/>
                </a:solidFill>
              </a:rPr>
              <a:t>Fase 1 · Capstone · Service Go</a:t>
            </a:r>
            <a:endParaRPr lang="en-US" sz="75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B580E70C-DD04-E320-046D-985CF0948C83}"/>
              </a:ext>
            </a:extLst>
          </p:cNvPr>
          <p:cNvSpPr/>
          <p:nvPr/>
        </p:nvSpPr>
        <p:spPr>
          <a:xfrm>
            <a:off x="11448288" y="655624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3909D"/>
                </a:solidFill>
              </a:rPr>
              <a:t>1</a:t>
            </a:r>
            <a:endParaRPr lang="en-US" sz="75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CDD733D6-E33F-7132-C654-8EDF8393DFEC}"/>
              </a:ext>
            </a:extLst>
          </p:cNvPr>
          <p:cNvSpPr/>
          <p:nvPr/>
        </p:nvSpPr>
        <p:spPr>
          <a:xfrm>
            <a:off x="5641848" y="2066544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200" dirty="0">
                <a:solidFill>
                  <a:srgbClr val="F2F5F7"/>
                </a:solidFill>
              </a:rPr>
              <a:t>Service Go</a:t>
            </a:r>
            <a:endParaRPr lang="en-US" sz="4200" dirty="0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0EEEAAAB-CAD1-D74C-3A0E-69C4FEF1CCE6}"/>
              </a:ext>
            </a:extLst>
          </p:cNvPr>
          <p:cNvSpPr/>
          <p:nvPr/>
        </p:nvSpPr>
        <p:spPr>
          <a:xfrm>
            <a:off x="3447288" y="2871216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000" dirty="0">
                <a:solidFill>
                  <a:srgbClr val="B7C1CB"/>
                </a:solidFill>
              </a:rPr>
              <a:t>App B2B de servicios técnicos a domicilio, con geolocalización, reputación, pagos simulados y analítica de demanda.</a:t>
            </a:r>
            <a:endParaRPr lang="en-US" sz="2000" dirty="0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44A6F986-66A5-8222-67E7-ECAF0F7849C3}"/>
              </a:ext>
            </a:extLst>
          </p:cNvPr>
          <p:cNvSpPr/>
          <p:nvPr/>
        </p:nvSpPr>
        <p:spPr>
          <a:xfrm>
            <a:off x="3904488" y="473659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F2F5F7"/>
                </a:solidFill>
              </a:rPr>
              <a:t>Docente Instructor: Fabián Saldaño Pérez</a:t>
            </a:r>
            <a:endParaRPr lang="en-US" sz="1400" dirty="0"/>
          </a:p>
          <a:p>
            <a:pPr marL="0" indent="0" algn="r">
              <a:buNone/>
            </a:pPr>
            <a:r>
              <a:rPr lang="en-US" sz="1400" dirty="0">
                <a:solidFill>
                  <a:srgbClr val="F2F5F7"/>
                </a:solidFill>
              </a:rPr>
              <a:t>Integrantes: Julio Soto · Mauricio Pardo · Muriel Miranda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"/>
          <p:cNvSpPr txBox="1">
            <a:spLocks noGrp="1"/>
          </p:cNvSpPr>
          <p:nvPr>
            <p:ph type="title"/>
          </p:nvPr>
        </p:nvSpPr>
        <p:spPr>
          <a:xfrm>
            <a:off x="1618559" y="86778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Problemática a Resolver</a:t>
            </a:r>
            <a:endParaRPr/>
          </a:p>
        </p:txBody>
      </p:sp>
      <p:pic>
        <p:nvPicPr>
          <p:cNvPr id="142" name="Google Shape;142;p2" descr="Modern dark blue abstract background. Vector illustration design for presentation, banner, cover, web, flyer, card, poster, wallpaper, texture, slide, magazine, and powerpoint. (proporcionado por Getty Images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8496883" y="-2"/>
            <a:ext cx="3637275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4">
            <a:extLst>
              <a:ext uri="{FF2B5EF4-FFF2-40B4-BE49-F238E27FC236}">
                <a16:creationId xmlns:a16="http://schemas.microsoft.com/office/drawing/2014/main" id="{B036D84D-C746-A800-B8A2-7CF794DB3295}"/>
              </a:ext>
            </a:extLst>
          </p:cNvPr>
          <p:cNvSpPr/>
          <p:nvPr/>
        </p:nvSpPr>
        <p:spPr>
          <a:xfrm>
            <a:off x="502920" y="6556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909D"/>
                </a:solidFill>
              </a:rPr>
              <a:t>Fase 1 · Capstone · Service Go</a:t>
            </a:r>
            <a:endParaRPr lang="en-US" sz="75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E76AE19B-CBC1-F787-0305-65C901FCAA4D}"/>
              </a:ext>
            </a:extLst>
          </p:cNvPr>
          <p:cNvSpPr/>
          <p:nvPr/>
        </p:nvSpPr>
        <p:spPr>
          <a:xfrm>
            <a:off x="11448288" y="655624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3909D"/>
                </a:solidFill>
              </a:rPr>
              <a:t>2</a:t>
            </a:r>
            <a:endParaRPr lang="en-US" sz="750" dirty="0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095FD47E-FC6E-DDB7-A998-CC060CF4F342}"/>
              </a:ext>
            </a:extLst>
          </p:cNvPr>
          <p:cNvSpPr/>
          <p:nvPr/>
        </p:nvSpPr>
        <p:spPr>
          <a:xfrm>
            <a:off x="1432560" y="2804160"/>
            <a:ext cx="9326880" cy="484632"/>
          </a:xfrm>
          <a:prstGeom prst="roundRect">
            <a:avLst>
              <a:gd name="adj" fmla="val 15094"/>
            </a:avLst>
          </a:prstGeom>
          <a:solidFill>
            <a:srgbClr val="2C3744">
              <a:alpha val="96000"/>
            </a:srgbClr>
          </a:solidFill>
          <a:ln w="12700">
            <a:solidFill>
              <a:srgbClr val="56627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1353044-31A3-5734-E4A5-744A38354470}"/>
              </a:ext>
            </a:extLst>
          </p:cNvPr>
          <p:cNvSpPr/>
          <p:nvPr/>
        </p:nvSpPr>
        <p:spPr>
          <a:xfrm>
            <a:off x="1716024" y="2923032"/>
            <a:ext cx="8732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2F5F7"/>
                </a:solidFill>
              </a:rPr>
              <a:t>Informalidad y baja trazabilidad en servicios técnicos a domicilio.</a:t>
            </a:r>
            <a:endParaRPr lang="en-US" sz="18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12C11D9A-E87E-8AB3-ED8C-F2429CAABD42}"/>
              </a:ext>
            </a:extLst>
          </p:cNvPr>
          <p:cNvSpPr/>
          <p:nvPr/>
        </p:nvSpPr>
        <p:spPr>
          <a:xfrm>
            <a:off x="1432560" y="3553968"/>
            <a:ext cx="9326880" cy="484632"/>
          </a:xfrm>
          <a:prstGeom prst="roundRect">
            <a:avLst>
              <a:gd name="adj" fmla="val 15094"/>
            </a:avLst>
          </a:prstGeom>
          <a:solidFill>
            <a:srgbClr val="2C3744">
              <a:alpha val="96000"/>
            </a:srgbClr>
          </a:solidFill>
          <a:ln w="12700">
            <a:solidFill>
              <a:srgbClr val="56627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50B12428-8123-E0E3-C601-B0544169FB66}"/>
              </a:ext>
            </a:extLst>
          </p:cNvPr>
          <p:cNvSpPr/>
          <p:nvPr/>
        </p:nvSpPr>
        <p:spPr>
          <a:xfrm>
            <a:off x="1716024" y="3672840"/>
            <a:ext cx="8732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2F5F7"/>
                </a:solidFill>
              </a:rPr>
              <a:t>Clientes sin información confiable sobre ubicación, disponibilidad y reputación.</a:t>
            </a:r>
            <a:endParaRPr lang="en-US" sz="1800" dirty="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2BF1F183-38E2-D443-93A1-F8828710F339}"/>
              </a:ext>
            </a:extLst>
          </p:cNvPr>
          <p:cNvSpPr/>
          <p:nvPr/>
        </p:nvSpPr>
        <p:spPr>
          <a:xfrm>
            <a:off x="1432560" y="4303776"/>
            <a:ext cx="9326880" cy="484632"/>
          </a:xfrm>
          <a:prstGeom prst="roundRect">
            <a:avLst>
              <a:gd name="adj" fmla="val 15094"/>
            </a:avLst>
          </a:prstGeom>
          <a:solidFill>
            <a:srgbClr val="2C3744">
              <a:alpha val="96000"/>
            </a:srgbClr>
          </a:solidFill>
          <a:ln w="12700">
            <a:solidFill>
              <a:srgbClr val="56627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16468646-CEE2-462C-FCB4-2680DED788F8}"/>
              </a:ext>
            </a:extLst>
          </p:cNvPr>
          <p:cNvSpPr/>
          <p:nvPr/>
        </p:nvSpPr>
        <p:spPr>
          <a:xfrm>
            <a:off x="1716024" y="4422648"/>
            <a:ext cx="8732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2F5F7"/>
                </a:solidFill>
              </a:rPr>
              <a:t>Técnicos sin datos para identificar zonas y horarios con mayor demanda.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g3fa171f6bd2_1_966" descr="Modern dark blue abstract background. Vector illustration design for presentation, banner, cover, web, flyer, card, poster, wallpaper, texture, slide, magazine, and powerpoint. (proporcionado por Getty Images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7955279" y="-1"/>
            <a:ext cx="404914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fa171f6bd2_1_966"/>
          <p:cNvSpPr txBox="1">
            <a:spLocks noGrp="1"/>
          </p:cNvSpPr>
          <p:nvPr>
            <p:ph type="title"/>
          </p:nvPr>
        </p:nvSpPr>
        <p:spPr>
          <a:xfrm>
            <a:off x="1618559" y="86778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Solución</a:t>
            </a:r>
            <a:endParaRPr/>
          </a:p>
        </p:txBody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5688BC96-523F-FAE0-AAF3-83255B882601}"/>
              </a:ext>
            </a:extLst>
          </p:cNvPr>
          <p:cNvSpPr/>
          <p:nvPr/>
        </p:nvSpPr>
        <p:spPr>
          <a:xfrm>
            <a:off x="1335095" y="2651760"/>
            <a:ext cx="9326880" cy="484632"/>
          </a:xfrm>
          <a:prstGeom prst="roundRect">
            <a:avLst>
              <a:gd name="adj" fmla="val 15094"/>
            </a:avLst>
          </a:prstGeom>
          <a:solidFill>
            <a:srgbClr val="2C3744">
              <a:alpha val="96000"/>
            </a:srgbClr>
          </a:solidFill>
          <a:ln w="12700">
            <a:solidFill>
              <a:srgbClr val="56627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A8D28D55-8382-240D-85CE-E9B6CCDD24DC}"/>
              </a:ext>
            </a:extLst>
          </p:cNvPr>
          <p:cNvSpPr/>
          <p:nvPr/>
        </p:nvSpPr>
        <p:spPr>
          <a:xfrm>
            <a:off x="1618559" y="2770632"/>
            <a:ext cx="8732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2F5F7"/>
                </a:solidFill>
              </a:rPr>
              <a:t>Aplicación móvil centralizada para clientes y técnicos.</a:t>
            </a:r>
            <a:endParaRPr lang="en-US" sz="1800" dirty="0"/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2A607F94-341D-B43E-5F6D-840C08382886}"/>
              </a:ext>
            </a:extLst>
          </p:cNvPr>
          <p:cNvSpPr/>
          <p:nvPr/>
        </p:nvSpPr>
        <p:spPr>
          <a:xfrm>
            <a:off x="1335095" y="3401568"/>
            <a:ext cx="9326880" cy="484632"/>
          </a:xfrm>
          <a:prstGeom prst="roundRect">
            <a:avLst>
              <a:gd name="adj" fmla="val 15094"/>
            </a:avLst>
          </a:prstGeom>
          <a:solidFill>
            <a:srgbClr val="2C3744">
              <a:alpha val="96000"/>
            </a:srgbClr>
          </a:solidFill>
          <a:ln w="12700">
            <a:solidFill>
              <a:srgbClr val="56627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4A73CC24-BDC6-642B-7326-A51CDBF219F3}"/>
              </a:ext>
            </a:extLst>
          </p:cNvPr>
          <p:cNvSpPr/>
          <p:nvPr/>
        </p:nvSpPr>
        <p:spPr>
          <a:xfrm>
            <a:off x="1618559" y="3520440"/>
            <a:ext cx="8732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2F5F7"/>
                </a:solidFill>
              </a:rPr>
              <a:t>Conexión en tiempo real mediante geolocalización y notificaciones.</a:t>
            </a:r>
            <a:endParaRPr lang="en-US" sz="1800" dirty="0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E21D37F4-082C-04E8-E2BC-2B480BC601BE}"/>
              </a:ext>
            </a:extLst>
          </p:cNvPr>
          <p:cNvSpPr/>
          <p:nvPr/>
        </p:nvSpPr>
        <p:spPr>
          <a:xfrm>
            <a:off x="1335095" y="4151376"/>
            <a:ext cx="9326880" cy="484632"/>
          </a:xfrm>
          <a:prstGeom prst="roundRect">
            <a:avLst>
              <a:gd name="adj" fmla="val 15094"/>
            </a:avLst>
          </a:prstGeom>
          <a:solidFill>
            <a:srgbClr val="2C3744">
              <a:alpha val="96000"/>
            </a:srgbClr>
          </a:solidFill>
          <a:ln w="12700">
            <a:solidFill>
              <a:srgbClr val="56627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06E1876-62D1-E900-6747-66FC8FF79140}"/>
              </a:ext>
            </a:extLst>
          </p:cNvPr>
          <p:cNvSpPr/>
          <p:nvPr/>
        </p:nvSpPr>
        <p:spPr>
          <a:xfrm>
            <a:off x="1618559" y="4270248"/>
            <a:ext cx="8732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2F5F7"/>
                </a:solidFill>
              </a:rPr>
              <a:t>Sistema de reseñas bidireccional: cliente evalúa técnico y técnico evalúa cliente.</a:t>
            </a:r>
            <a:endParaRPr lang="en-US" sz="180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8101402D-8BD8-B895-C2FA-A4CD0CF365DA}"/>
              </a:ext>
            </a:extLst>
          </p:cNvPr>
          <p:cNvSpPr/>
          <p:nvPr/>
        </p:nvSpPr>
        <p:spPr>
          <a:xfrm>
            <a:off x="1335095" y="4901184"/>
            <a:ext cx="9326880" cy="484632"/>
          </a:xfrm>
          <a:prstGeom prst="roundRect">
            <a:avLst>
              <a:gd name="adj" fmla="val 15094"/>
            </a:avLst>
          </a:prstGeom>
          <a:solidFill>
            <a:srgbClr val="2C3744">
              <a:alpha val="96000"/>
            </a:srgbClr>
          </a:solidFill>
          <a:ln w="12700">
            <a:solidFill>
              <a:srgbClr val="56627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6A5843CE-5784-C10C-1709-939B84955F26}"/>
              </a:ext>
            </a:extLst>
          </p:cNvPr>
          <p:cNvSpPr/>
          <p:nvPr/>
        </p:nvSpPr>
        <p:spPr>
          <a:xfrm>
            <a:off x="1618559" y="5020056"/>
            <a:ext cx="8732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2F5F7"/>
                </a:solidFill>
              </a:rPr>
              <a:t>Módulo BI para analizar demanda por zona y recomendar oportunidades a técnicos.</a:t>
            </a:r>
            <a:endParaRPr lang="en-US" sz="18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64F1401B-7FA6-0E84-5C11-FD9C32A57F82}"/>
              </a:ext>
            </a:extLst>
          </p:cNvPr>
          <p:cNvSpPr/>
          <p:nvPr/>
        </p:nvSpPr>
        <p:spPr>
          <a:xfrm>
            <a:off x="502920" y="6556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909D"/>
                </a:solidFill>
              </a:rPr>
              <a:t>Fase 1 · Capstone · Service Go</a:t>
            </a:r>
            <a:endParaRPr lang="en-US" sz="75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4EBE8890-9F02-4D6F-7A7B-BF1A9C379FEC}"/>
              </a:ext>
            </a:extLst>
          </p:cNvPr>
          <p:cNvSpPr/>
          <p:nvPr/>
        </p:nvSpPr>
        <p:spPr>
          <a:xfrm>
            <a:off x="11448288" y="655624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3909D"/>
                </a:solidFill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a171f6bd2_1_972"/>
          <p:cNvSpPr txBox="1">
            <a:spLocks noGrp="1"/>
          </p:cNvSpPr>
          <p:nvPr>
            <p:ph type="title"/>
          </p:nvPr>
        </p:nvSpPr>
        <p:spPr>
          <a:xfrm>
            <a:off x="1618559" y="86778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Objetivo del Proyecto </a:t>
            </a:r>
            <a:endParaRPr/>
          </a:p>
        </p:txBody>
      </p:sp>
      <p:pic>
        <p:nvPicPr>
          <p:cNvPr id="156" name="Google Shape;156;g3fa171f6bd2_1_972" descr="Modern dark blue abstract background. Vector illustration design for presentation, banner, cover, web, flyer, card, poster, wallpaper, texture, slide, magazine, and powerpoint. (proporcionado por Getty Images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8496884" y="-2"/>
            <a:ext cx="3695116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4">
            <a:extLst>
              <a:ext uri="{FF2B5EF4-FFF2-40B4-BE49-F238E27FC236}">
                <a16:creationId xmlns:a16="http://schemas.microsoft.com/office/drawing/2014/main" id="{EC92BED5-9843-E927-AAD5-D6709CF1B16F}"/>
              </a:ext>
            </a:extLst>
          </p:cNvPr>
          <p:cNvSpPr/>
          <p:nvPr/>
        </p:nvSpPr>
        <p:spPr>
          <a:xfrm>
            <a:off x="502920" y="6556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909D"/>
                </a:solidFill>
              </a:rPr>
              <a:t>Fase 1 · Capstone · Service Go</a:t>
            </a:r>
            <a:endParaRPr lang="en-US" sz="75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628D3664-902C-1362-82A7-156C6D8197B4}"/>
              </a:ext>
            </a:extLst>
          </p:cNvPr>
          <p:cNvSpPr/>
          <p:nvPr/>
        </p:nvSpPr>
        <p:spPr>
          <a:xfrm>
            <a:off x="11448288" y="655624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3909D"/>
                </a:solidFill>
              </a:rPr>
              <a:t>4</a:t>
            </a:r>
            <a:endParaRPr lang="en-US" sz="750" dirty="0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BE801E6C-BF8E-5388-A6F4-07C1AA4504B8}"/>
              </a:ext>
            </a:extLst>
          </p:cNvPr>
          <p:cNvSpPr/>
          <p:nvPr/>
        </p:nvSpPr>
        <p:spPr>
          <a:xfrm>
            <a:off x="1446276" y="2651224"/>
            <a:ext cx="9326880" cy="484632"/>
          </a:xfrm>
          <a:prstGeom prst="roundRect">
            <a:avLst>
              <a:gd name="adj" fmla="val 15094"/>
            </a:avLst>
          </a:prstGeom>
          <a:solidFill>
            <a:srgbClr val="2C3744">
              <a:alpha val="96000"/>
            </a:srgbClr>
          </a:solidFill>
          <a:ln w="12700">
            <a:solidFill>
              <a:srgbClr val="56627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F41D11C-BA75-030C-02CB-9FC65E837F40}"/>
              </a:ext>
            </a:extLst>
          </p:cNvPr>
          <p:cNvSpPr/>
          <p:nvPr/>
        </p:nvSpPr>
        <p:spPr>
          <a:xfrm>
            <a:off x="1729740" y="2770096"/>
            <a:ext cx="8732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 err="1">
                <a:solidFill>
                  <a:srgbClr val="F2F5F7"/>
                </a:solidFill>
              </a:rPr>
              <a:t>Desarrollar</a:t>
            </a:r>
            <a:r>
              <a:rPr lang="en-US" sz="1800" dirty="0">
                <a:solidFill>
                  <a:srgbClr val="F2F5F7"/>
                </a:solidFill>
              </a:rPr>
              <a:t> </a:t>
            </a:r>
            <a:r>
              <a:rPr lang="en-US" sz="1800" dirty="0" err="1">
                <a:solidFill>
                  <a:srgbClr val="F2F5F7"/>
                </a:solidFill>
              </a:rPr>
              <a:t>una</a:t>
            </a:r>
            <a:r>
              <a:rPr lang="en-US" sz="1800" dirty="0">
                <a:solidFill>
                  <a:srgbClr val="F2F5F7"/>
                </a:solidFill>
              </a:rPr>
              <a:t> APP </a:t>
            </a:r>
            <a:r>
              <a:rPr lang="en-US" sz="1800" dirty="0" err="1">
                <a:solidFill>
                  <a:srgbClr val="F2F5F7"/>
                </a:solidFill>
              </a:rPr>
              <a:t>funcional</a:t>
            </a:r>
            <a:r>
              <a:rPr lang="en-US" sz="1800" dirty="0">
                <a:solidFill>
                  <a:srgbClr val="F2F5F7"/>
                </a:solidFill>
              </a:rPr>
              <a:t> de Service Go.</a:t>
            </a:r>
            <a:endParaRPr lang="en-US" sz="18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C7592DB4-247A-6B89-65DA-553EDD1283EB}"/>
              </a:ext>
            </a:extLst>
          </p:cNvPr>
          <p:cNvSpPr/>
          <p:nvPr/>
        </p:nvSpPr>
        <p:spPr>
          <a:xfrm>
            <a:off x="1446276" y="3401032"/>
            <a:ext cx="9326880" cy="484632"/>
          </a:xfrm>
          <a:prstGeom prst="roundRect">
            <a:avLst>
              <a:gd name="adj" fmla="val 15094"/>
            </a:avLst>
          </a:prstGeom>
          <a:solidFill>
            <a:srgbClr val="2C3744">
              <a:alpha val="96000"/>
            </a:srgbClr>
          </a:solidFill>
          <a:ln w="12700">
            <a:solidFill>
              <a:srgbClr val="56627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BA7302AF-D449-AA7E-607F-8CE7DC4942B5}"/>
              </a:ext>
            </a:extLst>
          </p:cNvPr>
          <p:cNvSpPr/>
          <p:nvPr/>
        </p:nvSpPr>
        <p:spPr>
          <a:xfrm>
            <a:off x="1729740" y="3519904"/>
            <a:ext cx="8732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2F5F7"/>
                </a:solidFill>
              </a:rPr>
              <a:t>Integrar frontend móvil Ionic/Angular con Firebase.</a:t>
            </a:r>
            <a:endParaRPr lang="en-US" sz="1800" dirty="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49B6775D-9BCA-C512-B4EC-63F37E6085F4}"/>
              </a:ext>
            </a:extLst>
          </p:cNvPr>
          <p:cNvSpPr/>
          <p:nvPr/>
        </p:nvSpPr>
        <p:spPr>
          <a:xfrm>
            <a:off x="1446276" y="4150840"/>
            <a:ext cx="9326880" cy="484632"/>
          </a:xfrm>
          <a:prstGeom prst="roundRect">
            <a:avLst>
              <a:gd name="adj" fmla="val 15094"/>
            </a:avLst>
          </a:prstGeom>
          <a:solidFill>
            <a:srgbClr val="2C3744">
              <a:alpha val="96000"/>
            </a:srgbClr>
          </a:solidFill>
          <a:ln w="12700">
            <a:solidFill>
              <a:srgbClr val="56627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648D21DD-E017-BA42-0ADA-F5BEF6FAB5C1}"/>
              </a:ext>
            </a:extLst>
          </p:cNvPr>
          <p:cNvSpPr/>
          <p:nvPr/>
        </p:nvSpPr>
        <p:spPr>
          <a:xfrm>
            <a:off x="1729740" y="4269712"/>
            <a:ext cx="8732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2F5F7"/>
                </a:solidFill>
              </a:rPr>
              <a:t>Gestionar solicitudes, técnicos, seguimiento, reputación y pagos simulados.</a:t>
            </a:r>
            <a:endParaRPr lang="en-US" sz="1800" dirty="0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68699BC5-67FC-CD7D-4C0D-C19F7D34B2AB}"/>
              </a:ext>
            </a:extLst>
          </p:cNvPr>
          <p:cNvSpPr/>
          <p:nvPr/>
        </p:nvSpPr>
        <p:spPr>
          <a:xfrm>
            <a:off x="1446276" y="4900648"/>
            <a:ext cx="9326880" cy="484632"/>
          </a:xfrm>
          <a:prstGeom prst="roundRect">
            <a:avLst>
              <a:gd name="adj" fmla="val 15094"/>
            </a:avLst>
          </a:prstGeom>
          <a:solidFill>
            <a:srgbClr val="2C3744">
              <a:alpha val="96000"/>
            </a:srgbClr>
          </a:solidFill>
          <a:ln w="12700">
            <a:solidFill>
              <a:srgbClr val="56627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0CF52C81-8BF9-687D-2081-A898434CF276}"/>
              </a:ext>
            </a:extLst>
          </p:cNvPr>
          <p:cNvSpPr/>
          <p:nvPr/>
        </p:nvSpPr>
        <p:spPr>
          <a:xfrm>
            <a:off x="1729740" y="5019520"/>
            <a:ext cx="8732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2F5F7"/>
                </a:solidFill>
              </a:rPr>
              <a:t>Aplicar minería de datos para construir dashboard de negocio y demanda territorial.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a171f6bd2_1_981"/>
          <p:cNvSpPr txBox="1">
            <a:spLocks noGrp="1"/>
          </p:cNvSpPr>
          <p:nvPr>
            <p:ph type="title"/>
          </p:nvPr>
        </p:nvSpPr>
        <p:spPr>
          <a:xfrm>
            <a:off x="1618559" y="86778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Alcances  </a:t>
            </a:r>
            <a:endParaRPr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90F429B6-9E9B-7893-AFCA-D28AFB20DFE0}"/>
              </a:ext>
            </a:extLst>
          </p:cNvPr>
          <p:cNvSpPr/>
          <p:nvPr/>
        </p:nvSpPr>
        <p:spPr>
          <a:xfrm>
            <a:off x="502920" y="6556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909D"/>
                </a:solidFill>
              </a:rPr>
              <a:t>Fase 1 · Capstone · Service Go</a:t>
            </a:r>
            <a:endParaRPr lang="en-US" sz="75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89D580A-2BE3-E32C-2854-D0D244751F7D}"/>
              </a:ext>
            </a:extLst>
          </p:cNvPr>
          <p:cNvSpPr/>
          <p:nvPr/>
        </p:nvSpPr>
        <p:spPr>
          <a:xfrm>
            <a:off x="11448288" y="655624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3909D"/>
                </a:solidFill>
              </a:rPr>
              <a:t>5</a:t>
            </a:r>
            <a:endParaRPr lang="en-US" sz="750" dirty="0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70E8759D-8278-2734-9643-A3C4E86980C0}"/>
              </a:ext>
            </a:extLst>
          </p:cNvPr>
          <p:cNvSpPr/>
          <p:nvPr/>
        </p:nvSpPr>
        <p:spPr>
          <a:xfrm>
            <a:off x="1446276" y="2405776"/>
            <a:ext cx="9326880" cy="484632"/>
          </a:xfrm>
          <a:prstGeom prst="roundRect">
            <a:avLst>
              <a:gd name="adj" fmla="val 15094"/>
            </a:avLst>
          </a:prstGeom>
          <a:solidFill>
            <a:srgbClr val="2C3744">
              <a:alpha val="96000"/>
            </a:srgbClr>
          </a:solidFill>
          <a:ln w="12700">
            <a:solidFill>
              <a:srgbClr val="56627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 sz="14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68A1AE0-86EE-18AB-1207-ECE362EDB1F0}"/>
              </a:ext>
            </a:extLst>
          </p:cNvPr>
          <p:cNvSpPr/>
          <p:nvPr/>
        </p:nvSpPr>
        <p:spPr>
          <a:xfrm>
            <a:off x="1729740" y="2524648"/>
            <a:ext cx="8732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2F5F7"/>
                </a:solidFill>
              </a:rPr>
              <a:t>Hace: registro, autenticación, perfiles, matching por GPS, solicitud de servicios, chat básico y reseñas.</a:t>
            </a:r>
            <a:endParaRPr lang="en-US" sz="14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02C9E726-343E-4609-2E7E-16FC7D0F2312}"/>
              </a:ext>
            </a:extLst>
          </p:cNvPr>
          <p:cNvSpPr/>
          <p:nvPr/>
        </p:nvSpPr>
        <p:spPr>
          <a:xfrm>
            <a:off x="1446276" y="3155584"/>
            <a:ext cx="9326880" cy="484632"/>
          </a:xfrm>
          <a:prstGeom prst="roundRect">
            <a:avLst>
              <a:gd name="adj" fmla="val 15094"/>
            </a:avLst>
          </a:prstGeom>
          <a:solidFill>
            <a:srgbClr val="2C3744">
              <a:alpha val="96000"/>
            </a:srgbClr>
          </a:solidFill>
          <a:ln w="12700">
            <a:solidFill>
              <a:srgbClr val="56627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 sz="140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4212ADE0-FF0A-769C-99D0-173FDF3D8118}"/>
              </a:ext>
            </a:extLst>
          </p:cNvPr>
          <p:cNvSpPr/>
          <p:nvPr/>
        </p:nvSpPr>
        <p:spPr>
          <a:xfrm>
            <a:off x="1729740" y="3274456"/>
            <a:ext cx="8732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2F5F7"/>
                </a:solidFill>
              </a:rPr>
              <a:t>Hace: pago simulado y diseño preparado para integración futura con pasarela de pago.</a:t>
            </a:r>
            <a:endParaRPr lang="en-US" sz="1400" dirty="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40DB5D09-5AA6-574D-EBD7-B564B0EFFE17}"/>
              </a:ext>
            </a:extLst>
          </p:cNvPr>
          <p:cNvSpPr/>
          <p:nvPr/>
        </p:nvSpPr>
        <p:spPr>
          <a:xfrm>
            <a:off x="1446276" y="3905392"/>
            <a:ext cx="9326880" cy="484632"/>
          </a:xfrm>
          <a:prstGeom prst="roundRect">
            <a:avLst>
              <a:gd name="adj" fmla="val 15094"/>
            </a:avLst>
          </a:prstGeom>
          <a:solidFill>
            <a:srgbClr val="2C3744">
              <a:alpha val="96000"/>
            </a:srgbClr>
          </a:solidFill>
          <a:ln w="12700">
            <a:solidFill>
              <a:srgbClr val="56627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 sz="140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903EE6C0-39C9-0846-5980-9B1842DF4F2B}"/>
              </a:ext>
            </a:extLst>
          </p:cNvPr>
          <p:cNvSpPr/>
          <p:nvPr/>
        </p:nvSpPr>
        <p:spPr>
          <a:xfrm>
            <a:off x="1729740" y="4024264"/>
            <a:ext cx="8732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2F5F7"/>
                </a:solidFill>
              </a:rPr>
              <a:t>Hace: dashboard BI con demanda por zona y recomendación territorial para técnicos.</a:t>
            </a:r>
            <a:endParaRPr lang="en-US" sz="1400" dirty="0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99C3DD7A-437D-4811-DC07-A78A3AA57AC0}"/>
              </a:ext>
            </a:extLst>
          </p:cNvPr>
          <p:cNvSpPr/>
          <p:nvPr/>
        </p:nvSpPr>
        <p:spPr>
          <a:xfrm>
            <a:off x="1446276" y="4655200"/>
            <a:ext cx="9326880" cy="484632"/>
          </a:xfrm>
          <a:prstGeom prst="roundRect">
            <a:avLst>
              <a:gd name="adj" fmla="val 15094"/>
            </a:avLst>
          </a:prstGeom>
          <a:solidFill>
            <a:srgbClr val="2C3744">
              <a:alpha val="96000"/>
            </a:srgbClr>
          </a:solidFill>
          <a:ln w="12700">
            <a:solidFill>
              <a:srgbClr val="56627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 sz="1400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35F347C3-F871-CB7C-8A58-E561EAE8F7A5}"/>
              </a:ext>
            </a:extLst>
          </p:cNvPr>
          <p:cNvSpPr/>
          <p:nvPr/>
        </p:nvSpPr>
        <p:spPr>
          <a:xfrm>
            <a:off x="1729740" y="4774072"/>
            <a:ext cx="8732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2F5F7"/>
                </a:solidFill>
              </a:rPr>
              <a:t>No hace: cobros reales </a:t>
            </a:r>
            <a:r>
              <a:rPr lang="en-US" sz="1400" dirty="0" err="1">
                <a:solidFill>
                  <a:srgbClr val="F2F5F7"/>
                </a:solidFill>
              </a:rPr>
              <a:t>en</a:t>
            </a:r>
            <a:r>
              <a:rPr lang="en-US" sz="1400" dirty="0">
                <a:solidFill>
                  <a:srgbClr val="F2F5F7"/>
                </a:solidFill>
              </a:rPr>
              <a:t> </a:t>
            </a:r>
            <a:r>
              <a:rPr lang="en-US" sz="1400" dirty="0" err="1">
                <a:solidFill>
                  <a:srgbClr val="F2F5F7"/>
                </a:solidFill>
              </a:rPr>
              <a:t>mvp</a:t>
            </a:r>
            <a:r>
              <a:rPr lang="en-US" sz="1400" dirty="0">
                <a:solidFill>
                  <a:srgbClr val="F2F5F7"/>
                </a:solidFill>
              </a:rPr>
              <a:t>, chat multimedia avanzado ni cobertura fuera de Región Metropolitana.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a171f6bd2_1_986"/>
          <p:cNvSpPr txBox="1">
            <a:spLocks noGrp="1"/>
          </p:cNvSpPr>
          <p:nvPr>
            <p:ph type="title"/>
          </p:nvPr>
        </p:nvSpPr>
        <p:spPr>
          <a:xfrm>
            <a:off x="1618559" y="86778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 </a:t>
            </a:r>
            <a:endParaRPr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F4E20BA9-1B7E-B903-79F3-BCD755B44CA2}"/>
              </a:ext>
            </a:extLst>
          </p:cNvPr>
          <p:cNvSpPr/>
          <p:nvPr/>
        </p:nvSpPr>
        <p:spPr>
          <a:xfrm>
            <a:off x="502920" y="6556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909D"/>
                </a:solidFill>
              </a:rPr>
              <a:t>Fase 1 · Capstone · Service Go</a:t>
            </a:r>
            <a:endParaRPr lang="en-US" sz="75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94D3CBF5-A155-2C27-395C-13E2AE55B63F}"/>
              </a:ext>
            </a:extLst>
          </p:cNvPr>
          <p:cNvSpPr/>
          <p:nvPr/>
        </p:nvSpPr>
        <p:spPr>
          <a:xfrm>
            <a:off x="11448288" y="655624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3909D"/>
                </a:solidFill>
              </a:rPr>
              <a:t>6</a:t>
            </a:r>
            <a:endParaRPr lang="en-US" sz="750" dirty="0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C0495FAC-91E9-DD42-2585-3F97B70E3072}"/>
              </a:ext>
            </a:extLst>
          </p:cNvPr>
          <p:cNvSpPr/>
          <p:nvPr/>
        </p:nvSpPr>
        <p:spPr>
          <a:xfrm>
            <a:off x="1335095" y="2621280"/>
            <a:ext cx="9326880" cy="484632"/>
          </a:xfrm>
          <a:prstGeom prst="roundRect">
            <a:avLst>
              <a:gd name="adj" fmla="val 15094"/>
            </a:avLst>
          </a:prstGeom>
          <a:solidFill>
            <a:srgbClr val="2C3744">
              <a:alpha val="96000"/>
            </a:srgbClr>
          </a:solidFill>
          <a:ln w="12700">
            <a:solidFill>
              <a:srgbClr val="56627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 sz="14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3C29639-AEA0-B048-76F6-7EED34EB4937}"/>
              </a:ext>
            </a:extLst>
          </p:cNvPr>
          <p:cNvSpPr/>
          <p:nvPr/>
        </p:nvSpPr>
        <p:spPr>
          <a:xfrm>
            <a:off x="1618559" y="2740152"/>
            <a:ext cx="8732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2F5F7"/>
                </a:solidFill>
              </a:rPr>
              <a:t>Funcionales: Firebase Authentication, gestión de solicitudes, algoritmo de cercanía, reputación y dashboard BI.</a:t>
            </a:r>
            <a:endParaRPr lang="en-US" sz="14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37E1D135-E3BD-3AA1-D7D4-65105B5F7AF2}"/>
              </a:ext>
            </a:extLst>
          </p:cNvPr>
          <p:cNvSpPr/>
          <p:nvPr/>
        </p:nvSpPr>
        <p:spPr>
          <a:xfrm>
            <a:off x="1335095" y="3371088"/>
            <a:ext cx="9326880" cy="484632"/>
          </a:xfrm>
          <a:prstGeom prst="roundRect">
            <a:avLst>
              <a:gd name="adj" fmla="val 15094"/>
            </a:avLst>
          </a:prstGeom>
          <a:solidFill>
            <a:srgbClr val="2C3744">
              <a:alpha val="96000"/>
            </a:srgbClr>
          </a:solidFill>
          <a:ln w="12700">
            <a:solidFill>
              <a:srgbClr val="56627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 sz="140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9738FEF8-0444-C0A3-D41D-AE45F63E4C33}"/>
              </a:ext>
            </a:extLst>
          </p:cNvPr>
          <p:cNvSpPr/>
          <p:nvPr/>
        </p:nvSpPr>
        <p:spPr>
          <a:xfrm>
            <a:off x="1618559" y="3489960"/>
            <a:ext cx="8732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2F5F7"/>
                </a:solidFill>
              </a:rPr>
              <a:t>Funcionales: chat del servicio, seguimiento, presupuesto, pago simulado, cancelación y reclamos.</a:t>
            </a:r>
            <a:endParaRPr lang="en-US" sz="1400" dirty="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A36A92FF-40B1-9F09-7BE8-12A94D274E43}"/>
              </a:ext>
            </a:extLst>
          </p:cNvPr>
          <p:cNvSpPr/>
          <p:nvPr/>
        </p:nvSpPr>
        <p:spPr>
          <a:xfrm>
            <a:off x="1335095" y="4120896"/>
            <a:ext cx="9326880" cy="484632"/>
          </a:xfrm>
          <a:prstGeom prst="roundRect">
            <a:avLst>
              <a:gd name="adj" fmla="val 15094"/>
            </a:avLst>
          </a:prstGeom>
          <a:solidFill>
            <a:srgbClr val="2C3744">
              <a:alpha val="96000"/>
            </a:srgbClr>
          </a:solidFill>
          <a:ln w="12700">
            <a:solidFill>
              <a:srgbClr val="56627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 sz="140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B0A1480D-A8A0-C5DE-91BD-83542CFEBBC4}"/>
              </a:ext>
            </a:extLst>
          </p:cNvPr>
          <p:cNvSpPr/>
          <p:nvPr/>
        </p:nvSpPr>
        <p:spPr>
          <a:xfrm>
            <a:off x="1618559" y="4239768"/>
            <a:ext cx="8732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2F5F7"/>
                </a:solidFill>
              </a:rPr>
              <a:t>No funcionales: base NoSQL Firestore, respuesta rápida, diseño responsive y seguridad por roles.</a:t>
            </a:r>
            <a:endParaRPr lang="en-US" sz="1400" dirty="0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E11A305A-5F8C-C2DF-E229-37FC7F9CD07A}"/>
              </a:ext>
            </a:extLst>
          </p:cNvPr>
          <p:cNvSpPr/>
          <p:nvPr/>
        </p:nvSpPr>
        <p:spPr>
          <a:xfrm>
            <a:off x="1335095" y="4870704"/>
            <a:ext cx="9326880" cy="484632"/>
          </a:xfrm>
          <a:prstGeom prst="roundRect">
            <a:avLst>
              <a:gd name="adj" fmla="val 15094"/>
            </a:avLst>
          </a:prstGeom>
          <a:solidFill>
            <a:srgbClr val="2C3744">
              <a:alpha val="96000"/>
            </a:srgbClr>
          </a:solidFill>
          <a:ln w="12700">
            <a:solidFill>
              <a:srgbClr val="56627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 sz="1400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E2ADA428-AAD6-39B1-5C3A-6751312E8FB9}"/>
              </a:ext>
            </a:extLst>
          </p:cNvPr>
          <p:cNvSpPr/>
          <p:nvPr/>
        </p:nvSpPr>
        <p:spPr>
          <a:xfrm>
            <a:off x="1618559" y="4989576"/>
            <a:ext cx="8732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2F5F7"/>
                </a:solidFill>
              </a:rPr>
              <a:t>Restricciones: APIs gratuitas o de prueba y alcance acotado a MVP académico.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a171f6bd2_1_991"/>
          <p:cNvSpPr txBox="1">
            <a:spLocks noGrp="1"/>
          </p:cNvSpPr>
          <p:nvPr>
            <p:ph type="title"/>
          </p:nvPr>
        </p:nvSpPr>
        <p:spPr>
          <a:xfrm>
            <a:off x="1618559" y="86778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Diseño del Sistema  </a:t>
            </a:r>
            <a:endParaRPr/>
          </a:p>
        </p:txBody>
      </p:sp>
      <p:pic>
        <p:nvPicPr>
          <p:cNvPr id="174" name="Google Shape;174;g3fa171f6bd2_1_9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7050" y="1906013"/>
            <a:ext cx="8857897" cy="43597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a171f6bd2_1_996"/>
          <p:cNvSpPr txBox="1">
            <a:spLocks noGrp="1"/>
          </p:cNvSpPr>
          <p:nvPr>
            <p:ph type="title"/>
          </p:nvPr>
        </p:nvSpPr>
        <p:spPr>
          <a:xfrm>
            <a:off x="1525655" y="2677513"/>
            <a:ext cx="4188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Diseño del Sistema  </a:t>
            </a:r>
            <a:endParaRPr/>
          </a:p>
        </p:txBody>
      </p:sp>
      <p:pic>
        <p:nvPicPr>
          <p:cNvPr id="180" name="Google Shape;180;g3fa171f6bd2_1_996" title="diagrama_casos_uso_servi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6052" y="17060"/>
            <a:ext cx="5145948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a171f6bd2_1_1001"/>
          <p:cNvSpPr txBox="1">
            <a:spLocks noGrp="1"/>
          </p:cNvSpPr>
          <p:nvPr>
            <p:ph type="title"/>
          </p:nvPr>
        </p:nvSpPr>
        <p:spPr>
          <a:xfrm>
            <a:off x="1618559" y="86778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Diseño del Sistema  </a:t>
            </a:r>
            <a:endParaRPr/>
          </a:p>
        </p:txBody>
      </p:sp>
      <p:pic>
        <p:nvPicPr>
          <p:cNvPr id="186" name="Google Shape;186;g3fa171f6bd2_1_1001" title="act_diagram_A_registr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963" y="2063563"/>
            <a:ext cx="10642063" cy="4359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a171f6bd2_1_1006"/>
          <p:cNvSpPr txBox="1">
            <a:spLocks noGrp="1"/>
          </p:cNvSpPr>
          <p:nvPr>
            <p:ph type="title"/>
          </p:nvPr>
        </p:nvSpPr>
        <p:spPr>
          <a:xfrm>
            <a:off x="1618559" y="86778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Tecnologías del Desarrollo  </a:t>
            </a:r>
            <a:endParaRPr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9C9C175B-A75C-ABE0-3D28-DC74E11AB5D0}"/>
              </a:ext>
            </a:extLst>
          </p:cNvPr>
          <p:cNvSpPr/>
          <p:nvPr/>
        </p:nvSpPr>
        <p:spPr>
          <a:xfrm>
            <a:off x="502920" y="6556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909D"/>
                </a:solidFill>
              </a:rPr>
              <a:t>Fase 1 · Capstone · Service Go</a:t>
            </a:r>
            <a:endParaRPr lang="en-US" sz="75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EF60AB95-8059-091C-9263-59BEC8581021}"/>
              </a:ext>
            </a:extLst>
          </p:cNvPr>
          <p:cNvSpPr/>
          <p:nvPr/>
        </p:nvSpPr>
        <p:spPr>
          <a:xfrm>
            <a:off x="11448288" y="655624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3909D"/>
                </a:solidFill>
              </a:rPr>
              <a:t>10</a:t>
            </a:r>
            <a:endParaRPr lang="en-US" sz="750" dirty="0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2316694B-15DD-2286-C6DE-95737301421A}"/>
              </a:ext>
            </a:extLst>
          </p:cNvPr>
          <p:cNvSpPr/>
          <p:nvPr/>
        </p:nvSpPr>
        <p:spPr>
          <a:xfrm>
            <a:off x="1335095" y="2296217"/>
            <a:ext cx="9326880" cy="484632"/>
          </a:xfrm>
          <a:prstGeom prst="roundRect">
            <a:avLst>
              <a:gd name="adj" fmla="val 15094"/>
            </a:avLst>
          </a:prstGeom>
          <a:solidFill>
            <a:srgbClr val="2C3744">
              <a:alpha val="96000"/>
            </a:srgbClr>
          </a:solidFill>
          <a:ln w="12700">
            <a:solidFill>
              <a:srgbClr val="56627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D73C181-CC2B-4D3C-E09F-181928EBA821}"/>
              </a:ext>
            </a:extLst>
          </p:cNvPr>
          <p:cNvSpPr/>
          <p:nvPr/>
        </p:nvSpPr>
        <p:spPr>
          <a:xfrm>
            <a:off x="1618559" y="2415089"/>
            <a:ext cx="8732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2F5F7"/>
                </a:solidFill>
              </a:rPr>
              <a:t>Frontend móvil: Ionic + Angular.</a:t>
            </a:r>
            <a:endParaRPr lang="en-US" sz="18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BE56BBBA-B291-2794-846B-D52DBC18483C}"/>
              </a:ext>
            </a:extLst>
          </p:cNvPr>
          <p:cNvSpPr/>
          <p:nvPr/>
        </p:nvSpPr>
        <p:spPr>
          <a:xfrm>
            <a:off x="1335095" y="3046025"/>
            <a:ext cx="9326880" cy="484632"/>
          </a:xfrm>
          <a:prstGeom prst="roundRect">
            <a:avLst>
              <a:gd name="adj" fmla="val 15094"/>
            </a:avLst>
          </a:prstGeom>
          <a:solidFill>
            <a:srgbClr val="2C3744">
              <a:alpha val="96000"/>
            </a:srgbClr>
          </a:solidFill>
          <a:ln w="12700">
            <a:solidFill>
              <a:srgbClr val="56627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A9E2FBE4-E90A-FE71-7AB0-F7FB01DED33D}"/>
              </a:ext>
            </a:extLst>
          </p:cNvPr>
          <p:cNvSpPr/>
          <p:nvPr/>
        </p:nvSpPr>
        <p:spPr>
          <a:xfrm>
            <a:off x="1618559" y="3164897"/>
            <a:ext cx="8732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2F5F7"/>
                </a:solidFill>
              </a:rPr>
              <a:t>Backend cloud: Firebase Authentication, Firestore, Cloud Functions, Cloud Messaging y Storage.</a:t>
            </a:r>
            <a:endParaRPr lang="en-US" sz="1800" dirty="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3066B572-CEA7-E252-5C4D-50113373B2C7}"/>
              </a:ext>
            </a:extLst>
          </p:cNvPr>
          <p:cNvSpPr/>
          <p:nvPr/>
        </p:nvSpPr>
        <p:spPr>
          <a:xfrm>
            <a:off x="1335095" y="3795833"/>
            <a:ext cx="9326880" cy="484632"/>
          </a:xfrm>
          <a:prstGeom prst="roundRect">
            <a:avLst>
              <a:gd name="adj" fmla="val 15094"/>
            </a:avLst>
          </a:prstGeom>
          <a:solidFill>
            <a:srgbClr val="2C3744">
              <a:alpha val="96000"/>
            </a:srgbClr>
          </a:solidFill>
          <a:ln w="12700">
            <a:solidFill>
              <a:srgbClr val="56627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CCF3279E-0D3A-8E2F-61CF-57D5153D6C5B}"/>
              </a:ext>
            </a:extLst>
          </p:cNvPr>
          <p:cNvSpPr/>
          <p:nvPr/>
        </p:nvSpPr>
        <p:spPr>
          <a:xfrm>
            <a:off x="1618559" y="3914705"/>
            <a:ext cx="8732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2F5F7"/>
                </a:solidFill>
              </a:rPr>
              <a:t>Datos y BI: Python, Pandas, Matplotlib y dashboard de indicadores.</a:t>
            </a:r>
            <a:endParaRPr lang="en-US" sz="1800" dirty="0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6C8FC399-3289-90A4-6271-8F7C53433184}"/>
              </a:ext>
            </a:extLst>
          </p:cNvPr>
          <p:cNvSpPr/>
          <p:nvPr/>
        </p:nvSpPr>
        <p:spPr>
          <a:xfrm>
            <a:off x="1335095" y="4545641"/>
            <a:ext cx="9326880" cy="484632"/>
          </a:xfrm>
          <a:prstGeom prst="roundRect">
            <a:avLst>
              <a:gd name="adj" fmla="val 15094"/>
            </a:avLst>
          </a:prstGeom>
          <a:solidFill>
            <a:srgbClr val="2C3744">
              <a:alpha val="96000"/>
            </a:srgbClr>
          </a:solidFill>
          <a:ln w="12700">
            <a:solidFill>
              <a:srgbClr val="56627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0B1BD2C0-04C3-E89D-FBA5-E89FC3A51922}"/>
              </a:ext>
            </a:extLst>
          </p:cNvPr>
          <p:cNvSpPr/>
          <p:nvPr/>
        </p:nvSpPr>
        <p:spPr>
          <a:xfrm>
            <a:off x="1618559" y="4664513"/>
            <a:ext cx="8732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2F5F7"/>
                </a:solidFill>
              </a:rPr>
              <a:t>QA: pruebas unitarias, validación funcional y evidencias de ejecución.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a171f6bd2_1_1011"/>
          <p:cNvSpPr txBox="1">
            <a:spLocks noGrp="1"/>
          </p:cNvSpPr>
          <p:nvPr>
            <p:ph type="title"/>
          </p:nvPr>
        </p:nvSpPr>
        <p:spPr>
          <a:xfrm>
            <a:off x="1618559" y="86778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Responsabilidades </a:t>
            </a:r>
            <a:endParaRPr/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52FB9313-6FB1-847D-6CC4-5CB6A8229644}"/>
              </a:ext>
            </a:extLst>
          </p:cNvPr>
          <p:cNvSpPr/>
          <p:nvPr/>
        </p:nvSpPr>
        <p:spPr>
          <a:xfrm>
            <a:off x="502920" y="6556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909D"/>
                </a:solidFill>
              </a:rPr>
              <a:t>Fase 1 · Capstone · Service Go</a:t>
            </a:r>
            <a:endParaRPr lang="en-US" sz="75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BEF31E2C-29EB-38E7-772E-4A3499CA0AA5}"/>
              </a:ext>
            </a:extLst>
          </p:cNvPr>
          <p:cNvSpPr/>
          <p:nvPr/>
        </p:nvSpPr>
        <p:spPr>
          <a:xfrm>
            <a:off x="11448288" y="655624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3909D"/>
                </a:solidFill>
              </a:rPr>
              <a:t>11</a:t>
            </a:r>
            <a:endParaRPr lang="en-US" sz="750" dirty="0"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2FA6C4B3-A18D-E7E6-3998-A68B9700FC49}"/>
              </a:ext>
            </a:extLst>
          </p:cNvPr>
          <p:cNvSpPr/>
          <p:nvPr/>
        </p:nvSpPr>
        <p:spPr>
          <a:xfrm>
            <a:off x="1545407" y="3018593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2C3744"/>
          </a:solidFill>
          <a:ln w="12700">
            <a:solidFill>
              <a:srgbClr val="6E7A89"/>
            </a:solidFill>
            <a:prstDash val="solid"/>
          </a:ln>
          <a:effectLst>
            <a:outerShdw blurRad="127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E2EA9499-85AF-F3FE-404E-DB724119629F}"/>
              </a:ext>
            </a:extLst>
          </p:cNvPr>
          <p:cNvSpPr/>
          <p:nvPr/>
        </p:nvSpPr>
        <p:spPr>
          <a:xfrm>
            <a:off x="2304359" y="3064313"/>
            <a:ext cx="1545336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F5F7"/>
                </a:solidFill>
              </a:rPr>
              <a:t>Julio Soto</a:t>
            </a:r>
            <a:endParaRPr lang="en-US" sz="16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033B8F0-C0C9-8A91-A8AA-7A58090A62AE}"/>
              </a:ext>
            </a:extLst>
          </p:cNvPr>
          <p:cNvSpPr/>
          <p:nvPr/>
        </p:nvSpPr>
        <p:spPr>
          <a:xfrm>
            <a:off x="1545407" y="3704393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384553"/>
          </a:solidFill>
          <a:ln w="12700">
            <a:solidFill>
              <a:srgbClr val="6E7A89"/>
            </a:solidFill>
            <a:prstDash val="solid"/>
          </a:ln>
          <a:effectLst>
            <a:outerShdw blurRad="127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F70B324F-258B-D83A-9DFA-95A30EB82934}"/>
              </a:ext>
            </a:extLst>
          </p:cNvPr>
          <p:cNvSpPr/>
          <p:nvPr/>
        </p:nvSpPr>
        <p:spPr>
          <a:xfrm>
            <a:off x="1618559" y="3750113"/>
            <a:ext cx="2231136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2F5F7"/>
                </a:solidFill>
              </a:rPr>
              <a:t>Jefe de Proyecto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2F5F7"/>
                </a:solidFill>
              </a:rPr>
              <a:t>Backend · Integración Firebase</a:t>
            </a:r>
            <a:endParaRPr lang="en-US" sz="1300" dirty="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70154177-E745-6B48-4D38-5359E9129879}"/>
              </a:ext>
            </a:extLst>
          </p:cNvPr>
          <p:cNvSpPr/>
          <p:nvPr/>
        </p:nvSpPr>
        <p:spPr>
          <a:xfrm>
            <a:off x="4791527" y="3018593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2C3744"/>
          </a:solidFill>
          <a:ln w="12700">
            <a:solidFill>
              <a:srgbClr val="6E7A89"/>
            </a:solidFill>
            <a:prstDash val="solid"/>
          </a:ln>
          <a:effectLst>
            <a:outerShdw blurRad="127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8BC1BB42-7FA6-4653-77E3-5120CD776EB5}"/>
              </a:ext>
            </a:extLst>
          </p:cNvPr>
          <p:cNvSpPr/>
          <p:nvPr/>
        </p:nvSpPr>
        <p:spPr>
          <a:xfrm>
            <a:off x="5477327" y="3064313"/>
            <a:ext cx="161848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F5F7"/>
                </a:solidFill>
              </a:rPr>
              <a:t>Mauricio Pardo</a:t>
            </a:r>
            <a:endParaRPr lang="en-US" sz="1600" dirty="0"/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2EF271F9-5382-9971-1E67-54423BE4E4B0}"/>
              </a:ext>
            </a:extLst>
          </p:cNvPr>
          <p:cNvSpPr/>
          <p:nvPr/>
        </p:nvSpPr>
        <p:spPr>
          <a:xfrm>
            <a:off x="4791527" y="3704393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384553"/>
          </a:solidFill>
          <a:ln w="12700">
            <a:solidFill>
              <a:srgbClr val="6E7A89"/>
            </a:solidFill>
            <a:prstDash val="solid"/>
          </a:ln>
          <a:effectLst>
            <a:outerShdw blurRad="127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1BBC84C1-D98D-51B0-F7B4-8B2BBA4C0713}"/>
              </a:ext>
            </a:extLst>
          </p:cNvPr>
          <p:cNvSpPr/>
          <p:nvPr/>
        </p:nvSpPr>
        <p:spPr>
          <a:xfrm>
            <a:off x="4864679" y="3750113"/>
            <a:ext cx="2231136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2F5F7"/>
                </a:solidFill>
              </a:rPr>
              <a:t>Frontend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2F5F7"/>
                </a:solidFill>
              </a:rPr>
              <a:t>Analítica BI</a:t>
            </a:r>
            <a:endParaRPr lang="en-US" sz="1300" dirty="0"/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FFEE6446-DC67-3555-95A1-F52AD55BD548}"/>
              </a:ext>
            </a:extLst>
          </p:cNvPr>
          <p:cNvSpPr/>
          <p:nvPr/>
        </p:nvSpPr>
        <p:spPr>
          <a:xfrm>
            <a:off x="8037647" y="3018593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2C3744"/>
          </a:solidFill>
          <a:ln w="12700">
            <a:solidFill>
              <a:srgbClr val="6E7A89"/>
            </a:solidFill>
            <a:prstDash val="solid"/>
          </a:ln>
          <a:effectLst>
            <a:outerShdw blurRad="127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573E3F33-16A8-F0D0-EDBE-C8C0D92BE32D}"/>
              </a:ext>
            </a:extLst>
          </p:cNvPr>
          <p:cNvSpPr/>
          <p:nvPr/>
        </p:nvSpPr>
        <p:spPr>
          <a:xfrm>
            <a:off x="8656319" y="3064313"/>
            <a:ext cx="168561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F5F7"/>
                </a:solidFill>
              </a:rPr>
              <a:t>Muriel Miranda</a:t>
            </a:r>
            <a:endParaRPr lang="en-US" sz="1600" dirty="0"/>
          </a:p>
        </p:txBody>
      </p:sp>
      <p:sp>
        <p:nvSpPr>
          <p:cNvPr id="27" name="Shape 17">
            <a:extLst>
              <a:ext uri="{FF2B5EF4-FFF2-40B4-BE49-F238E27FC236}">
                <a16:creationId xmlns:a16="http://schemas.microsoft.com/office/drawing/2014/main" id="{C03F5BBD-47CD-8362-D1FE-46AC565B4A89}"/>
              </a:ext>
            </a:extLst>
          </p:cNvPr>
          <p:cNvSpPr/>
          <p:nvPr/>
        </p:nvSpPr>
        <p:spPr>
          <a:xfrm>
            <a:off x="8037647" y="3704393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384553"/>
          </a:solidFill>
          <a:ln w="12700">
            <a:solidFill>
              <a:srgbClr val="6E7A89"/>
            </a:solidFill>
            <a:prstDash val="solid"/>
          </a:ln>
          <a:effectLst>
            <a:outerShdw blurRad="127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9" name="Text 18">
            <a:extLst>
              <a:ext uri="{FF2B5EF4-FFF2-40B4-BE49-F238E27FC236}">
                <a16:creationId xmlns:a16="http://schemas.microsoft.com/office/drawing/2014/main" id="{E0C4ABDA-C3CB-9AB1-316C-6B8D57130B05}"/>
              </a:ext>
            </a:extLst>
          </p:cNvPr>
          <p:cNvSpPr/>
          <p:nvPr/>
        </p:nvSpPr>
        <p:spPr>
          <a:xfrm>
            <a:off x="8110799" y="3750113"/>
            <a:ext cx="2231136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2F5F7"/>
                </a:solidFill>
              </a:rPr>
              <a:t>Frontend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2F5F7"/>
                </a:solidFill>
              </a:rPr>
              <a:t>QA y pruebas</a:t>
            </a:r>
            <a:endParaRPr lang="en-US" sz="1300" dirty="0"/>
          </a:p>
        </p:txBody>
      </p:sp>
      <p:pic>
        <p:nvPicPr>
          <p:cNvPr id="30" name="Imagen 29" descr="Ejecutivo - Iconos gratis de personas">
            <a:extLst>
              <a:ext uri="{FF2B5EF4-FFF2-40B4-BE49-F238E27FC236}">
                <a16:creationId xmlns:a16="http://schemas.microsoft.com/office/drawing/2014/main" id="{04BA97FD-4A3A-A90E-B21B-197E208CF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407" y="2835713"/>
            <a:ext cx="685800" cy="685800"/>
          </a:xfrm>
          <a:prstGeom prst="rect">
            <a:avLst/>
          </a:prstGeom>
        </p:spPr>
      </p:pic>
      <p:pic>
        <p:nvPicPr>
          <p:cNvPr id="32" name="Imagen 31" descr="Ejecutivo - Iconos gratis de personas">
            <a:extLst>
              <a:ext uri="{FF2B5EF4-FFF2-40B4-BE49-F238E27FC236}">
                <a16:creationId xmlns:a16="http://schemas.microsoft.com/office/drawing/2014/main" id="{F464C81C-997A-9E9B-C146-475B03485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527" y="2835713"/>
            <a:ext cx="685800" cy="685800"/>
          </a:xfrm>
          <a:prstGeom prst="rect">
            <a:avLst/>
          </a:prstGeom>
        </p:spPr>
      </p:pic>
      <p:pic>
        <p:nvPicPr>
          <p:cNvPr id="33" name="Imagen 32" descr="Icono De Perfil De Joven Ejecutiva Ilustración del Vector - Illustration of  encargado, persona: 81933191">
            <a:extLst>
              <a:ext uri="{FF2B5EF4-FFF2-40B4-BE49-F238E27FC236}">
                <a16:creationId xmlns:a16="http://schemas.microsoft.com/office/drawing/2014/main" id="{D78BBC16-53D4-23E1-6B4F-9CE57A4D4B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21375" y1="75625" x2="17375" y2="86875"/>
                        <a14:foregroundMark x1="24125" y1="88625" x2="41625" y2="87875"/>
                        <a14:foregroundMark x1="41625" y1="87875" x2="67625" y2="88000"/>
                        <a14:foregroundMark x1="67625" y1="88000" x2="75500" y2="85375"/>
                        <a14:foregroundMark x1="75500" y1="85375" x2="76750" y2="7512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37646" y="2835713"/>
            <a:ext cx="732593" cy="73259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a171f6bd2_1_1016"/>
          <p:cNvSpPr txBox="1">
            <a:spLocks noGrp="1"/>
          </p:cNvSpPr>
          <p:nvPr>
            <p:ph type="title"/>
          </p:nvPr>
        </p:nvSpPr>
        <p:spPr>
          <a:xfrm>
            <a:off x="1618559" y="86778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Estimación de Riesgos </a:t>
            </a:r>
            <a:endParaRPr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F4D51DF2-9015-12B1-8D25-112AF041FD8C}"/>
              </a:ext>
            </a:extLst>
          </p:cNvPr>
          <p:cNvSpPr/>
          <p:nvPr/>
        </p:nvSpPr>
        <p:spPr>
          <a:xfrm>
            <a:off x="502920" y="6556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909D"/>
                </a:solidFill>
              </a:rPr>
              <a:t>Fase 1 · Capstone · Service Go</a:t>
            </a:r>
            <a:endParaRPr lang="en-US" sz="75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EA52C79A-4381-9E31-7322-FEBBB8951D9B}"/>
              </a:ext>
            </a:extLst>
          </p:cNvPr>
          <p:cNvSpPr/>
          <p:nvPr/>
        </p:nvSpPr>
        <p:spPr>
          <a:xfrm>
            <a:off x="11448288" y="655624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3909D"/>
                </a:solidFill>
              </a:rPr>
              <a:t>12</a:t>
            </a:r>
            <a:endParaRPr lang="en-US" sz="750" dirty="0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54C0899C-BC5C-BA7B-7D24-77C334307548}"/>
              </a:ext>
            </a:extLst>
          </p:cNvPr>
          <p:cNvSpPr/>
          <p:nvPr/>
        </p:nvSpPr>
        <p:spPr>
          <a:xfrm>
            <a:off x="1521968" y="2697480"/>
            <a:ext cx="9326880" cy="484632"/>
          </a:xfrm>
          <a:prstGeom prst="roundRect">
            <a:avLst>
              <a:gd name="adj" fmla="val 15094"/>
            </a:avLst>
          </a:prstGeom>
          <a:solidFill>
            <a:srgbClr val="2C3744">
              <a:alpha val="96000"/>
            </a:srgbClr>
          </a:solidFill>
          <a:ln w="12700">
            <a:solidFill>
              <a:srgbClr val="56627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EA6264D-D422-5053-85FF-1B724CAEC299}"/>
              </a:ext>
            </a:extLst>
          </p:cNvPr>
          <p:cNvSpPr/>
          <p:nvPr/>
        </p:nvSpPr>
        <p:spPr>
          <a:xfrm>
            <a:off x="1805432" y="2816352"/>
            <a:ext cx="8732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2F5F7"/>
                </a:solidFill>
              </a:rPr>
              <a:t>Riesgo 1: límite o costo de API de mapas. Mitigación: entorno de prueba y uso controlado de consultas.</a:t>
            </a:r>
            <a:endParaRPr lang="en-US" sz="18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861F6780-5818-3F64-D37C-A2BED8DD9B86}"/>
              </a:ext>
            </a:extLst>
          </p:cNvPr>
          <p:cNvSpPr/>
          <p:nvPr/>
        </p:nvSpPr>
        <p:spPr>
          <a:xfrm>
            <a:off x="1521968" y="3447288"/>
            <a:ext cx="9326880" cy="484632"/>
          </a:xfrm>
          <a:prstGeom prst="roundRect">
            <a:avLst>
              <a:gd name="adj" fmla="val 15094"/>
            </a:avLst>
          </a:prstGeom>
          <a:solidFill>
            <a:srgbClr val="2C3744">
              <a:alpha val="96000"/>
            </a:srgbClr>
          </a:solidFill>
          <a:ln w="12700">
            <a:solidFill>
              <a:srgbClr val="56627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6DCD458C-FB47-261F-111C-A576228D79A8}"/>
              </a:ext>
            </a:extLst>
          </p:cNvPr>
          <p:cNvSpPr/>
          <p:nvPr/>
        </p:nvSpPr>
        <p:spPr>
          <a:xfrm>
            <a:off x="1805432" y="3566160"/>
            <a:ext cx="8732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2F5F7"/>
                </a:solidFill>
              </a:rPr>
              <a:t>Riesgo 2: curva de aprendizaje NoSQL. Mitigación: definición temprana del modelo Firestore.</a:t>
            </a:r>
            <a:endParaRPr lang="en-US" sz="1800" dirty="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2C5EA4FE-21E5-5724-1629-98FD3159BB40}"/>
              </a:ext>
            </a:extLst>
          </p:cNvPr>
          <p:cNvSpPr/>
          <p:nvPr/>
        </p:nvSpPr>
        <p:spPr>
          <a:xfrm>
            <a:off x="1521968" y="4197096"/>
            <a:ext cx="9326880" cy="484632"/>
          </a:xfrm>
          <a:prstGeom prst="roundRect">
            <a:avLst>
              <a:gd name="adj" fmla="val 15094"/>
            </a:avLst>
          </a:prstGeom>
          <a:solidFill>
            <a:srgbClr val="2C3744">
              <a:alpha val="96000"/>
            </a:srgbClr>
          </a:solidFill>
          <a:ln w="12700">
            <a:solidFill>
              <a:srgbClr val="56627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16B2E936-C11F-3171-4705-2D0AFD7C6AAC}"/>
              </a:ext>
            </a:extLst>
          </p:cNvPr>
          <p:cNvSpPr/>
          <p:nvPr/>
        </p:nvSpPr>
        <p:spPr>
          <a:xfrm>
            <a:off x="1805432" y="4315968"/>
            <a:ext cx="8732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2F5F7"/>
                </a:solidFill>
              </a:rPr>
              <a:t>Riesgo 3: exceso de alcance. Mitigación: priorizar MVP y dejar IA avanzada como evolución futura.</a:t>
            </a:r>
            <a:endParaRPr lang="en-US" sz="1800" dirty="0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031B56F1-2D62-1B9C-0BF7-84E28CB33CDD}"/>
              </a:ext>
            </a:extLst>
          </p:cNvPr>
          <p:cNvSpPr/>
          <p:nvPr/>
        </p:nvSpPr>
        <p:spPr>
          <a:xfrm>
            <a:off x="1521968" y="4946904"/>
            <a:ext cx="9326880" cy="484632"/>
          </a:xfrm>
          <a:prstGeom prst="roundRect">
            <a:avLst>
              <a:gd name="adj" fmla="val 15094"/>
            </a:avLst>
          </a:prstGeom>
          <a:solidFill>
            <a:srgbClr val="2C3744">
              <a:alpha val="96000"/>
            </a:srgbClr>
          </a:solidFill>
          <a:ln w="12700">
            <a:solidFill>
              <a:srgbClr val="56627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4AB2829E-EDD8-C802-D36E-5ECB281089BE}"/>
              </a:ext>
            </a:extLst>
          </p:cNvPr>
          <p:cNvSpPr/>
          <p:nvPr/>
        </p:nvSpPr>
        <p:spPr>
          <a:xfrm>
            <a:off x="1805432" y="5065776"/>
            <a:ext cx="8732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2F5F7"/>
                </a:solidFill>
              </a:rPr>
              <a:t>Riesgo 4: integración de pagos reales. Mitigación: simular flujo y documentar integración futura.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B5ED2B26-A295-5129-4CAF-D3E16D92B927}"/>
              </a:ext>
            </a:extLst>
          </p:cNvPr>
          <p:cNvSpPr/>
          <p:nvPr/>
        </p:nvSpPr>
        <p:spPr>
          <a:xfrm>
            <a:off x="1389888" y="758952"/>
            <a:ext cx="9646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Planificación</a:t>
            </a:r>
            <a:endParaRPr lang="en-US" sz="25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414401F-B56A-65ED-CE25-92FB094970A2}"/>
              </a:ext>
            </a:extLst>
          </p:cNvPr>
          <p:cNvSpPr/>
          <p:nvPr/>
        </p:nvSpPr>
        <p:spPr>
          <a:xfrm>
            <a:off x="1417320" y="119786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7C1CB"/>
                </a:solidFill>
              </a:rPr>
              <a:t>Roadmap de alto nivel</a:t>
            </a:r>
            <a:endParaRPr lang="en-US" sz="115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7600E90A-233D-CC96-DE7E-3AD377A5A3B4}"/>
              </a:ext>
            </a:extLst>
          </p:cNvPr>
          <p:cNvSpPr/>
          <p:nvPr/>
        </p:nvSpPr>
        <p:spPr>
          <a:xfrm>
            <a:off x="502920" y="6556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909D"/>
                </a:solidFill>
              </a:rPr>
              <a:t>Fase 1 · Capstone · Service Go</a:t>
            </a:r>
            <a:endParaRPr lang="en-US" sz="75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F4F6A4CA-BFA2-F3D6-7B10-E3D42DF8B5A0}"/>
              </a:ext>
            </a:extLst>
          </p:cNvPr>
          <p:cNvSpPr/>
          <p:nvPr/>
        </p:nvSpPr>
        <p:spPr>
          <a:xfrm>
            <a:off x="11448288" y="655624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3909D"/>
                </a:solidFill>
              </a:rPr>
              <a:t>13</a:t>
            </a:r>
            <a:endParaRPr lang="en-US" sz="75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39299B15-18FE-2925-21F9-2182180CCE36}"/>
              </a:ext>
            </a:extLst>
          </p:cNvPr>
          <p:cNvSpPr/>
          <p:nvPr/>
        </p:nvSpPr>
        <p:spPr>
          <a:xfrm>
            <a:off x="786384" y="1481328"/>
            <a:ext cx="10643616" cy="384048"/>
          </a:xfrm>
          <a:prstGeom prst="rect">
            <a:avLst/>
          </a:prstGeom>
          <a:solidFill>
            <a:srgbClr val="384553"/>
          </a:solidFill>
          <a:ln w="12700">
            <a:solidFill>
              <a:srgbClr val="38455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36421018-D069-C2BF-165F-BAF024D78846}"/>
              </a:ext>
            </a:extLst>
          </p:cNvPr>
          <p:cNvSpPr/>
          <p:nvPr/>
        </p:nvSpPr>
        <p:spPr>
          <a:xfrm>
            <a:off x="868680" y="1600200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2F5F7"/>
                </a:solidFill>
              </a:rPr>
              <a:t>Etapa</a:t>
            </a:r>
            <a:endParaRPr lang="en-US" sz="880" dirty="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06B71014-B05E-4032-85DA-41C2AEBBE620}"/>
              </a:ext>
            </a:extLst>
          </p:cNvPr>
          <p:cNvSpPr/>
          <p:nvPr/>
        </p:nvSpPr>
        <p:spPr>
          <a:xfrm>
            <a:off x="1417320" y="1600200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2F5F7"/>
                </a:solidFill>
              </a:rPr>
              <a:t>Foco</a:t>
            </a:r>
            <a:endParaRPr lang="en-US" sz="880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F2201672-FF3B-A583-880D-31BCE98D6ACA}"/>
              </a:ext>
            </a:extLst>
          </p:cNvPr>
          <p:cNvSpPr/>
          <p:nvPr/>
        </p:nvSpPr>
        <p:spPr>
          <a:xfrm>
            <a:off x="5715000" y="1600200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2F5F7"/>
                </a:solidFill>
              </a:rPr>
              <a:t>Semanas</a:t>
            </a:r>
            <a:endParaRPr lang="en-US" sz="880" dirty="0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588CD156-E9DB-BD97-5F5C-38B641BE09F1}"/>
              </a:ext>
            </a:extLst>
          </p:cNvPr>
          <p:cNvSpPr/>
          <p:nvPr/>
        </p:nvSpPr>
        <p:spPr>
          <a:xfrm>
            <a:off x="7178040" y="1600200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2F5F7"/>
                </a:solidFill>
              </a:rPr>
              <a:t>Resultado principal</a:t>
            </a:r>
            <a:endParaRPr lang="en-US" sz="88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D226FE6D-1B45-5A38-EAF0-B76280AF6372}"/>
              </a:ext>
            </a:extLst>
          </p:cNvPr>
          <p:cNvSpPr/>
          <p:nvPr/>
        </p:nvSpPr>
        <p:spPr>
          <a:xfrm>
            <a:off x="786384" y="1901952"/>
            <a:ext cx="10643616" cy="356616"/>
          </a:xfrm>
          <a:prstGeom prst="rect">
            <a:avLst/>
          </a:prstGeom>
          <a:solidFill>
            <a:srgbClr val="26313D"/>
          </a:solidFill>
          <a:ln w="3810">
            <a:solidFill>
              <a:srgbClr val="3A465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1084ED4D-30EF-603F-BBBB-C58B22EB0099}"/>
              </a:ext>
            </a:extLst>
          </p:cNvPr>
          <p:cNvSpPr/>
          <p:nvPr/>
        </p:nvSpPr>
        <p:spPr>
          <a:xfrm>
            <a:off x="868680" y="1993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2F5F7"/>
                </a:solidFill>
              </a:rPr>
              <a:t>1</a:t>
            </a:r>
            <a:endParaRPr lang="en-US" sz="850" dirty="0"/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DCB70A11-208A-3162-7127-D95AE50B1CBF}"/>
              </a:ext>
            </a:extLst>
          </p:cNvPr>
          <p:cNvSpPr/>
          <p:nvPr/>
        </p:nvSpPr>
        <p:spPr>
          <a:xfrm>
            <a:off x="1417320" y="19933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2F5F7"/>
                </a:solidFill>
              </a:rPr>
              <a:t>Descubrimiento y definición</a:t>
            </a:r>
            <a:endParaRPr lang="en-US" sz="850" dirty="0"/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C4DCD1F9-A535-05D7-F8F7-C15E6B2F3825}"/>
              </a:ext>
            </a:extLst>
          </p:cNvPr>
          <p:cNvSpPr/>
          <p:nvPr/>
        </p:nvSpPr>
        <p:spPr>
          <a:xfrm>
            <a:off x="5715000" y="199339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2F5F7"/>
                </a:solidFill>
              </a:rPr>
              <a:t>Sem. 1–2</a:t>
            </a:r>
            <a:endParaRPr lang="en-US" sz="850" dirty="0"/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B13345BE-56CB-609F-B3A8-90D4B93E34E1}"/>
              </a:ext>
            </a:extLst>
          </p:cNvPr>
          <p:cNvSpPr/>
          <p:nvPr/>
        </p:nvSpPr>
        <p:spPr>
          <a:xfrm>
            <a:off x="7178040" y="1993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2F5F7"/>
                </a:solidFill>
              </a:rPr>
              <a:t>Visión, problema y alcance</a:t>
            </a:r>
            <a:endParaRPr lang="en-US" sz="850" dirty="0"/>
          </a:p>
        </p:txBody>
      </p:sp>
      <p:sp>
        <p:nvSpPr>
          <p:cNvPr id="33" name="Shape 17">
            <a:extLst>
              <a:ext uri="{FF2B5EF4-FFF2-40B4-BE49-F238E27FC236}">
                <a16:creationId xmlns:a16="http://schemas.microsoft.com/office/drawing/2014/main" id="{40822E05-B0C6-65F0-1B97-CB31BF365117}"/>
              </a:ext>
            </a:extLst>
          </p:cNvPr>
          <p:cNvSpPr/>
          <p:nvPr/>
        </p:nvSpPr>
        <p:spPr>
          <a:xfrm>
            <a:off x="786384" y="2340864"/>
            <a:ext cx="10643616" cy="356616"/>
          </a:xfrm>
          <a:prstGeom prst="rect">
            <a:avLst/>
          </a:prstGeom>
          <a:solidFill>
            <a:srgbClr val="202A35"/>
          </a:solidFill>
          <a:ln w="3810">
            <a:solidFill>
              <a:srgbClr val="3A465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18">
            <a:extLst>
              <a:ext uri="{FF2B5EF4-FFF2-40B4-BE49-F238E27FC236}">
                <a16:creationId xmlns:a16="http://schemas.microsoft.com/office/drawing/2014/main" id="{D0E23E7D-743B-8D51-B456-C46302317EAE}"/>
              </a:ext>
            </a:extLst>
          </p:cNvPr>
          <p:cNvSpPr/>
          <p:nvPr/>
        </p:nvSpPr>
        <p:spPr>
          <a:xfrm>
            <a:off x="868680" y="24323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2F5F7"/>
                </a:solidFill>
              </a:rPr>
              <a:t>2</a:t>
            </a:r>
            <a:endParaRPr lang="en-US" sz="850" dirty="0"/>
          </a:p>
        </p:txBody>
      </p:sp>
      <p:sp>
        <p:nvSpPr>
          <p:cNvPr id="37" name="Text 19">
            <a:extLst>
              <a:ext uri="{FF2B5EF4-FFF2-40B4-BE49-F238E27FC236}">
                <a16:creationId xmlns:a16="http://schemas.microsoft.com/office/drawing/2014/main" id="{5DB91C45-80F0-9205-1D00-144AA50C256A}"/>
              </a:ext>
            </a:extLst>
          </p:cNvPr>
          <p:cNvSpPr/>
          <p:nvPr/>
        </p:nvSpPr>
        <p:spPr>
          <a:xfrm>
            <a:off x="1417320" y="243230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2F5F7"/>
                </a:solidFill>
              </a:rPr>
              <a:t>Requerimientos y planificación</a:t>
            </a:r>
            <a:endParaRPr lang="en-US" sz="850" dirty="0"/>
          </a:p>
        </p:txBody>
      </p:sp>
      <p:sp>
        <p:nvSpPr>
          <p:cNvPr id="39" name="Text 20">
            <a:extLst>
              <a:ext uri="{FF2B5EF4-FFF2-40B4-BE49-F238E27FC236}">
                <a16:creationId xmlns:a16="http://schemas.microsoft.com/office/drawing/2014/main" id="{04EBF557-9506-D672-8433-D4FB8FAFD518}"/>
              </a:ext>
            </a:extLst>
          </p:cNvPr>
          <p:cNvSpPr/>
          <p:nvPr/>
        </p:nvSpPr>
        <p:spPr>
          <a:xfrm>
            <a:off x="5715000" y="243230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2F5F7"/>
                </a:solidFill>
              </a:rPr>
              <a:t>Sem. 2–4</a:t>
            </a:r>
            <a:endParaRPr lang="en-US" sz="850" dirty="0"/>
          </a:p>
        </p:txBody>
      </p:sp>
      <p:sp>
        <p:nvSpPr>
          <p:cNvPr id="41" name="Text 21">
            <a:extLst>
              <a:ext uri="{FF2B5EF4-FFF2-40B4-BE49-F238E27FC236}">
                <a16:creationId xmlns:a16="http://schemas.microsoft.com/office/drawing/2014/main" id="{B086C8F7-B084-0E6B-5595-482F143C3E24}"/>
              </a:ext>
            </a:extLst>
          </p:cNvPr>
          <p:cNvSpPr/>
          <p:nvPr/>
        </p:nvSpPr>
        <p:spPr>
          <a:xfrm>
            <a:off x="7178040" y="24323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2F5F7"/>
                </a:solidFill>
              </a:rPr>
              <a:t>ERS, casos de uso y backlog</a:t>
            </a:r>
            <a:endParaRPr lang="en-US" sz="850" dirty="0"/>
          </a:p>
        </p:txBody>
      </p:sp>
      <p:sp>
        <p:nvSpPr>
          <p:cNvPr id="43" name="Shape 22">
            <a:extLst>
              <a:ext uri="{FF2B5EF4-FFF2-40B4-BE49-F238E27FC236}">
                <a16:creationId xmlns:a16="http://schemas.microsoft.com/office/drawing/2014/main" id="{C8526A92-62BA-871C-EADA-7EF57741F21C}"/>
              </a:ext>
            </a:extLst>
          </p:cNvPr>
          <p:cNvSpPr/>
          <p:nvPr/>
        </p:nvSpPr>
        <p:spPr>
          <a:xfrm>
            <a:off x="786384" y="2779776"/>
            <a:ext cx="10643616" cy="356616"/>
          </a:xfrm>
          <a:prstGeom prst="rect">
            <a:avLst/>
          </a:prstGeom>
          <a:solidFill>
            <a:srgbClr val="26313D"/>
          </a:solidFill>
          <a:ln w="3810">
            <a:solidFill>
              <a:srgbClr val="3A465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5" name="Text 23">
            <a:extLst>
              <a:ext uri="{FF2B5EF4-FFF2-40B4-BE49-F238E27FC236}">
                <a16:creationId xmlns:a16="http://schemas.microsoft.com/office/drawing/2014/main" id="{FC2BF40F-4D0C-CB00-CC16-D6C31DDA6EB6}"/>
              </a:ext>
            </a:extLst>
          </p:cNvPr>
          <p:cNvSpPr/>
          <p:nvPr/>
        </p:nvSpPr>
        <p:spPr>
          <a:xfrm>
            <a:off x="868680" y="28712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2F5F7"/>
                </a:solidFill>
              </a:rPr>
              <a:t>3</a:t>
            </a:r>
            <a:endParaRPr lang="en-US" sz="85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04701D36-497A-B972-BB96-37525765246E}"/>
              </a:ext>
            </a:extLst>
          </p:cNvPr>
          <p:cNvSpPr/>
          <p:nvPr/>
        </p:nvSpPr>
        <p:spPr>
          <a:xfrm>
            <a:off x="1417320" y="287121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2F5F7"/>
                </a:solidFill>
              </a:rPr>
              <a:t>UX/UI y diseño técnico</a:t>
            </a:r>
            <a:endParaRPr lang="en-US" sz="850" dirty="0"/>
          </a:p>
        </p:txBody>
      </p:sp>
      <p:sp>
        <p:nvSpPr>
          <p:cNvPr id="49" name="Text 25">
            <a:extLst>
              <a:ext uri="{FF2B5EF4-FFF2-40B4-BE49-F238E27FC236}">
                <a16:creationId xmlns:a16="http://schemas.microsoft.com/office/drawing/2014/main" id="{BF5A12B4-BF9B-C02F-022D-33C46B99DD0A}"/>
              </a:ext>
            </a:extLst>
          </p:cNvPr>
          <p:cNvSpPr/>
          <p:nvPr/>
        </p:nvSpPr>
        <p:spPr>
          <a:xfrm>
            <a:off x="5715000" y="287121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2F5F7"/>
                </a:solidFill>
              </a:rPr>
              <a:t>Sem. 4–6</a:t>
            </a:r>
            <a:endParaRPr lang="en-US" sz="850" dirty="0"/>
          </a:p>
        </p:txBody>
      </p:sp>
      <p:sp>
        <p:nvSpPr>
          <p:cNvPr id="51" name="Text 26">
            <a:extLst>
              <a:ext uri="{FF2B5EF4-FFF2-40B4-BE49-F238E27FC236}">
                <a16:creationId xmlns:a16="http://schemas.microsoft.com/office/drawing/2014/main" id="{259FCBAB-3612-7680-EC22-5C88818D45C1}"/>
              </a:ext>
            </a:extLst>
          </p:cNvPr>
          <p:cNvSpPr/>
          <p:nvPr/>
        </p:nvSpPr>
        <p:spPr>
          <a:xfrm>
            <a:off x="7178040" y="287121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2F5F7"/>
                </a:solidFill>
              </a:rPr>
              <a:t>Mockups, arquitectura y modelo de datos</a:t>
            </a:r>
            <a:endParaRPr lang="en-US" sz="850" dirty="0"/>
          </a:p>
        </p:txBody>
      </p:sp>
      <p:sp>
        <p:nvSpPr>
          <p:cNvPr id="53" name="Shape 27">
            <a:extLst>
              <a:ext uri="{FF2B5EF4-FFF2-40B4-BE49-F238E27FC236}">
                <a16:creationId xmlns:a16="http://schemas.microsoft.com/office/drawing/2014/main" id="{00816135-A05A-7E80-C1B7-D01CEC20B550}"/>
              </a:ext>
            </a:extLst>
          </p:cNvPr>
          <p:cNvSpPr/>
          <p:nvPr/>
        </p:nvSpPr>
        <p:spPr>
          <a:xfrm>
            <a:off x="786384" y="3218688"/>
            <a:ext cx="10643616" cy="356616"/>
          </a:xfrm>
          <a:prstGeom prst="rect">
            <a:avLst/>
          </a:prstGeom>
          <a:solidFill>
            <a:srgbClr val="202A35"/>
          </a:solidFill>
          <a:ln w="3810">
            <a:solidFill>
              <a:srgbClr val="3A465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5" name="Text 28">
            <a:extLst>
              <a:ext uri="{FF2B5EF4-FFF2-40B4-BE49-F238E27FC236}">
                <a16:creationId xmlns:a16="http://schemas.microsoft.com/office/drawing/2014/main" id="{A02D8486-36AE-122D-F900-18083F4BBA63}"/>
              </a:ext>
            </a:extLst>
          </p:cNvPr>
          <p:cNvSpPr/>
          <p:nvPr/>
        </p:nvSpPr>
        <p:spPr>
          <a:xfrm>
            <a:off x="868680" y="33101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2F5F7"/>
                </a:solidFill>
              </a:rPr>
              <a:t>4</a:t>
            </a:r>
            <a:endParaRPr lang="en-US" sz="850" dirty="0"/>
          </a:p>
        </p:txBody>
      </p:sp>
      <p:sp>
        <p:nvSpPr>
          <p:cNvPr id="57" name="Text 29">
            <a:extLst>
              <a:ext uri="{FF2B5EF4-FFF2-40B4-BE49-F238E27FC236}">
                <a16:creationId xmlns:a16="http://schemas.microsoft.com/office/drawing/2014/main" id="{7B468003-C64C-AF56-7155-05C98E60CEEE}"/>
              </a:ext>
            </a:extLst>
          </p:cNvPr>
          <p:cNvSpPr/>
          <p:nvPr/>
        </p:nvSpPr>
        <p:spPr>
          <a:xfrm>
            <a:off x="1417320" y="33101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2F5F7"/>
                </a:solidFill>
              </a:rPr>
              <a:t>Desarrollo base</a:t>
            </a:r>
            <a:endParaRPr lang="en-US" sz="850" dirty="0"/>
          </a:p>
        </p:txBody>
      </p:sp>
      <p:sp>
        <p:nvSpPr>
          <p:cNvPr id="59" name="Text 30">
            <a:extLst>
              <a:ext uri="{FF2B5EF4-FFF2-40B4-BE49-F238E27FC236}">
                <a16:creationId xmlns:a16="http://schemas.microsoft.com/office/drawing/2014/main" id="{586B0178-F8BA-A43D-0B5A-5021EDA304D9}"/>
              </a:ext>
            </a:extLst>
          </p:cNvPr>
          <p:cNvSpPr/>
          <p:nvPr/>
        </p:nvSpPr>
        <p:spPr>
          <a:xfrm>
            <a:off x="5715000" y="33101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2F5F7"/>
                </a:solidFill>
              </a:rPr>
              <a:t>Sem. 6–9</a:t>
            </a:r>
            <a:endParaRPr lang="en-US" sz="850" dirty="0"/>
          </a:p>
        </p:txBody>
      </p:sp>
      <p:sp>
        <p:nvSpPr>
          <p:cNvPr id="61" name="Text 31">
            <a:extLst>
              <a:ext uri="{FF2B5EF4-FFF2-40B4-BE49-F238E27FC236}">
                <a16:creationId xmlns:a16="http://schemas.microsoft.com/office/drawing/2014/main" id="{5BF9DE32-9B59-3AB0-3028-ED32BAB23CB6}"/>
              </a:ext>
            </a:extLst>
          </p:cNvPr>
          <p:cNvSpPr/>
          <p:nvPr/>
        </p:nvSpPr>
        <p:spPr>
          <a:xfrm>
            <a:off x="7178040" y="33101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2F5F7"/>
                </a:solidFill>
              </a:rPr>
              <a:t>Auth, usuarios, técnicos y categorías</a:t>
            </a:r>
            <a:endParaRPr lang="en-US" sz="850" dirty="0"/>
          </a:p>
        </p:txBody>
      </p:sp>
      <p:sp>
        <p:nvSpPr>
          <p:cNvPr id="63" name="Shape 32">
            <a:extLst>
              <a:ext uri="{FF2B5EF4-FFF2-40B4-BE49-F238E27FC236}">
                <a16:creationId xmlns:a16="http://schemas.microsoft.com/office/drawing/2014/main" id="{C8FE83AC-4B9B-F076-94A1-4D74C6EE9EC1}"/>
              </a:ext>
            </a:extLst>
          </p:cNvPr>
          <p:cNvSpPr/>
          <p:nvPr/>
        </p:nvSpPr>
        <p:spPr>
          <a:xfrm>
            <a:off x="786384" y="3657600"/>
            <a:ext cx="10643616" cy="356616"/>
          </a:xfrm>
          <a:prstGeom prst="rect">
            <a:avLst/>
          </a:prstGeom>
          <a:solidFill>
            <a:srgbClr val="26313D"/>
          </a:solidFill>
          <a:ln w="3810">
            <a:solidFill>
              <a:srgbClr val="3A465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3" name="Text 33">
            <a:extLst>
              <a:ext uri="{FF2B5EF4-FFF2-40B4-BE49-F238E27FC236}">
                <a16:creationId xmlns:a16="http://schemas.microsoft.com/office/drawing/2014/main" id="{2506C329-235E-6B11-3C94-6F879B08FF91}"/>
              </a:ext>
            </a:extLst>
          </p:cNvPr>
          <p:cNvSpPr/>
          <p:nvPr/>
        </p:nvSpPr>
        <p:spPr>
          <a:xfrm>
            <a:off x="868680" y="37490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2F5F7"/>
                </a:solidFill>
              </a:rPr>
              <a:t>5</a:t>
            </a:r>
            <a:endParaRPr lang="en-US" sz="850" dirty="0"/>
          </a:p>
        </p:txBody>
      </p:sp>
      <p:sp>
        <p:nvSpPr>
          <p:cNvPr id="195" name="Text 34">
            <a:extLst>
              <a:ext uri="{FF2B5EF4-FFF2-40B4-BE49-F238E27FC236}">
                <a16:creationId xmlns:a16="http://schemas.microsoft.com/office/drawing/2014/main" id="{AD357063-38FB-B822-7D08-D674FD5D9408}"/>
              </a:ext>
            </a:extLst>
          </p:cNvPr>
          <p:cNvSpPr/>
          <p:nvPr/>
        </p:nvSpPr>
        <p:spPr>
          <a:xfrm>
            <a:off x="1417320" y="37490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2F5F7"/>
                </a:solidFill>
              </a:rPr>
              <a:t>Solicitudes y matching</a:t>
            </a:r>
            <a:endParaRPr lang="en-US" sz="850" dirty="0"/>
          </a:p>
        </p:txBody>
      </p:sp>
      <p:sp>
        <p:nvSpPr>
          <p:cNvPr id="197" name="Text 35">
            <a:extLst>
              <a:ext uri="{FF2B5EF4-FFF2-40B4-BE49-F238E27FC236}">
                <a16:creationId xmlns:a16="http://schemas.microsoft.com/office/drawing/2014/main" id="{B2CC3A13-4E5B-FA80-BFE0-4A370C86103E}"/>
              </a:ext>
            </a:extLst>
          </p:cNvPr>
          <p:cNvSpPr/>
          <p:nvPr/>
        </p:nvSpPr>
        <p:spPr>
          <a:xfrm>
            <a:off x="5715000" y="37490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2F5F7"/>
                </a:solidFill>
              </a:rPr>
              <a:t>Sem. 9–12</a:t>
            </a:r>
            <a:endParaRPr lang="en-US" sz="850" dirty="0"/>
          </a:p>
        </p:txBody>
      </p:sp>
      <p:sp>
        <p:nvSpPr>
          <p:cNvPr id="199" name="Text 36">
            <a:extLst>
              <a:ext uri="{FF2B5EF4-FFF2-40B4-BE49-F238E27FC236}">
                <a16:creationId xmlns:a16="http://schemas.microsoft.com/office/drawing/2014/main" id="{BDF79902-B661-31CE-96FD-ECE42055D306}"/>
              </a:ext>
            </a:extLst>
          </p:cNvPr>
          <p:cNvSpPr/>
          <p:nvPr/>
        </p:nvSpPr>
        <p:spPr>
          <a:xfrm>
            <a:off x="7178040" y="37490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2F5F7"/>
                </a:solidFill>
              </a:rPr>
              <a:t>Flujo central funcionando</a:t>
            </a:r>
            <a:endParaRPr lang="en-US" sz="850" dirty="0"/>
          </a:p>
        </p:txBody>
      </p:sp>
      <p:sp>
        <p:nvSpPr>
          <p:cNvPr id="201" name="Shape 37">
            <a:extLst>
              <a:ext uri="{FF2B5EF4-FFF2-40B4-BE49-F238E27FC236}">
                <a16:creationId xmlns:a16="http://schemas.microsoft.com/office/drawing/2014/main" id="{4FDDC40D-03EF-DEC5-A2E4-56C6AAC03A24}"/>
              </a:ext>
            </a:extLst>
          </p:cNvPr>
          <p:cNvSpPr/>
          <p:nvPr/>
        </p:nvSpPr>
        <p:spPr>
          <a:xfrm>
            <a:off x="786384" y="4096512"/>
            <a:ext cx="10643616" cy="356616"/>
          </a:xfrm>
          <a:prstGeom prst="rect">
            <a:avLst/>
          </a:prstGeom>
          <a:solidFill>
            <a:srgbClr val="202A35"/>
          </a:solidFill>
          <a:ln w="3810">
            <a:solidFill>
              <a:srgbClr val="3A465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3" name="Text 38">
            <a:extLst>
              <a:ext uri="{FF2B5EF4-FFF2-40B4-BE49-F238E27FC236}">
                <a16:creationId xmlns:a16="http://schemas.microsoft.com/office/drawing/2014/main" id="{D69D91FD-6589-5BD0-F473-7B48A58D3F40}"/>
              </a:ext>
            </a:extLst>
          </p:cNvPr>
          <p:cNvSpPr/>
          <p:nvPr/>
        </p:nvSpPr>
        <p:spPr>
          <a:xfrm>
            <a:off x="868680" y="4187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2F5F7"/>
                </a:solidFill>
              </a:rPr>
              <a:t>6</a:t>
            </a:r>
            <a:endParaRPr lang="en-US" sz="850" dirty="0"/>
          </a:p>
        </p:txBody>
      </p:sp>
      <p:sp>
        <p:nvSpPr>
          <p:cNvPr id="205" name="Text 39">
            <a:extLst>
              <a:ext uri="{FF2B5EF4-FFF2-40B4-BE49-F238E27FC236}">
                <a16:creationId xmlns:a16="http://schemas.microsoft.com/office/drawing/2014/main" id="{56FAACF8-6C73-957B-F888-342E612FC594}"/>
              </a:ext>
            </a:extLst>
          </p:cNvPr>
          <p:cNvSpPr/>
          <p:nvPr/>
        </p:nvSpPr>
        <p:spPr>
          <a:xfrm>
            <a:off x="1417320" y="4187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2F5F7"/>
                </a:solidFill>
              </a:rPr>
              <a:t>Servicio integral</a:t>
            </a:r>
            <a:endParaRPr lang="en-US" sz="850" dirty="0"/>
          </a:p>
        </p:txBody>
      </p:sp>
      <p:sp>
        <p:nvSpPr>
          <p:cNvPr id="207" name="Text 40">
            <a:extLst>
              <a:ext uri="{FF2B5EF4-FFF2-40B4-BE49-F238E27FC236}">
                <a16:creationId xmlns:a16="http://schemas.microsoft.com/office/drawing/2014/main" id="{D5BBF315-9F6C-366F-C304-E4A7AF0748ED}"/>
              </a:ext>
            </a:extLst>
          </p:cNvPr>
          <p:cNvSpPr/>
          <p:nvPr/>
        </p:nvSpPr>
        <p:spPr>
          <a:xfrm>
            <a:off x="5715000" y="4187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2F5F7"/>
                </a:solidFill>
              </a:rPr>
              <a:t>Sem. 11–14</a:t>
            </a:r>
            <a:endParaRPr lang="en-US" sz="850" dirty="0"/>
          </a:p>
        </p:txBody>
      </p:sp>
      <p:sp>
        <p:nvSpPr>
          <p:cNvPr id="211" name="Text 41">
            <a:extLst>
              <a:ext uri="{FF2B5EF4-FFF2-40B4-BE49-F238E27FC236}">
                <a16:creationId xmlns:a16="http://schemas.microsoft.com/office/drawing/2014/main" id="{9868DF37-A9A8-BE6D-C3B5-CF94A8693E90}"/>
              </a:ext>
            </a:extLst>
          </p:cNvPr>
          <p:cNvSpPr/>
          <p:nvPr/>
        </p:nvSpPr>
        <p:spPr>
          <a:xfrm>
            <a:off x="7178040" y="4187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2F5F7"/>
                </a:solidFill>
              </a:rPr>
              <a:t>Estados, reputación y notificaciones</a:t>
            </a:r>
            <a:endParaRPr lang="en-US" sz="850" dirty="0"/>
          </a:p>
        </p:txBody>
      </p:sp>
      <p:sp>
        <p:nvSpPr>
          <p:cNvPr id="213" name="Shape 42">
            <a:extLst>
              <a:ext uri="{FF2B5EF4-FFF2-40B4-BE49-F238E27FC236}">
                <a16:creationId xmlns:a16="http://schemas.microsoft.com/office/drawing/2014/main" id="{D032F35A-4A8C-1E74-5E97-A2AE9B28B7C5}"/>
              </a:ext>
            </a:extLst>
          </p:cNvPr>
          <p:cNvSpPr/>
          <p:nvPr/>
        </p:nvSpPr>
        <p:spPr>
          <a:xfrm>
            <a:off x="786384" y="4535424"/>
            <a:ext cx="10643616" cy="356616"/>
          </a:xfrm>
          <a:prstGeom prst="rect">
            <a:avLst/>
          </a:prstGeom>
          <a:solidFill>
            <a:srgbClr val="26313D"/>
          </a:solidFill>
          <a:ln w="3810">
            <a:solidFill>
              <a:srgbClr val="3A465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5" name="Text 43">
            <a:extLst>
              <a:ext uri="{FF2B5EF4-FFF2-40B4-BE49-F238E27FC236}">
                <a16:creationId xmlns:a16="http://schemas.microsoft.com/office/drawing/2014/main" id="{6F919B7E-DF53-FE64-15CF-92DABED72EBD}"/>
              </a:ext>
            </a:extLst>
          </p:cNvPr>
          <p:cNvSpPr/>
          <p:nvPr/>
        </p:nvSpPr>
        <p:spPr>
          <a:xfrm>
            <a:off x="868680" y="462686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2F5F7"/>
                </a:solidFill>
              </a:rPr>
              <a:t>7</a:t>
            </a:r>
            <a:endParaRPr lang="en-US" sz="850" dirty="0"/>
          </a:p>
        </p:txBody>
      </p:sp>
      <p:sp>
        <p:nvSpPr>
          <p:cNvPr id="217" name="Text 44">
            <a:extLst>
              <a:ext uri="{FF2B5EF4-FFF2-40B4-BE49-F238E27FC236}">
                <a16:creationId xmlns:a16="http://schemas.microsoft.com/office/drawing/2014/main" id="{BC30A038-2B42-2079-7D8F-9F7D19DE6471}"/>
              </a:ext>
            </a:extLst>
          </p:cNvPr>
          <p:cNvSpPr/>
          <p:nvPr/>
        </p:nvSpPr>
        <p:spPr>
          <a:xfrm>
            <a:off x="1417320" y="462686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2F5F7"/>
                </a:solidFill>
              </a:rPr>
              <a:t>BI y minería de datos</a:t>
            </a:r>
            <a:endParaRPr lang="en-US" sz="850" dirty="0"/>
          </a:p>
        </p:txBody>
      </p:sp>
      <p:sp>
        <p:nvSpPr>
          <p:cNvPr id="219" name="Text 45">
            <a:extLst>
              <a:ext uri="{FF2B5EF4-FFF2-40B4-BE49-F238E27FC236}">
                <a16:creationId xmlns:a16="http://schemas.microsoft.com/office/drawing/2014/main" id="{5E5D0863-AED9-FD39-5EB2-064DFC405A9A}"/>
              </a:ext>
            </a:extLst>
          </p:cNvPr>
          <p:cNvSpPr/>
          <p:nvPr/>
        </p:nvSpPr>
        <p:spPr>
          <a:xfrm>
            <a:off x="5715000" y="462686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2F5F7"/>
                </a:solidFill>
              </a:rPr>
              <a:t>Sem. 12–15</a:t>
            </a:r>
            <a:endParaRPr lang="en-US" sz="850" dirty="0"/>
          </a:p>
        </p:txBody>
      </p:sp>
      <p:sp>
        <p:nvSpPr>
          <p:cNvPr id="221" name="Text 46">
            <a:extLst>
              <a:ext uri="{FF2B5EF4-FFF2-40B4-BE49-F238E27FC236}">
                <a16:creationId xmlns:a16="http://schemas.microsoft.com/office/drawing/2014/main" id="{39AD8F84-672B-9895-4439-E19138987BFE}"/>
              </a:ext>
            </a:extLst>
          </p:cNvPr>
          <p:cNvSpPr/>
          <p:nvPr/>
        </p:nvSpPr>
        <p:spPr>
          <a:xfrm>
            <a:off x="7178040" y="462686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2F5F7"/>
                </a:solidFill>
              </a:rPr>
              <a:t>KPI, ETL y dashboard</a:t>
            </a:r>
            <a:endParaRPr lang="en-US" sz="850" dirty="0"/>
          </a:p>
        </p:txBody>
      </p:sp>
      <p:sp>
        <p:nvSpPr>
          <p:cNvPr id="223" name="Shape 47">
            <a:extLst>
              <a:ext uri="{FF2B5EF4-FFF2-40B4-BE49-F238E27FC236}">
                <a16:creationId xmlns:a16="http://schemas.microsoft.com/office/drawing/2014/main" id="{853B2FC2-0149-4917-20D6-F4A052FB0BBF}"/>
              </a:ext>
            </a:extLst>
          </p:cNvPr>
          <p:cNvSpPr/>
          <p:nvPr/>
        </p:nvSpPr>
        <p:spPr>
          <a:xfrm>
            <a:off x="786384" y="4974336"/>
            <a:ext cx="10643616" cy="356616"/>
          </a:xfrm>
          <a:prstGeom prst="rect">
            <a:avLst/>
          </a:prstGeom>
          <a:solidFill>
            <a:srgbClr val="202A35"/>
          </a:solidFill>
          <a:ln w="3810">
            <a:solidFill>
              <a:srgbClr val="3A465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5" name="Text 48">
            <a:extLst>
              <a:ext uri="{FF2B5EF4-FFF2-40B4-BE49-F238E27FC236}">
                <a16:creationId xmlns:a16="http://schemas.microsoft.com/office/drawing/2014/main" id="{81CD67DB-16DA-447F-EC1D-4CF9BC16F149}"/>
              </a:ext>
            </a:extLst>
          </p:cNvPr>
          <p:cNvSpPr/>
          <p:nvPr/>
        </p:nvSpPr>
        <p:spPr>
          <a:xfrm>
            <a:off x="868680" y="506577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2F5F7"/>
                </a:solidFill>
              </a:rPr>
              <a:t>8</a:t>
            </a:r>
            <a:endParaRPr lang="en-US" sz="850" dirty="0"/>
          </a:p>
        </p:txBody>
      </p:sp>
      <p:sp>
        <p:nvSpPr>
          <p:cNvPr id="227" name="Text 49">
            <a:extLst>
              <a:ext uri="{FF2B5EF4-FFF2-40B4-BE49-F238E27FC236}">
                <a16:creationId xmlns:a16="http://schemas.microsoft.com/office/drawing/2014/main" id="{386161EE-EEB1-C185-12EB-231ABEB85502}"/>
              </a:ext>
            </a:extLst>
          </p:cNvPr>
          <p:cNvSpPr/>
          <p:nvPr/>
        </p:nvSpPr>
        <p:spPr>
          <a:xfrm>
            <a:off x="1417320" y="506577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2F5F7"/>
                </a:solidFill>
              </a:rPr>
              <a:t>Integración y cierre</a:t>
            </a:r>
            <a:endParaRPr lang="en-US" sz="850" dirty="0"/>
          </a:p>
        </p:txBody>
      </p:sp>
      <p:sp>
        <p:nvSpPr>
          <p:cNvPr id="229" name="Text 50">
            <a:extLst>
              <a:ext uri="{FF2B5EF4-FFF2-40B4-BE49-F238E27FC236}">
                <a16:creationId xmlns:a16="http://schemas.microsoft.com/office/drawing/2014/main" id="{154EA899-46B9-A05C-0D3B-22FEA6E248AF}"/>
              </a:ext>
            </a:extLst>
          </p:cNvPr>
          <p:cNvSpPr/>
          <p:nvPr/>
        </p:nvSpPr>
        <p:spPr>
          <a:xfrm>
            <a:off x="5715000" y="506577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2F5F7"/>
                </a:solidFill>
              </a:rPr>
              <a:t>Sem. 14–18</a:t>
            </a:r>
            <a:endParaRPr lang="en-US" sz="850" dirty="0"/>
          </a:p>
        </p:txBody>
      </p:sp>
      <p:sp>
        <p:nvSpPr>
          <p:cNvPr id="231" name="Text 51">
            <a:extLst>
              <a:ext uri="{FF2B5EF4-FFF2-40B4-BE49-F238E27FC236}">
                <a16:creationId xmlns:a16="http://schemas.microsoft.com/office/drawing/2014/main" id="{2503371A-4F8C-257E-023D-E66247EAE4A3}"/>
              </a:ext>
            </a:extLst>
          </p:cNvPr>
          <p:cNvSpPr/>
          <p:nvPr/>
        </p:nvSpPr>
        <p:spPr>
          <a:xfrm>
            <a:off x="7178040" y="506577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2F5F7"/>
                </a:solidFill>
              </a:rPr>
              <a:t>Pruebas, documentación y defensa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2478BAC6-F150-CBA8-D0DE-DA5FAD2723DE}"/>
              </a:ext>
            </a:extLst>
          </p:cNvPr>
          <p:cNvSpPr/>
          <p:nvPr/>
        </p:nvSpPr>
        <p:spPr>
          <a:xfrm>
            <a:off x="1389888" y="758952"/>
            <a:ext cx="9646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Costos Estimados</a:t>
            </a:r>
            <a:endParaRPr lang="en-US" sz="25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DD33BB5-58FC-50B4-E39A-DA496EFDA2EF}"/>
              </a:ext>
            </a:extLst>
          </p:cNvPr>
          <p:cNvSpPr/>
          <p:nvPr/>
        </p:nvSpPr>
        <p:spPr>
          <a:xfrm>
            <a:off x="502920" y="6556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909D"/>
                </a:solidFill>
              </a:rPr>
              <a:t>Fase 1 · Capstone · Service Go</a:t>
            </a:r>
            <a:endParaRPr lang="en-US" sz="75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118E6316-0EED-968B-1B15-BBA5A3DC6616}"/>
              </a:ext>
            </a:extLst>
          </p:cNvPr>
          <p:cNvSpPr/>
          <p:nvPr/>
        </p:nvSpPr>
        <p:spPr>
          <a:xfrm>
            <a:off x="11448288" y="655624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3909D"/>
                </a:solidFill>
              </a:rPr>
              <a:t>14</a:t>
            </a:r>
            <a:endParaRPr lang="en-US" sz="750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F41105E7-39B1-9087-8EA8-BB9C7EC9F111}"/>
              </a:ext>
            </a:extLst>
          </p:cNvPr>
          <p:cNvSpPr/>
          <p:nvPr/>
        </p:nvSpPr>
        <p:spPr>
          <a:xfrm>
            <a:off x="1389888" y="1691640"/>
            <a:ext cx="9326880" cy="484632"/>
          </a:xfrm>
          <a:prstGeom prst="roundRect">
            <a:avLst>
              <a:gd name="adj" fmla="val 15094"/>
            </a:avLst>
          </a:prstGeom>
          <a:solidFill>
            <a:srgbClr val="2C3744">
              <a:alpha val="96000"/>
            </a:srgbClr>
          </a:solidFill>
          <a:ln w="12700">
            <a:solidFill>
              <a:srgbClr val="56627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525FCAA0-0728-C8A2-710F-7B379E4AC297}"/>
              </a:ext>
            </a:extLst>
          </p:cNvPr>
          <p:cNvSpPr/>
          <p:nvPr/>
        </p:nvSpPr>
        <p:spPr>
          <a:xfrm>
            <a:off x="1673352" y="1810512"/>
            <a:ext cx="8732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2F5F7"/>
                </a:solidFill>
              </a:rPr>
              <a:t>Infraestructura: $0 inicial mediante Firebase Spark Plan y herramientas gratuitas.</a:t>
            </a:r>
            <a:endParaRPr lang="en-US" sz="1800" dirty="0"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5BEF5AF6-E890-B23F-A0B5-8EEF7115AA99}"/>
              </a:ext>
            </a:extLst>
          </p:cNvPr>
          <p:cNvSpPr/>
          <p:nvPr/>
        </p:nvSpPr>
        <p:spPr>
          <a:xfrm>
            <a:off x="1389888" y="2441448"/>
            <a:ext cx="9326880" cy="484632"/>
          </a:xfrm>
          <a:prstGeom prst="roundRect">
            <a:avLst>
              <a:gd name="adj" fmla="val 15094"/>
            </a:avLst>
          </a:prstGeom>
          <a:solidFill>
            <a:srgbClr val="2C3744">
              <a:alpha val="96000"/>
            </a:srgbClr>
          </a:solidFill>
          <a:ln w="12700">
            <a:solidFill>
              <a:srgbClr val="56627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CE83AEF3-0ED7-95D9-BB79-4FD8ACDDA79F}"/>
              </a:ext>
            </a:extLst>
          </p:cNvPr>
          <p:cNvSpPr/>
          <p:nvPr/>
        </p:nvSpPr>
        <p:spPr>
          <a:xfrm>
            <a:off x="1673352" y="2560320"/>
            <a:ext cx="8732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2F5F7"/>
                </a:solidFill>
              </a:rPr>
              <a:t>Software: $0 por uso de frameworks open source y licencias académicas Duoc UC.</a:t>
            </a:r>
            <a:endParaRPr lang="en-US" sz="1800" dirty="0"/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6A2935C5-9F1A-9850-3102-3B7CC099F08E}"/>
              </a:ext>
            </a:extLst>
          </p:cNvPr>
          <p:cNvSpPr/>
          <p:nvPr/>
        </p:nvSpPr>
        <p:spPr>
          <a:xfrm>
            <a:off x="1389888" y="3191256"/>
            <a:ext cx="9326880" cy="484632"/>
          </a:xfrm>
          <a:prstGeom prst="roundRect">
            <a:avLst>
              <a:gd name="adj" fmla="val 15094"/>
            </a:avLst>
          </a:prstGeom>
          <a:solidFill>
            <a:srgbClr val="2C3744">
              <a:alpha val="96000"/>
            </a:srgbClr>
          </a:solidFill>
          <a:ln w="12700">
            <a:solidFill>
              <a:srgbClr val="56627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AE8D46B8-9589-4AE3-4A0A-4A4C13503A0A}"/>
              </a:ext>
            </a:extLst>
          </p:cNvPr>
          <p:cNvSpPr/>
          <p:nvPr/>
        </p:nvSpPr>
        <p:spPr>
          <a:xfrm>
            <a:off x="1673352" y="3310128"/>
            <a:ext cx="8732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2F5F7"/>
                </a:solidFill>
              </a:rPr>
              <a:t>Operación: horas académicas del equipo durante el desarrollo del Capstone.</a:t>
            </a:r>
            <a:endParaRPr lang="en-US" sz="18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307AC9-EF4B-11A9-2F72-53557E5ED32B}"/>
              </a:ext>
            </a:extLst>
          </p:cNvPr>
          <p:cNvSpPr/>
          <p:nvPr/>
        </p:nvSpPr>
        <p:spPr>
          <a:xfrm>
            <a:off x="1389888" y="3941064"/>
            <a:ext cx="9326880" cy="484632"/>
          </a:xfrm>
          <a:prstGeom prst="roundRect">
            <a:avLst>
              <a:gd name="adj" fmla="val 15094"/>
            </a:avLst>
          </a:prstGeom>
          <a:solidFill>
            <a:srgbClr val="2C3744">
              <a:alpha val="96000"/>
            </a:srgbClr>
          </a:solidFill>
          <a:ln w="12700">
            <a:solidFill>
              <a:srgbClr val="56627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B89CCFAA-0AF6-2171-F255-CD7B9E5E1045}"/>
              </a:ext>
            </a:extLst>
          </p:cNvPr>
          <p:cNvSpPr/>
          <p:nvPr/>
        </p:nvSpPr>
        <p:spPr>
          <a:xfrm>
            <a:off x="1673352" y="4059936"/>
            <a:ext cx="8732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2F5F7"/>
                </a:solidFill>
              </a:rPr>
              <a:t>Pagos reales: fuera del MVP; se documenta integración futura con pasarela.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3048dc87-43f0-4100-9acb-ae1971c79395}" enabled="0" method="" siteId="{3048dc87-43f0-4100-9acb-ae1971c7939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734</Words>
  <Application>Microsoft Office PowerPoint</Application>
  <PresentationFormat>Widescreen</PresentationFormat>
  <Paragraphs>118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Focus</vt:lpstr>
      <vt:lpstr>PowerPoint Presentation</vt:lpstr>
      <vt:lpstr>Problemática a Resolver</vt:lpstr>
      <vt:lpstr>Solución</vt:lpstr>
      <vt:lpstr>Objetivo del Proyecto </vt:lpstr>
      <vt:lpstr>Alcances  </vt:lpstr>
      <vt:lpstr>Lista de Requerimientos </vt:lpstr>
      <vt:lpstr>Diseño del Sistema  </vt:lpstr>
      <vt:lpstr>Diseño del Sistema  </vt:lpstr>
      <vt:lpstr>Diseño del Sistema  </vt:lpstr>
      <vt:lpstr>Tecnologías del Desarrollo  </vt:lpstr>
      <vt:lpstr>Responsabilidades </vt:lpstr>
      <vt:lpstr>Estimación de Riesgos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Julio Soto Pinto</dc:creator>
  <cp:lastModifiedBy>Mauro Pardo</cp:lastModifiedBy>
  <cp:revision>3</cp:revision>
  <dcterms:modified xsi:type="dcterms:W3CDTF">2026-09-04T22:44:53Z</dcterms:modified>
</cp:coreProperties>
</file>