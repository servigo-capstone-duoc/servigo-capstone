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mbria Bold" charset="1" panose="02040803050406030204"/>
      <p:regular r:id="rId25"/>
    </p:embeddedFont>
    <p:embeddedFont>
      <p:font typeface="Calibri (MS)" charset="1" panose="020F0502020204030204"/>
      <p:regular r:id="rId26"/>
    </p:embeddedFont>
    <p:embeddedFont>
      <p:font typeface="Calibri (MS) Bold" charset="1" panose="020F0702030404030204"/>
      <p:regular r:id="rId27"/>
    </p:embeddedFont>
    <p:embeddedFont>
      <p:font typeface="Calibri (MS) Italics" charset="1" panose="020F05020202040A0204"/>
      <p:regular r:id="rId42"/>
    </p:embeddedFont>
    <p:embeddedFont>
      <p:font typeface="Breathing" charset="1" panose="0200050000000000000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fonts/font42.fntdata" Type="http://schemas.openxmlformats.org/officeDocument/2006/relationships/font"/><Relationship Id="rId43" Target="notesSlides/notesSlide16.xml" Type="http://schemas.openxmlformats.org/officeDocument/2006/relationships/notesSlide"/><Relationship Id="rId44" Target="fonts/font44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0:30 min · Sugerido: Muriel.</a:t>
            </a:r>
          </a:p>
          <a:p>
            <a:r>
              <a:rPr lang="en-US"/>
              <a:t>Saludo y presentación del equipo. ServiGo: app móvil que conecta clientes con técnicos de servicios a domicilio. Hoy mostramos el avance de la Fase 2: qué ajustamos, cómo trabajamos (Scrum), las evidencias (arquitectura, datos, prototipo), el plan de pruebas y el estado del proyecto. Duración aprox. 16-17 min.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Muriel.</a:t>
            </a:r>
          </a:p>
          <a:p>
            <a:r>
              <a:rPr lang="en-US"/>
              <a:t>Problema: el mercado de servicios técnicos a domicilio en Chile es informal y con poca trazabilidad. Tres dolores: el cliente no encuentra técnicos confiables y cercanos; el técnico depende de redes informales y no ve la demanda por zona; y falta trazabilidad (seguimiento, reputación, pago controlado, evidencia). Solución: ServiGo conecta oferta y demanda con geolocalización, reputación y analítica, para 4 actores: cliente, técnico, administrador y el sistema.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Muriel.</a:t>
            </a:r>
          </a:p>
          <a:p>
            <a:r>
              <a:rPr lang="en-US"/>
              <a:t>Problema: el mercado de servicios técnicos a domicilio en Chile es informal y con poca trazabilidad. Tres dolores: el cliente no encuentra técnicos confiables y cercanos; el técnico depende de redes informales y no ve la demanda por zona; y falta trazabilidad (seguimiento, reputación, pago controlado, evidencia). Solución: ServiGo conecta oferta y demanda con geolocalización, reputación y analítica, para 4 actores: cliente, técnico, administrador y el sistema.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Muriel.</a:t>
            </a:r>
          </a:p>
          <a:p>
            <a:r>
              <a:rPr lang="en-US"/>
              <a:t>Objetivo general: app móvil inteligente que conecta clientes con técnicos mediante geolocalización, reputación, comunicación, pagos sandbox y analítica de demanda. Cuatro objetivos específicos (leer los títulos). A la derecha el alcance MVP: lo que SÍ hacemos y lo que NO. Este recorte de alcance es uno de los ajustes que veremos en la siguiente lámina.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1:30 min · Sugerido: Julio. CRITERIO DE RÚBRICA N°1 (20%).</a:t>
            </a:r>
          </a:p>
          <a:p>
            <a:r>
              <a:rPr lang="en-US"/>
              <a:t>Para cada ajuste: qué cambiamos y POR QUÉ, citando dificultades, facilitadores y retroalimentación del docente.</a:t>
            </a:r>
          </a:p>
          <a:p>
            <a:r>
              <a:rPr lang="en-US"/>
              <a:t>1) Pasamos a Scrum porque necesitábamos trazabilidad y poder adaptar el alcance sin perder evidencia.</a:t>
            </a:r>
          </a:p>
          <a:p>
            <a:r>
              <a:rPr lang="en-US"/>
              <a:t>2) Redujimos el alcance a MVP: el alcance original era muy amplio y las integraciones de pago son complejas.</a:t>
            </a:r>
          </a:p>
          <a:p>
            <a:r>
              <a:rPr lang="en-US"/>
              <a:t>3) Asignamos responsables por fortaleza para no depender de un solo integrante.</a:t>
            </a:r>
          </a:p>
          <a:p>
            <a:r>
              <a:rPr lang="en-US"/>
              <a:t>4) Rediseñamos la presentación por la retroalimentación del profesor en la Fase 1 (apagada, sin íconos, faltaba información).</a:t>
            </a:r>
          </a:p>
          <a:p>
            <a:r>
              <a:rPr lang="en-US"/>
              <a:t>&gt;&gt; ANTES DE EXPONER: completar/ajustar con la retroalimentación textual que dio el docente.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Julio. CRITERIO DE RÚBRICA N°2 (20%).</a:t>
            </a:r>
          </a:p>
          <a:p>
            <a:r>
              <a:rPr lang="en-US"/>
              <a:t>No explicar qué es Scrum: mostrar cómo lo APLICAMOS. Sprint 0 completado (gobierno ágil, cuentas, arquitectura y datos). Product Backlog con épicas, historias y criterios de aceptación. Ceremonias: planning, revisión semanal, review y retrospectiva, con minutas. DoR y DoD definidos. Cada sprint produce un incremento demostrable.</a:t>
            </a:r>
          </a:p>
          <a:p>
            <a:r>
              <a:rPr lang="en-US"/>
              <a:t>A la derecha el Scrumboard con el estado real del plan (1 hecha, 2 en curso, 2 por hacer). Si tienen el burndown real del sprint (plantilla Excel entregada), pueden mostrarlo aquí como apoyo o dejarlo en el anexo.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Julio. Evidencia del DAS.</a:t>
            </a:r>
          </a:p>
          <a:p>
            <a:r>
              <a:rPr lang="en-US"/>
              <a:t>La app Ionic + Angular se conecta a Firebase Auth (roles) y a Cloud Functions, donde vive la lógica segura. Functions usa Firestore, Storage (fotos y evidencias), FCM (notificaciones), Google Maps (cercanía) y pasarelas sandbox (Transbank / Mercado Pago). Firestore alimenta el BI y la minería de datos con Python y Power BI. A la derecha los 6 casos de uso prioritarios; actores: Cliente, Técnico, Administrador, Sistema y Pasarela de Pago.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1:00 min · Sugerido: Mauricio.</a:t>
            </a:r>
          </a:p>
          <a:p>
            <a:r>
              <a:rPr lang="en-US"/>
              <a:t>Arriba el proceso TO-BE: el cliente publica, ServiGo valida y busca técnicos cercanos, el técnico acepta y cotiza, se ejecuta con evidencia y se cierra con pago, evaluación y analítica. Abajo el proceso analítico complementario: con datos históricos, un ETL y un modelo calculamos probabilidad de demanda y recomendamos comunas al técnico.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1:00 min · Sugerido: Julio. Evidencia del modelo de datos (diccionario en curso).</a:t>
            </a:r>
          </a:p>
          <a:p>
            <a:r>
              <a:rPr lang="en-US"/>
              <a:t>A la izquierda el diagrama del modelo. Son 12 colecciones agrupadas en cuatro bloques: identidad (users, technicianProfiles, serviceCategories), operación (serviceRequests, services, notifications), interacción (chats/messages, reviews, complaints) y pagos y analítica (payments, analyticsDemand). Próximo paso: validar índices y reglas de seguridad antes de programar.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Muriel. CRITERIO DE RÚBRICA N°3 (40%): evidencias.</a:t>
            </a:r>
          </a:p>
          <a:p>
            <a:r>
              <a:rPr lang="en-US"/>
              <a:t>Mostrar el flujo del cliente con los mockups reales de baja fidelidad: 1) nueva solicitud de servicio (CU-005), 2) búsqueda y matching de técnicos cercanos (CU-006), 3) seguimiento del técnico en tiempo real (CU-008) y 4) pago del servicio (CU-011).</a:t>
            </a:r>
          </a:p>
          <a:p>
            <a:r>
              <a:rPr lang="en-US"/>
              <a:t>Destacar que el documento de mockups tiene 21 pantallas que cubren cliente, técnico y administrador: registro, perfiles, presupuesto, chat, evaluación, historial, reclamos, oportunidades para técnicos (minería de datos), panel de reportes y ayuda. Aquí mostramos las 4 del flujo principal por tiempo.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Mauricio.</a:t>
            </a:r>
          </a:p>
          <a:p>
            <a:r>
              <a:rPr lang="en-US"/>
              <a:t>Tres KPI obligatorios para el dashboard: demanda por comuna, categoría y franja; tiempo promedio de solicitud a asignación; y tasa de servicios completados, cancelados y con reclamo. Además un KPI probabilístico de minería de datos: probabilidad de alta demanda por comuna, especialidad, día y horario, para recomendar zonas a los técnicos. Abajo el stack: Ionic/Angular, Firebase, Firestore + Storage, Google Maps, pagos sandbox (Transbank / Mercado Pago) y Power BI + Python (Pandas, Scikit-learn).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1:15 min · Sugerido: Mauricio. Cubre el indicador de calidad de PRUEBAS (1.1 diseña, 1.2 aplica, 1.3 mejora).</a:t>
            </a:r>
          </a:p>
          <a:p>
            <a:r>
              <a:rPr lang="en-US"/>
              <a:t>Explicar el ciclo Diseñar → Aplicar → Mejorar. Diseñar: casos de prueba a partir de historias y criterios de aceptación. Aplicar: en cada sprint y antes del cierre (Fase 3). Mejorar: los hallazgos vuelven al Product Backlog. Luego los cuatro tipos de prueba: funcional, seguridad y datos, integración y analítica, con su criterio de éxito.</a:t>
            </a:r>
          </a:p>
          <a:p>
            <a:r>
              <a:rPr lang="en-US"/>
              <a:t>Estado: diseño en el sprint actual; ejecución completa en Fase 3.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0:45 min · Sugerido: Mauricio.</a:t>
            </a:r>
          </a:p>
          <a:p>
            <a:r>
              <a:rPr lang="en-US"/>
              <a:t>Timeline: Sprint 0 completado; estamos en la Fase 2 de arquitectura (DAS, TO-BE, diccionario y presentación); sigue el desarrollo integral (app, BD, pagos sandbox, BI/minería) y la Fase 3 con pruebas, manual, informe de cierre y defensa. De las 5 actividades del plan: 1 completada, 2 en curso y 2 por iniciar. Mencionar que la distribución de tareas busca equilibrar la carga entre los tres.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0:45 min · Sugerido: Mauricio.</a:t>
            </a:r>
          </a:p>
          <a:p>
            <a:r>
              <a:rPr lang="en-US"/>
              <a:t>Cinco riesgos con su mitigación: sobrecarga de documentación → backlog priorizado; alcance amplio → MVP estricto; dependencia técnica de un integrante → pair programming; integraciones de pago complejas → solo sandbox; falta de datos para minería → datos demo controlados. A la derecha, cómo controlamos: revisiones semanales y minutas, backlogs, burndown/reviews/retros y V&amp;V.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1:30 min · Cada integrante ~30 s.</a:t>
            </a:r>
          </a:p>
          <a:p>
            <a:r>
              <a:rPr lang="en-US"/>
              <a:t>Cada uno lee su aporte y su reflexión con sus propias palabras (los textos son un borrador: personalizar). Luego Muriel cierra con la conclusión grupal y los 3 próximos pasos: validar el modelo Firestore, implementar la app móvil e iniciar la ejecución del plan de pruebas.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⏱ 0:30 min · Sugerido: Muriel. CRITERIO DE RÚBRICA N°5 (inglés).</a:t>
            </a:r>
          </a:p>
          <a:p>
            <a:r>
              <a:rPr lang="en-US"/>
              <a:t>Leer o resumir el abstract en inglés con claridad y cerrar: “Thank you. ServiGo turns operational data into better decisions for customers and technicians.” Abrir a preguntas.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23.png" Type="http://schemas.openxmlformats.org/officeDocument/2006/relationships/image"/><Relationship Id="rId21" Target="../media/image24.svg" Type="http://schemas.openxmlformats.org/officeDocument/2006/relationships/image"/><Relationship Id="rId22" Target="../media/image1.png" Type="http://schemas.openxmlformats.org/officeDocument/2006/relationships/image"/><Relationship Id="rId23" Target="../media/image25.png" Type="http://schemas.openxmlformats.org/officeDocument/2006/relationships/image"/><Relationship Id="rId24" Target="../media/image26.svg" Type="http://schemas.openxmlformats.org/officeDocument/2006/relationships/image"/><Relationship Id="rId25" Target="../media/image27.png" Type="http://schemas.openxmlformats.org/officeDocument/2006/relationships/image"/><Relationship Id="rId26" Target="../media/image28.svg" Type="http://schemas.openxmlformats.org/officeDocument/2006/relationships/image"/><Relationship Id="rId27" Target="../media/image29.png" Type="http://schemas.openxmlformats.org/officeDocument/2006/relationships/image"/><Relationship Id="rId28" Target="../media/image30.sv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Relationship Id="rId4" Target="../media/image31.png" Type="http://schemas.openxmlformats.org/officeDocument/2006/relationships/image"/><Relationship Id="rId5" Target="../media/image1.png" Type="http://schemas.openxmlformats.org/officeDocument/2006/relationships/image"/><Relationship Id="rId6" Target="../media/image32.png" Type="http://schemas.openxmlformats.org/officeDocument/2006/relationships/image"/><Relationship Id="rId7" Target="../media/image33.png" Type="http://schemas.openxmlformats.org/officeDocument/2006/relationships/image"/><Relationship Id="rId8" Target="../media/image2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jpeg" Type="http://schemas.openxmlformats.org/officeDocument/2006/relationships/image"/><Relationship Id="rId4" Target="../media/image5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13" Target="../media/image60.png" Type="http://schemas.openxmlformats.org/officeDocument/2006/relationships/image"/><Relationship Id="rId14" Target="../media/image61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6.jpe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Relationship Id="rId4" Target="../media/image62.png" Type="http://schemas.openxmlformats.org/officeDocument/2006/relationships/image"/><Relationship Id="rId5" Target="../media/image43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jpe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Relationship Id="rId6" Target="../media/image68.png" Type="http://schemas.openxmlformats.org/officeDocument/2006/relationships/image"/><Relationship Id="rId7" Target="../media/image69.png" Type="http://schemas.openxmlformats.org/officeDocument/2006/relationships/image"/><Relationship Id="rId8" Target="../media/image7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78.png" Type="http://schemas.openxmlformats.org/officeDocument/2006/relationships/image"/><Relationship Id="rId12" Target="../media/image79.png" Type="http://schemas.openxmlformats.org/officeDocument/2006/relationships/image"/><Relationship Id="rId13" Target="../media/image80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6.jpeg" Type="http://schemas.openxmlformats.org/officeDocument/2006/relationships/image"/><Relationship Id="rId4" Target="../media/image71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Relationship Id="rId8" Target="../media/image75.png" Type="http://schemas.openxmlformats.org/officeDocument/2006/relationships/image"/><Relationship Id="rId9" Target="../media/image7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65.pn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6.jpe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58.png" Type="http://schemas.openxmlformats.org/officeDocument/2006/relationships/image"/><Relationship Id="rId8" Target="../media/image37.png" Type="http://schemas.openxmlformats.org/officeDocument/2006/relationships/image"/><Relationship Id="rId9" Target="../media/image8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.jpeg" Type="http://schemas.openxmlformats.org/officeDocument/2006/relationships/image"/><Relationship Id="rId4" Target="../media/image86.png" Type="http://schemas.openxmlformats.org/officeDocument/2006/relationships/image"/><Relationship Id="rId5" Target="../media/image8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2.pn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6.jpe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7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84280" y="1234440"/>
            <a:ext cx="7680960" cy="7680960"/>
            <a:chOff x="0" y="0"/>
            <a:chExt cx="10241280" cy="10241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893040" y="2743200"/>
            <a:ext cx="4663440" cy="4663440"/>
            <a:chOff x="0" y="0"/>
            <a:chExt cx="6217920" cy="6217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0" y="2331720"/>
            <a:ext cx="1371600" cy="1371600"/>
            <a:chOff x="0" y="0"/>
            <a:chExt cx="18288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673584" y="2660904"/>
            <a:ext cx="713232" cy="713232"/>
            <a:chOff x="0" y="0"/>
            <a:chExt cx="950976" cy="950976"/>
          </a:xfrm>
        </p:grpSpPr>
        <p:sp>
          <p:nvSpPr>
            <p:cNvPr name="Freeform 9" id="9" descr="FiMapPin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636240" y="4114800"/>
            <a:ext cx="1371600" cy="1371600"/>
            <a:chOff x="0" y="0"/>
            <a:chExt cx="182880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965424" y="4443984"/>
            <a:ext cx="713232" cy="713232"/>
            <a:chOff x="0" y="0"/>
            <a:chExt cx="950976" cy="950976"/>
          </a:xfrm>
        </p:grpSpPr>
        <p:sp>
          <p:nvSpPr>
            <p:cNvPr name="Freeform 13" id="13" descr="FiTool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167360" y="6309360"/>
            <a:ext cx="1371600" cy="1371600"/>
            <a:chOff x="0" y="0"/>
            <a:chExt cx="18288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496544" y="6638544"/>
            <a:ext cx="713232" cy="713232"/>
            <a:chOff x="0" y="0"/>
            <a:chExt cx="950976" cy="950976"/>
          </a:xfrm>
        </p:grpSpPr>
        <p:sp>
          <p:nvSpPr>
            <p:cNvPr name="Freeform 17" id="17" descr="FiStar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224760" y="548640"/>
            <a:ext cx="2468880" cy="822960"/>
            <a:chOff x="0" y="0"/>
            <a:chExt cx="329184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1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91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108960" y="0"/>
                  </a:lnTo>
                  <a:cubicBezTo>
                    <a:pt x="3209925" y="0"/>
                    <a:pt x="3291840" y="81915"/>
                    <a:pt x="3291840" y="182880"/>
                  </a:cubicBezTo>
                  <a:lnTo>
                    <a:pt x="3291840" y="914400"/>
                  </a:lnTo>
                  <a:cubicBezTo>
                    <a:pt x="3291840" y="1015365"/>
                    <a:pt x="3209925" y="1097280"/>
                    <a:pt x="310896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430500" y="685800"/>
            <a:ext cx="2057400" cy="514350"/>
            <a:chOff x="0" y="0"/>
            <a:chExt cx="2743200" cy="685800"/>
          </a:xfrm>
        </p:grpSpPr>
        <p:sp>
          <p:nvSpPr>
            <p:cNvPr name="Freeform 21" id="21" descr="Duoc UC"/>
            <p:cNvSpPr/>
            <p:nvPr/>
          </p:nvSpPr>
          <p:spPr>
            <a:xfrm flipH="false" flipV="false" rot="0">
              <a:off x="0" y="0"/>
              <a:ext cx="2743200" cy="685800"/>
            </a:xfrm>
            <a:custGeom>
              <a:avLst/>
              <a:gdLst/>
              <a:ahLst/>
              <a:cxnLst/>
              <a:rect r="r" b="b" t="t" l="l"/>
              <a:pathLst>
                <a:path h="6858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" y="1851660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56386" y="2147926"/>
            <a:ext cx="641909" cy="641909"/>
            <a:chOff x="0" y="0"/>
            <a:chExt cx="855878" cy="855878"/>
          </a:xfrm>
        </p:grpSpPr>
        <p:sp>
          <p:nvSpPr>
            <p:cNvPr name="Freeform 25" id="25" descr="FiHome"/>
            <p:cNvSpPr/>
            <p:nvPr/>
          </p:nvSpPr>
          <p:spPr>
            <a:xfrm flipH="false" flipV="false" rot="0">
              <a:off x="0" y="0"/>
              <a:ext cx="855853" cy="855853"/>
            </a:xfrm>
            <a:custGeom>
              <a:avLst/>
              <a:gdLst/>
              <a:ahLst/>
              <a:cxnLst/>
              <a:rect r="r" b="b" t="t" l="l"/>
              <a:pathLst>
                <a:path h="855853" w="855853">
                  <a:moveTo>
                    <a:pt x="0" y="0"/>
                  </a:moveTo>
                  <a:lnTo>
                    <a:pt x="855853" y="0"/>
                  </a:lnTo>
                  <a:lnTo>
                    <a:pt x="855853" y="855853"/>
                  </a:lnTo>
                  <a:lnTo>
                    <a:pt x="0" y="855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468880" y="1783080"/>
            <a:ext cx="7543800" cy="1371600"/>
            <a:chOff x="0" y="0"/>
            <a:chExt cx="10058400" cy="1828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005840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ServiGo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0120" y="3636645"/>
            <a:ext cx="9464040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Aplicación móvil para servicios técnicos a domicilio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0120" y="5928360"/>
            <a:ext cx="96012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Arquitectura, datos, procesos y planificación ágil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0595" y="7671435"/>
            <a:ext cx="2899410" cy="704850"/>
            <a:chOff x="0" y="0"/>
            <a:chExt cx="3865880" cy="939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65880" cy="939800"/>
            </a:xfrm>
            <a:custGeom>
              <a:avLst/>
              <a:gdLst/>
              <a:ahLst/>
              <a:cxnLst/>
              <a:rect r="r" b="b" t="t" l="l"/>
              <a:pathLst>
                <a:path h="939800" w="386588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395980" y="0"/>
                  </a:lnTo>
                  <a:cubicBezTo>
                    <a:pt x="3655441" y="0"/>
                    <a:pt x="3865880" y="210439"/>
                    <a:pt x="3865880" y="469900"/>
                  </a:cubicBezTo>
                  <a:cubicBezTo>
                    <a:pt x="3865880" y="729361"/>
                    <a:pt x="3655441" y="939800"/>
                    <a:pt x="339598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E2761"/>
            </a:solidFill>
            <a:ln w="1905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7680960"/>
            <a:ext cx="2880360" cy="685800"/>
            <a:chOff x="0" y="0"/>
            <a:chExt cx="384048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38404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Julio Soto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036695" y="7671435"/>
            <a:ext cx="2899410" cy="704850"/>
            <a:chOff x="0" y="0"/>
            <a:chExt cx="3865880" cy="939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65880" cy="939800"/>
            </a:xfrm>
            <a:custGeom>
              <a:avLst/>
              <a:gdLst/>
              <a:ahLst/>
              <a:cxnLst/>
              <a:rect r="r" b="b" t="t" l="l"/>
              <a:pathLst>
                <a:path h="939800" w="386588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395980" y="0"/>
                  </a:lnTo>
                  <a:cubicBezTo>
                    <a:pt x="3655441" y="0"/>
                    <a:pt x="3865880" y="210439"/>
                    <a:pt x="3865880" y="469900"/>
                  </a:cubicBezTo>
                  <a:cubicBezTo>
                    <a:pt x="3865880" y="729361"/>
                    <a:pt x="3655441" y="939800"/>
                    <a:pt x="339598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E2761"/>
            </a:solidFill>
            <a:ln w="1905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046220" y="7680960"/>
            <a:ext cx="2880360" cy="685800"/>
            <a:chOff x="0" y="0"/>
            <a:chExt cx="384048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38404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Mauricio Pardo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22795" y="7671435"/>
            <a:ext cx="2899410" cy="704850"/>
            <a:chOff x="0" y="0"/>
            <a:chExt cx="3865880" cy="939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65880" cy="939800"/>
            </a:xfrm>
            <a:custGeom>
              <a:avLst/>
              <a:gdLst/>
              <a:ahLst/>
              <a:cxnLst/>
              <a:rect r="r" b="b" t="t" l="l"/>
              <a:pathLst>
                <a:path h="939800" w="3865880">
                  <a:moveTo>
                    <a:pt x="0" y="469900"/>
                  </a:moveTo>
                  <a:cubicBezTo>
                    <a:pt x="0" y="210439"/>
                    <a:pt x="210439" y="0"/>
                    <a:pt x="469900" y="0"/>
                  </a:cubicBezTo>
                  <a:lnTo>
                    <a:pt x="3395980" y="0"/>
                  </a:lnTo>
                  <a:cubicBezTo>
                    <a:pt x="3655441" y="0"/>
                    <a:pt x="3865880" y="210439"/>
                    <a:pt x="3865880" y="469900"/>
                  </a:cubicBezTo>
                  <a:cubicBezTo>
                    <a:pt x="3865880" y="729361"/>
                    <a:pt x="3655441" y="939800"/>
                    <a:pt x="3395980" y="939800"/>
                  </a:cubicBezTo>
                  <a:lnTo>
                    <a:pt x="469900" y="939800"/>
                  </a:lnTo>
                  <a:cubicBezTo>
                    <a:pt x="210439" y="939800"/>
                    <a:pt x="0" y="729361"/>
                    <a:pt x="0" y="469900"/>
                  </a:cubicBezTo>
                  <a:close/>
                </a:path>
              </a:pathLst>
            </a:custGeom>
            <a:solidFill>
              <a:srgbClr val="1E2761"/>
            </a:solidFill>
            <a:ln w="19050" cap="sq">
              <a:solidFill>
                <a:srgbClr val="CADCF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132320" y="7680960"/>
            <a:ext cx="2880360" cy="685800"/>
            <a:chOff x="0" y="0"/>
            <a:chExt cx="384048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40480" cy="914400"/>
            </a:xfrm>
            <a:custGeom>
              <a:avLst/>
              <a:gdLst/>
              <a:ahLst/>
              <a:cxnLst/>
              <a:rect r="r" b="b" t="t" l="l"/>
              <a:pathLst>
                <a:path h="91440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384048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Muriel Miranda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8655" y="-132292"/>
            <a:ext cx="12501011" cy="3557427"/>
            <a:chOff x="0" y="0"/>
            <a:chExt cx="16668015" cy="47432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668015" cy="4743237"/>
            </a:xfrm>
            <a:custGeom>
              <a:avLst/>
              <a:gdLst/>
              <a:ahLst/>
              <a:cxnLst/>
              <a:rect r="r" b="b" t="t" l="l"/>
              <a:pathLst>
                <a:path h="4743237" w="16668015">
                  <a:moveTo>
                    <a:pt x="0" y="0"/>
                  </a:moveTo>
                  <a:lnTo>
                    <a:pt x="16668015" y="0"/>
                  </a:lnTo>
                  <a:lnTo>
                    <a:pt x="16668015" y="4743237"/>
                  </a:lnTo>
                  <a:lnTo>
                    <a:pt x="0" y="47432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05" r="-33089" b="-65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6668015" cy="4752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</a:t>
              </a: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abla de Contenidos.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8536" y="0"/>
                  </a:lnTo>
                  <a:cubicBezTo>
                    <a:pt x="4440047" y="0"/>
                    <a:pt x="4562856" y="122809"/>
                    <a:pt x="4562856" y="274320"/>
                  </a:cubicBezTo>
                  <a:cubicBezTo>
                    <a:pt x="4562856" y="425831"/>
                    <a:pt x="4440047" y="548640"/>
                    <a:pt x="4288536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0"/>
                  </a:moveTo>
                  <a:lnTo>
                    <a:pt x="4562856" y="0"/>
                  </a:lnTo>
                  <a:lnTo>
                    <a:pt x="4562856" y="548640"/>
                  </a:lnTo>
                  <a:lnTo>
                    <a:pt x="0" y="548640"/>
                  </a:ln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56285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281428"/>
            <a:ext cx="7394423" cy="919481"/>
            <a:chOff x="0" y="0"/>
            <a:chExt cx="19854609" cy="2468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5461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9854610">
                  <a:moveTo>
                    <a:pt x="0" y="219456"/>
                  </a:moveTo>
                  <a:cubicBezTo>
                    <a:pt x="0" y="98298"/>
                    <a:pt x="190569" y="0"/>
                    <a:pt x="425456" y="0"/>
                  </a:cubicBezTo>
                  <a:lnTo>
                    <a:pt x="19429154" y="0"/>
                  </a:lnTo>
                  <a:cubicBezTo>
                    <a:pt x="19664040" y="0"/>
                    <a:pt x="19854610" y="98298"/>
                    <a:pt x="19854610" y="219456"/>
                  </a:cubicBezTo>
                  <a:lnTo>
                    <a:pt x="19854610" y="2249424"/>
                  </a:lnTo>
                  <a:cubicBezTo>
                    <a:pt x="19854610" y="2370582"/>
                    <a:pt x="19664040" y="2468880"/>
                    <a:pt x="19429154" y="2468880"/>
                  </a:cubicBezTo>
                  <a:lnTo>
                    <a:pt x="425456" y="2468880"/>
                  </a:lnTo>
                  <a:cubicBezTo>
                    <a:pt x="190569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10750" y="2502785"/>
            <a:ext cx="525811" cy="476768"/>
            <a:chOff x="0" y="0"/>
            <a:chExt cx="1411844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3337129"/>
            <a:ext cx="7394423" cy="919481"/>
            <a:chOff x="0" y="0"/>
            <a:chExt cx="19854609" cy="2468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85461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9854610">
                  <a:moveTo>
                    <a:pt x="0" y="219456"/>
                  </a:moveTo>
                  <a:cubicBezTo>
                    <a:pt x="0" y="98298"/>
                    <a:pt x="190569" y="0"/>
                    <a:pt x="425456" y="0"/>
                  </a:cubicBezTo>
                  <a:lnTo>
                    <a:pt x="19429154" y="0"/>
                  </a:lnTo>
                  <a:cubicBezTo>
                    <a:pt x="19664040" y="0"/>
                    <a:pt x="19854610" y="98298"/>
                    <a:pt x="19854610" y="219456"/>
                  </a:cubicBezTo>
                  <a:lnTo>
                    <a:pt x="19854610" y="2249424"/>
                  </a:lnTo>
                  <a:cubicBezTo>
                    <a:pt x="19854610" y="2370582"/>
                    <a:pt x="19664040" y="2468880"/>
                    <a:pt x="19429154" y="2468880"/>
                  </a:cubicBezTo>
                  <a:lnTo>
                    <a:pt x="425456" y="2468880"/>
                  </a:lnTo>
                  <a:cubicBezTo>
                    <a:pt x="190569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10750" y="3558485"/>
            <a:ext cx="525811" cy="476768"/>
            <a:chOff x="0" y="0"/>
            <a:chExt cx="1411844" cy="12801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4392830"/>
            <a:ext cx="7394423" cy="919481"/>
            <a:chOff x="0" y="0"/>
            <a:chExt cx="19854609" cy="2468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85461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9854610">
                  <a:moveTo>
                    <a:pt x="0" y="219456"/>
                  </a:moveTo>
                  <a:cubicBezTo>
                    <a:pt x="0" y="98298"/>
                    <a:pt x="190569" y="0"/>
                    <a:pt x="425456" y="0"/>
                  </a:cubicBezTo>
                  <a:lnTo>
                    <a:pt x="19429154" y="0"/>
                  </a:lnTo>
                  <a:cubicBezTo>
                    <a:pt x="19664040" y="0"/>
                    <a:pt x="19854610" y="98298"/>
                    <a:pt x="19854610" y="219456"/>
                  </a:cubicBezTo>
                  <a:lnTo>
                    <a:pt x="19854610" y="2249424"/>
                  </a:lnTo>
                  <a:cubicBezTo>
                    <a:pt x="19854610" y="2370582"/>
                    <a:pt x="19664040" y="2468880"/>
                    <a:pt x="19429154" y="2468880"/>
                  </a:cubicBezTo>
                  <a:lnTo>
                    <a:pt x="425456" y="2468880"/>
                  </a:lnTo>
                  <a:cubicBezTo>
                    <a:pt x="190569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10750" y="4614186"/>
            <a:ext cx="525811" cy="476768"/>
            <a:chOff x="0" y="0"/>
            <a:chExt cx="1411844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5449947"/>
            <a:ext cx="7394423" cy="919481"/>
            <a:chOff x="0" y="0"/>
            <a:chExt cx="19854609" cy="2468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85461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9854610">
                  <a:moveTo>
                    <a:pt x="0" y="219456"/>
                  </a:moveTo>
                  <a:cubicBezTo>
                    <a:pt x="0" y="98298"/>
                    <a:pt x="190569" y="0"/>
                    <a:pt x="425456" y="0"/>
                  </a:cubicBezTo>
                  <a:lnTo>
                    <a:pt x="19429154" y="0"/>
                  </a:lnTo>
                  <a:cubicBezTo>
                    <a:pt x="19664040" y="0"/>
                    <a:pt x="19854610" y="98298"/>
                    <a:pt x="19854610" y="219456"/>
                  </a:cubicBezTo>
                  <a:lnTo>
                    <a:pt x="19854610" y="2249424"/>
                  </a:lnTo>
                  <a:cubicBezTo>
                    <a:pt x="19854610" y="2370582"/>
                    <a:pt x="19664040" y="2468880"/>
                    <a:pt x="19429154" y="2468880"/>
                  </a:cubicBezTo>
                  <a:lnTo>
                    <a:pt x="425456" y="2468880"/>
                  </a:lnTo>
                  <a:cubicBezTo>
                    <a:pt x="190569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10750" y="5671303"/>
            <a:ext cx="525811" cy="476768"/>
            <a:chOff x="0" y="0"/>
            <a:chExt cx="1411844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6505648"/>
            <a:ext cx="7394423" cy="919481"/>
            <a:chOff x="0" y="0"/>
            <a:chExt cx="19854609" cy="2468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85461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9854610">
                  <a:moveTo>
                    <a:pt x="0" y="219456"/>
                  </a:moveTo>
                  <a:cubicBezTo>
                    <a:pt x="0" y="98298"/>
                    <a:pt x="190569" y="0"/>
                    <a:pt x="425456" y="0"/>
                  </a:cubicBezTo>
                  <a:lnTo>
                    <a:pt x="19429154" y="0"/>
                  </a:lnTo>
                  <a:cubicBezTo>
                    <a:pt x="19664040" y="0"/>
                    <a:pt x="19854610" y="98298"/>
                    <a:pt x="19854610" y="219456"/>
                  </a:cubicBezTo>
                  <a:lnTo>
                    <a:pt x="19854610" y="2249424"/>
                  </a:lnTo>
                  <a:cubicBezTo>
                    <a:pt x="19854610" y="2370582"/>
                    <a:pt x="19664040" y="2468880"/>
                    <a:pt x="19429154" y="2468880"/>
                  </a:cubicBezTo>
                  <a:lnTo>
                    <a:pt x="425456" y="2468880"/>
                  </a:lnTo>
                  <a:cubicBezTo>
                    <a:pt x="190569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0750" y="6727004"/>
            <a:ext cx="525811" cy="476768"/>
            <a:chOff x="0" y="0"/>
            <a:chExt cx="1411844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7561348"/>
            <a:ext cx="7394423" cy="919481"/>
            <a:chOff x="0" y="0"/>
            <a:chExt cx="19854609" cy="2468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85461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9854610">
                  <a:moveTo>
                    <a:pt x="0" y="219456"/>
                  </a:moveTo>
                  <a:cubicBezTo>
                    <a:pt x="0" y="98298"/>
                    <a:pt x="190569" y="0"/>
                    <a:pt x="425456" y="0"/>
                  </a:cubicBezTo>
                  <a:lnTo>
                    <a:pt x="19429154" y="0"/>
                  </a:lnTo>
                  <a:cubicBezTo>
                    <a:pt x="19664040" y="0"/>
                    <a:pt x="19854610" y="98298"/>
                    <a:pt x="19854610" y="219456"/>
                  </a:cubicBezTo>
                  <a:lnTo>
                    <a:pt x="19854610" y="2249424"/>
                  </a:lnTo>
                  <a:cubicBezTo>
                    <a:pt x="19854610" y="2370582"/>
                    <a:pt x="19664040" y="2468880"/>
                    <a:pt x="19429154" y="2468880"/>
                  </a:cubicBezTo>
                  <a:lnTo>
                    <a:pt x="425456" y="2468880"/>
                  </a:lnTo>
                  <a:cubicBezTo>
                    <a:pt x="190569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10750" y="7782705"/>
            <a:ext cx="525811" cy="476768"/>
            <a:chOff x="0" y="0"/>
            <a:chExt cx="1411844" cy="1280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141714" y="2281428"/>
            <a:ext cx="5272391" cy="919481"/>
            <a:chOff x="0" y="0"/>
            <a:chExt cx="14156784" cy="24688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156785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156785">
                  <a:moveTo>
                    <a:pt x="0" y="219456"/>
                  </a:moveTo>
                  <a:cubicBezTo>
                    <a:pt x="0" y="98298"/>
                    <a:pt x="135880" y="0"/>
                    <a:pt x="303360" y="0"/>
                  </a:cubicBezTo>
                  <a:lnTo>
                    <a:pt x="13853424" y="0"/>
                  </a:lnTo>
                  <a:cubicBezTo>
                    <a:pt x="14020904" y="0"/>
                    <a:pt x="14156785" y="98298"/>
                    <a:pt x="14156785" y="219456"/>
                  </a:cubicBezTo>
                  <a:lnTo>
                    <a:pt x="14156785" y="2249424"/>
                  </a:lnTo>
                  <a:cubicBezTo>
                    <a:pt x="14156785" y="2370582"/>
                    <a:pt x="14020904" y="2468880"/>
                    <a:pt x="13853424" y="2468880"/>
                  </a:cubicBezTo>
                  <a:lnTo>
                    <a:pt x="303360" y="2468880"/>
                  </a:lnTo>
                  <a:cubicBezTo>
                    <a:pt x="135880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29504" y="2502785"/>
            <a:ext cx="525811" cy="476768"/>
            <a:chOff x="0" y="0"/>
            <a:chExt cx="1411844" cy="128016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1714" y="3337129"/>
            <a:ext cx="5272391" cy="919481"/>
            <a:chOff x="0" y="0"/>
            <a:chExt cx="14156784" cy="24688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156785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156785">
                  <a:moveTo>
                    <a:pt x="0" y="219456"/>
                  </a:moveTo>
                  <a:cubicBezTo>
                    <a:pt x="0" y="98298"/>
                    <a:pt x="135880" y="0"/>
                    <a:pt x="303360" y="0"/>
                  </a:cubicBezTo>
                  <a:lnTo>
                    <a:pt x="13853424" y="0"/>
                  </a:lnTo>
                  <a:cubicBezTo>
                    <a:pt x="14020904" y="0"/>
                    <a:pt x="14156785" y="98298"/>
                    <a:pt x="14156785" y="219456"/>
                  </a:cubicBezTo>
                  <a:lnTo>
                    <a:pt x="14156785" y="2249424"/>
                  </a:lnTo>
                  <a:cubicBezTo>
                    <a:pt x="14156785" y="2370582"/>
                    <a:pt x="14020904" y="2468880"/>
                    <a:pt x="13853424" y="2468880"/>
                  </a:cubicBezTo>
                  <a:lnTo>
                    <a:pt x="303360" y="2468880"/>
                  </a:lnTo>
                  <a:cubicBezTo>
                    <a:pt x="135880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329504" y="3558485"/>
            <a:ext cx="525811" cy="476768"/>
            <a:chOff x="0" y="0"/>
            <a:chExt cx="1411844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818291" y="6788528"/>
            <a:ext cx="7680960" cy="7680960"/>
            <a:chOff x="0" y="0"/>
            <a:chExt cx="10241280" cy="10241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5327051" y="8297288"/>
            <a:ext cx="4663440" cy="4663440"/>
            <a:chOff x="0" y="0"/>
            <a:chExt cx="6217920" cy="6217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141714" y="4392830"/>
            <a:ext cx="5272391" cy="919481"/>
            <a:chOff x="0" y="0"/>
            <a:chExt cx="14156784" cy="24688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156785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156785">
                  <a:moveTo>
                    <a:pt x="0" y="219456"/>
                  </a:moveTo>
                  <a:cubicBezTo>
                    <a:pt x="0" y="98298"/>
                    <a:pt x="135880" y="0"/>
                    <a:pt x="303360" y="0"/>
                  </a:cubicBezTo>
                  <a:lnTo>
                    <a:pt x="13853424" y="0"/>
                  </a:lnTo>
                  <a:cubicBezTo>
                    <a:pt x="14020904" y="0"/>
                    <a:pt x="14156785" y="98298"/>
                    <a:pt x="14156785" y="219456"/>
                  </a:cubicBezTo>
                  <a:lnTo>
                    <a:pt x="14156785" y="2249424"/>
                  </a:lnTo>
                  <a:cubicBezTo>
                    <a:pt x="14156785" y="2370582"/>
                    <a:pt x="14020904" y="2468880"/>
                    <a:pt x="13853424" y="2468880"/>
                  </a:cubicBezTo>
                  <a:lnTo>
                    <a:pt x="303360" y="2468880"/>
                  </a:lnTo>
                  <a:cubicBezTo>
                    <a:pt x="135880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329504" y="4614186"/>
            <a:ext cx="525811" cy="476768"/>
            <a:chOff x="0" y="0"/>
            <a:chExt cx="1411844" cy="1280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141714" y="5449947"/>
            <a:ext cx="5272391" cy="919481"/>
            <a:chOff x="0" y="0"/>
            <a:chExt cx="14156784" cy="24688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4156785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156785">
                  <a:moveTo>
                    <a:pt x="0" y="219456"/>
                  </a:moveTo>
                  <a:cubicBezTo>
                    <a:pt x="0" y="98298"/>
                    <a:pt x="135880" y="0"/>
                    <a:pt x="303360" y="0"/>
                  </a:cubicBezTo>
                  <a:lnTo>
                    <a:pt x="13853424" y="0"/>
                  </a:lnTo>
                  <a:cubicBezTo>
                    <a:pt x="14020904" y="0"/>
                    <a:pt x="14156785" y="98298"/>
                    <a:pt x="14156785" y="219456"/>
                  </a:cubicBezTo>
                  <a:lnTo>
                    <a:pt x="14156785" y="2249424"/>
                  </a:lnTo>
                  <a:cubicBezTo>
                    <a:pt x="14156785" y="2370582"/>
                    <a:pt x="14020904" y="2468880"/>
                    <a:pt x="13853424" y="2468880"/>
                  </a:cubicBezTo>
                  <a:lnTo>
                    <a:pt x="303360" y="2468880"/>
                  </a:lnTo>
                  <a:cubicBezTo>
                    <a:pt x="135880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329504" y="5671303"/>
            <a:ext cx="525811" cy="476768"/>
            <a:chOff x="0" y="0"/>
            <a:chExt cx="1411844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141714" y="6505648"/>
            <a:ext cx="5272391" cy="919481"/>
            <a:chOff x="0" y="0"/>
            <a:chExt cx="14156784" cy="2468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156785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156785">
                  <a:moveTo>
                    <a:pt x="0" y="219456"/>
                  </a:moveTo>
                  <a:cubicBezTo>
                    <a:pt x="0" y="98298"/>
                    <a:pt x="135880" y="0"/>
                    <a:pt x="303360" y="0"/>
                  </a:cubicBezTo>
                  <a:lnTo>
                    <a:pt x="13853424" y="0"/>
                  </a:lnTo>
                  <a:cubicBezTo>
                    <a:pt x="14020904" y="0"/>
                    <a:pt x="14156785" y="98298"/>
                    <a:pt x="14156785" y="219456"/>
                  </a:cubicBezTo>
                  <a:lnTo>
                    <a:pt x="14156785" y="2249424"/>
                  </a:lnTo>
                  <a:cubicBezTo>
                    <a:pt x="14156785" y="2370582"/>
                    <a:pt x="14020904" y="2468880"/>
                    <a:pt x="13853424" y="2468880"/>
                  </a:cubicBezTo>
                  <a:lnTo>
                    <a:pt x="303360" y="2468880"/>
                  </a:lnTo>
                  <a:cubicBezTo>
                    <a:pt x="135880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29504" y="6727004"/>
            <a:ext cx="525811" cy="476768"/>
            <a:chOff x="0" y="0"/>
            <a:chExt cx="1411844" cy="1280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141714" y="7561348"/>
            <a:ext cx="5272391" cy="919481"/>
            <a:chOff x="0" y="0"/>
            <a:chExt cx="14156784" cy="24688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156785" cy="2468880"/>
            </a:xfrm>
            <a:custGeom>
              <a:avLst/>
              <a:gdLst/>
              <a:ahLst/>
              <a:cxnLst/>
              <a:rect r="r" b="b" t="t" l="l"/>
              <a:pathLst>
                <a:path h="2468880" w="14156785">
                  <a:moveTo>
                    <a:pt x="0" y="219456"/>
                  </a:moveTo>
                  <a:cubicBezTo>
                    <a:pt x="0" y="98298"/>
                    <a:pt x="135880" y="0"/>
                    <a:pt x="303360" y="0"/>
                  </a:cubicBezTo>
                  <a:lnTo>
                    <a:pt x="13853424" y="0"/>
                  </a:lnTo>
                  <a:cubicBezTo>
                    <a:pt x="14020904" y="0"/>
                    <a:pt x="14156785" y="98298"/>
                    <a:pt x="14156785" y="219456"/>
                  </a:cubicBezTo>
                  <a:lnTo>
                    <a:pt x="14156785" y="2249424"/>
                  </a:lnTo>
                  <a:cubicBezTo>
                    <a:pt x="14156785" y="2370582"/>
                    <a:pt x="14020904" y="2468880"/>
                    <a:pt x="13853424" y="2468880"/>
                  </a:cubicBezTo>
                  <a:lnTo>
                    <a:pt x="303360" y="2468880"/>
                  </a:lnTo>
                  <a:cubicBezTo>
                    <a:pt x="135880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329504" y="7782705"/>
            <a:ext cx="525811" cy="476768"/>
            <a:chOff x="0" y="0"/>
            <a:chExt cx="1411844" cy="12801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22960" y="8618026"/>
            <a:ext cx="7394423" cy="919481"/>
            <a:chOff x="0" y="0"/>
            <a:chExt cx="19854609" cy="24688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985461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9854610">
                  <a:moveTo>
                    <a:pt x="0" y="219456"/>
                  </a:moveTo>
                  <a:cubicBezTo>
                    <a:pt x="0" y="98298"/>
                    <a:pt x="190569" y="0"/>
                    <a:pt x="425456" y="0"/>
                  </a:cubicBezTo>
                  <a:lnTo>
                    <a:pt x="19429154" y="0"/>
                  </a:lnTo>
                  <a:cubicBezTo>
                    <a:pt x="19664040" y="0"/>
                    <a:pt x="19854610" y="98298"/>
                    <a:pt x="19854610" y="219456"/>
                  </a:cubicBezTo>
                  <a:lnTo>
                    <a:pt x="19854610" y="2249424"/>
                  </a:lnTo>
                  <a:cubicBezTo>
                    <a:pt x="19854610" y="2370582"/>
                    <a:pt x="19664040" y="2468880"/>
                    <a:pt x="19429154" y="2468880"/>
                  </a:cubicBezTo>
                  <a:lnTo>
                    <a:pt x="425456" y="2468880"/>
                  </a:lnTo>
                  <a:cubicBezTo>
                    <a:pt x="190569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10750" y="8839382"/>
            <a:ext cx="525811" cy="476768"/>
            <a:chOff x="0" y="0"/>
            <a:chExt cx="1411844" cy="12801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118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1411844">
                  <a:moveTo>
                    <a:pt x="0" y="640080"/>
                  </a:moveTo>
                  <a:cubicBezTo>
                    <a:pt x="0" y="286512"/>
                    <a:pt x="315984" y="0"/>
                    <a:pt x="705922" y="0"/>
                  </a:cubicBezTo>
                  <a:cubicBezTo>
                    <a:pt x="1095860" y="0"/>
                    <a:pt x="1411844" y="286512"/>
                    <a:pt x="1411844" y="640080"/>
                  </a:cubicBezTo>
                  <a:cubicBezTo>
                    <a:pt x="1411844" y="993648"/>
                    <a:pt x="1095860" y="1280160"/>
                    <a:pt x="705922" y="1280160"/>
                  </a:cubicBezTo>
                  <a:cubicBezTo>
                    <a:pt x="315984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1170340" y="4762313"/>
            <a:ext cx="214218" cy="214218"/>
          </a:xfrm>
          <a:custGeom>
            <a:avLst/>
            <a:gdLst/>
            <a:ahLst/>
            <a:cxnLst/>
            <a:rect r="r" b="b" t="t" l="l"/>
            <a:pathLst>
              <a:path h="214218" w="214218">
                <a:moveTo>
                  <a:pt x="0" y="0"/>
                </a:moveTo>
                <a:lnTo>
                  <a:pt x="214218" y="0"/>
                </a:lnTo>
                <a:lnTo>
                  <a:pt x="214218" y="214217"/>
                </a:lnTo>
                <a:lnTo>
                  <a:pt x="0" y="2142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123745" y="5755275"/>
            <a:ext cx="307408" cy="307408"/>
          </a:xfrm>
          <a:custGeom>
            <a:avLst/>
            <a:gdLst/>
            <a:ahLst/>
            <a:cxnLst/>
            <a:rect r="r" b="b" t="t" l="l"/>
            <a:pathLst>
              <a:path h="307408" w="307408">
                <a:moveTo>
                  <a:pt x="0" y="0"/>
                </a:moveTo>
                <a:lnTo>
                  <a:pt x="307408" y="0"/>
                </a:lnTo>
                <a:lnTo>
                  <a:pt x="307408" y="307408"/>
                </a:lnTo>
                <a:lnTo>
                  <a:pt x="0" y="3074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152333" y="6869980"/>
            <a:ext cx="250231" cy="243975"/>
          </a:xfrm>
          <a:custGeom>
            <a:avLst/>
            <a:gdLst/>
            <a:ahLst/>
            <a:cxnLst/>
            <a:rect r="r" b="b" t="t" l="l"/>
            <a:pathLst>
              <a:path h="243975" w="250231">
                <a:moveTo>
                  <a:pt x="0" y="0"/>
                </a:moveTo>
                <a:lnTo>
                  <a:pt x="250231" y="0"/>
                </a:lnTo>
                <a:lnTo>
                  <a:pt x="250231" y="243975"/>
                </a:lnTo>
                <a:lnTo>
                  <a:pt x="0" y="243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1094168" y="7839213"/>
            <a:ext cx="366561" cy="364729"/>
          </a:xfrm>
          <a:custGeom>
            <a:avLst/>
            <a:gdLst/>
            <a:ahLst/>
            <a:cxnLst/>
            <a:rect r="r" b="b" t="t" l="l"/>
            <a:pathLst>
              <a:path h="364729" w="366561">
                <a:moveTo>
                  <a:pt x="0" y="0"/>
                </a:moveTo>
                <a:lnTo>
                  <a:pt x="366562" y="0"/>
                </a:lnTo>
                <a:lnTo>
                  <a:pt x="366562" y="364729"/>
                </a:lnTo>
                <a:lnTo>
                  <a:pt x="0" y="3647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129723" y="8921816"/>
            <a:ext cx="295452" cy="347591"/>
          </a:xfrm>
          <a:custGeom>
            <a:avLst/>
            <a:gdLst/>
            <a:ahLst/>
            <a:cxnLst/>
            <a:rect r="r" b="b" t="t" l="l"/>
            <a:pathLst>
              <a:path h="347591" w="295452">
                <a:moveTo>
                  <a:pt x="0" y="0"/>
                </a:moveTo>
                <a:lnTo>
                  <a:pt x="295452" y="0"/>
                </a:lnTo>
                <a:lnTo>
                  <a:pt x="295452" y="347592"/>
                </a:lnTo>
                <a:lnTo>
                  <a:pt x="0" y="3475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133810" y="2599281"/>
            <a:ext cx="287278" cy="302398"/>
          </a:xfrm>
          <a:custGeom>
            <a:avLst/>
            <a:gdLst/>
            <a:ahLst/>
            <a:cxnLst/>
            <a:rect r="r" b="b" t="t" l="l"/>
            <a:pathLst>
              <a:path h="302398" w="287278">
                <a:moveTo>
                  <a:pt x="0" y="0"/>
                </a:moveTo>
                <a:lnTo>
                  <a:pt x="287278" y="0"/>
                </a:lnTo>
                <a:lnTo>
                  <a:pt x="287278" y="302398"/>
                </a:lnTo>
                <a:lnTo>
                  <a:pt x="0" y="3023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9444477" y="2568968"/>
            <a:ext cx="295864" cy="363024"/>
          </a:xfrm>
          <a:custGeom>
            <a:avLst/>
            <a:gdLst/>
            <a:ahLst/>
            <a:cxnLst/>
            <a:rect r="r" b="b" t="t" l="l"/>
            <a:pathLst>
              <a:path h="363024" w="295864">
                <a:moveTo>
                  <a:pt x="0" y="0"/>
                </a:moveTo>
                <a:lnTo>
                  <a:pt x="295864" y="0"/>
                </a:lnTo>
                <a:lnTo>
                  <a:pt x="295864" y="363024"/>
                </a:lnTo>
                <a:lnTo>
                  <a:pt x="0" y="36302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9467738" y="3663952"/>
            <a:ext cx="249342" cy="249342"/>
          </a:xfrm>
          <a:custGeom>
            <a:avLst/>
            <a:gdLst/>
            <a:ahLst/>
            <a:cxnLst/>
            <a:rect r="r" b="b" t="t" l="l"/>
            <a:pathLst>
              <a:path h="249342" w="249342">
                <a:moveTo>
                  <a:pt x="0" y="0"/>
                </a:moveTo>
                <a:lnTo>
                  <a:pt x="249342" y="0"/>
                </a:lnTo>
                <a:lnTo>
                  <a:pt x="249342" y="249343"/>
                </a:lnTo>
                <a:lnTo>
                  <a:pt x="0" y="24934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9467738" y="4684020"/>
            <a:ext cx="309744" cy="338518"/>
          </a:xfrm>
          <a:custGeom>
            <a:avLst/>
            <a:gdLst/>
            <a:ahLst/>
            <a:cxnLst/>
            <a:rect r="r" b="b" t="t" l="l"/>
            <a:pathLst>
              <a:path h="338518" w="309744">
                <a:moveTo>
                  <a:pt x="0" y="0"/>
                </a:moveTo>
                <a:lnTo>
                  <a:pt x="309744" y="0"/>
                </a:lnTo>
                <a:lnTo>
                  <a:pt x="309744" y="338517"/>
                </a:lnTo>
                <a:lnTo>
                  <a:pt x="0" y="33851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9455698" y="5755275"/>
            <a:ext cx="273422" cy="319548"/>
            <a:chOff x="0" y="0"/>
            <a:chExt cx="734159" cy="858012"/>
          </a:xfrm>
        </p:grpSpPr>
        <p:sp>
          <p:nvSpPr>
            <p:cNvPr name="Freeform 79" id="79" descr="FiMapPin"/>
            <p:cNvSpPr/>
            <p:nvPr/>
          </p:nvSpPr>
          <p:spPr>
            <a:xfrm flipH="false" flipV="false" rot="0">
              <a:off x="0" y="0"/>
              <a:ext cx="734210" cy="858063"/>
            </a:xfrm>
            <a:custGeom>
              <a:avLst/>
              <a:gdLst/>
              <a:ahLst/>
              <a:cxnLst/>
              <a:rect r="r" b="b" t="t" l="l"/>
              <a:pathLst>
                <a:path h="858063" w="734210">
                  <a:moveTo>
                    <a:pt x="0" y="0"/>
                  </a:moveTo>
                  <a:lnTo>
                    <a:pt x="734210" y="0"/>
                  </a:lnTo>
                  <a:lnTo>
                    <a:pt x="734210" y="858063"/>
                  </a:lnTo>
                  <a:lnTo>
                    <a:pt x="0" y="85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8443" t="-7" r="-8434" b="0"/>
              </a:stretch>
            </a:blipFill>
          </p:spPr>
        </p:sp>
      </p:grpSp>
      <p:sp>
        <p:nvSpPr>
          <p:cNvPr name="Freeform 80" id="80"/>
          <p:cNvSpPr/>
          <p:nvPr/>
        </p:nvSpPr>
        <p:spPr>
          <a:xfrm flipH="false" flipV="false" rot="0">
            <a:off x="9398621" y="6830014"/>
            <a:ext cx="406137" cy="249774"/>
          </a:xfrm>
          <a:custGeom>
            <a:avLst/>
            <a:gdLst/>
            <a:ahLst/>
            <a:cxnLst/>
            <a:rect r="r" b="b" t="t" l="l"/>
            <a:pathLst>
              <a:path h="249774" w="406137">
                <a:moveTo>
                  <a:pt x="0" y="0"/>
                </a:moveTo>
                <a:lnTo>
                  <a:pt x="406137" y="0"/>
                </a:lnTo>
                <a:lnTo>
                  <a:pt x="406137" y="249774"/>
                </a:lnTo>
                <a:lnTo>
                  <a:pt x="0" y="24977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9489852" y="7866116"/>
            <a:ext cx="223675" cy="326533"/>
          </a:xfrm>
          <a:custGeom>
            <a:avLst/>
            <a:gdLst/>
            <a:ahLst/>
            <a:cxnLst/>
            <a:rect r="r" b="b" t="t" l="l"/>
            <a:pathLst>
              <a:path h="326533" w="223675">
                <a:moveTo>
                  <a:pt x="0" y="0"/>
                </a:moveTo>
                <a:lnTo>
                  <a:pt x="223675" y="0"/>
                </a:lnTo>
                <a:lnTo>
                  <a:pt x="223675" y="326532"/>
                </a:lnTo>
                <a:lnTo>
                  <a:pt x="0" y="32653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2" id="82"/>
          <p:cNvSpPr txBox="true"/>
          <p:nvPr/>
        </p:nvSpPr>
        <p:spPr>
          <a:xfrm rot="0">
            <a:off x="10234799" y="2579109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EVIDENCIA DE AVANCE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5095270" y="5697027"/>
            <a:ext cx="7680960" cy="7680960"/>
            <a:chOff x="0" y="0"/>
            <a:chExt cx="10241280" cy="10241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6604030" y="7205787"/>
            <a:ext cx="4663440" cy="4663440"/>
            <a:chOff x="0" y="0"/>
            <a:chExt cx="6217920" cy="62179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3389666" y="-4074725"/>
            <a:ext cx="7680960" cy="7680960"/>
            <a:chOff x="0" y="0"/>
            <a:chExt cx="10241280" cy="10241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898426" y="-2565965"/>
            <a:ext cx="4663440" cy="4663440"/>
            <a:chOff x="0" y="0"/>
            <a:chExt cx="6217920" cy="62179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666645" y="-5166226"/>
            <a:ext cx="7680960" cy="7680960"/>
            <a:chOff x="0" y="0"/>
            <a:chExt cx="10241280" cy="10241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6175405" y="-3657466"/>
            <a:ext cx="4663440" cy="4663440"/>
            <a:chOff x="0" y="0"/>
            <a:chExt cx="6217920" cy="62179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sp>
        <p:nvSpPr>
          <p:cNvPr name="Freeform 95" id="95"/>
          <p:cNvSpPr/>
          <p:nvPr/>
        </p:nvSpPr>
        <p:spPr>
          <a:xfrm flipH="false" flipV="false" rot="0">
            <a:off x="1096277" y="3611644"/>
            <a:ext cx="362344" cy="362344"/>
          </a:xfrm>
          <a:custGeom>
            <a:avLst/>
            <a:gdLst/>
            <a:ahLst/>
            <a:cxnLst/>
            <a:rect r="r" b="b" t="t" l="l"/>
            <a:pathLst>
              <a:path h="362344" w="362344">
                <a:moveTo>
                  <a:pt x="0" y="0"/>
                </a:moveTo>
                <a:lnTo>
                  <a:pt x="362344" y="0"/>
                </a:lnTo>
                <a:lnTo>
                  <a:pt x="362344" y="362344"/>
                </a:lnTo>
                <a:lnTo>
                  <a:pt x="0" y="362344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6" id="96"/>
          <p:cNvSpPr txBox="true"/>
          <p:nvPr/>
        </p:nvSpPr>
        <p:spPr>
          <a:xfrm rot="0">
            <a:off x="1724351" y="2585043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CONTEXTO Y SOLUCIÓN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724351" y="3640744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Y ALCANCE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724351" y="4700235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</a:t>
            </a: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 A LA PROPUESTA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724351" y="5747628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ETODOLOGÍA ÁGIL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724351" y="6803329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</a:t>
            </a: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EÑO DEL SISTEMA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724351" y="7862820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</a:t>
            </a: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OCESO DE NEGOCIO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234799" y="3634810"/>
            <a:ext cx="3722434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NALÍTICA E IMPLEMENTACIÓN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234799" y="4694301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CALIDAD Y VALIDACIÓN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0234799" y="5741693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SEGUIMIENTO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0234799" y="6797394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CONTROL DEL PROYECTO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0234799" y="7856885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CIERRE DE FASE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916045" y="8915707"/>
            <a:ext cx="3154867" cy="33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</a:t>
            </a:r>
            <a:r>
              <a:rPr lang="en-US" sz="2004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ODELO DE DATOS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 mercado informal que ServiGo ordena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8536" y="0"/>
                  </a:lnTo>
                  <a:cubicBezTo>
                    <a:pt x="4440047" y="0"/>
                    <a:pt x="4562856" y="122809"/>
                    <a:pt x="4562856" y="274320"/>
                  </a:cubicBezTo>
                  <a:cubicBezTo>
                    <a:pt x="4562856" y="425831"/>
                    <a:pt x="4440047" y="548640"/>
                    <a:pt x="4288536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0"/>
                  </a:moveTo>
                  <a:lnTo>
                    <a:pt x="4562856" y="0"/>
                  </a:lnTo>
                  <a:lnTo>
                    <a:pt x="45628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50" r="0" b="-1120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56285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 Y SOLUCIÓN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948940"/>
            <a:ext cx="7680960" cy="1851660"/>
            <a:chOff x="0" y="0"/>
            <a:chExt cx="10241280" cy="2468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241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021824" y="0"/>
                  </a:lnTo>
                  <a:cubicBezTo>
                    <a:pt x="10142982" y="0"/>
                    <a:pt x="10241280" y="98298"/>
                    <a:pt x="10241280" y="219456"/>
                  </a:cubicBezTo>
                  <a:lnTo>
                    <a:pt x="10241280" y="2249424"/>
                  </a:lnTo>
                  <a:cubicBezTo>
                    <a:pt x="10241280" y="2370582"/>
                    <a:pt x="10142982" y="2468880"/>
                    <a:pt x="100218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3394710"/>
            <a:ext cx="960120" cy="960120"/>
            <a:chOff x="0" y="0"/>
            <a:chExt cx="128016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96289" y="3625139"/>
            <a:ext cx="499262" cy="499262"/>
            <a:chOff x="0" y="0"/>
            <a:chExt cx="665683" cy="665683"/>
          </a:xfrm>
        </p:grpSpPr>
        <p:sp>
          <p:nvSpPr>
            <p:cNvPr name="Freeform 18" id="18" descr="FiSearch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7" b="7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468880" y="3185160"/>
            <a:ext cx="57607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Dolor del cliente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68880" y="3655695"/>
            <a:ext cx="57607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Cuesta encontrar técnicos confiables, cercanos y con reputación.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5074920"/>
            <a:ext cx="7680960" cy="1851660"/>
            <a:chOff x="0" y="0"/>
            <a:chExt cx="10241280" cy="2468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241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241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021824" y="0"/>
                  </a:lnTo>
                  <a:cubicBezTo>
                    <a:pt x="10142982" y="0"/>
                    <a:pt x="10241280" y="98298"/>
                    <a:pt x="10241280" y="219456"/>
                  </a:cubicBezTo>
                  <a:lnTo>
                    <a:pt x="10241280" y="2249424"/>
                  </a:lnTo>
                  <a:cubicBezTo>
                    <a:pt x="10241280" y="2370582"/>
                    <a:pt x="10142982" y="2468880"/>
                    <a:pt x="100218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5520690"/>
            <a:ext cx="960120" cy="960120"/>
            <a:chOff x="0" y="0"/>
            <a:chExt cx="12801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96289" y="5751119"/>
            <a:ext cx="499262" cy="499262"/>
            <a:chOff x="0" y="0"/>
            <a:chExt cx="665683" cy="665683"/>
          </a:xfrm>
        </p:grpSpPr>
        <p:sp>
          <p:nvSpPr>
            <p:cNvPr name="Freeform 26" id="26" descr="FiMapPin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7" b="7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468880" y="5311140"/>
            <a:ext cx="57607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Dolor del técnico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68880" y="5781675"/>
            <a:ext cx="57607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Poca visibilidad de oportunidades por zona; depende de redes informales.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2960" y="7200900"/>
            <a:ext cx="7680960" cy="1851660"/>
            <a:chOff x="0" y="0"/>
            <a:chExt cx="10241280" cy="2468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4128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241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021824" y="0"/>
                  </a:lnTo>
                  <a:cubicBezTo>
                    <a:pt x="10142982" y="0"/>
                    <a:pt x="10241280" y="98298"/>
                    <a:pt x="10241280" y="219456"/>
                  </a:cubicBezTo>
                  <a:lnTo>
                    <a:pt x="10241280" y="2249424"/>
                  </a:lnTo>
                  <a:cubicBezTo>
                    <a:pt x="10241280" y="2370582"/>
                    <a:pt x="10142982" y="2468880"/>
                    <a:pt x="10021824" y="2468880"/>
                  </a:cubicBezTo>
                  <a:lnTo>
                    <a:pt x="219456" y="2468880"/>
                  </a:lnTo>
                  <a:cubicBezTo>
                    <a:pt x="98298" y="2468880"/>
                    <a:pt x="0" y="2370582"/>
                    <a:pt x="0" y="22494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5860" y="7646670"/>
            <a:ext cx="960120" cy="960120"/>
            <a:chOff x="0" y="0"/>
            <a:chExt cx="1280160" cy="12801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96289" y="7877099"/>
            <a:ext cx="499262" cy="499262"/>
            <a:chOff x="0" y="0"/>
            <a:chExt cx="665683" cy="665683"/>
          </a:xfrm>
        </p:grpSpPr>
        <p:sp>
          <p:nvSpPr>
            <p:cNvPr name="Freeform 34" id="34" descr="FiShield"/>
            <p:cNvSpPr/>
            <p:nvPr/>
          </p:nvSpPr>
          <p:spPr>
            <a:xfrm flipH="false" flipV="false" rot="0">
              <a:off x="0" y="0"/>
              <a:ext cx="665734" cy="665734"/>
            </a:xfrm>
            <a:custGeom>
              <a:avLst/>
              <a:gdLst/>
              <a:ahLst/>
              <a:cxnLst/>
              <a:rect r="r" b="b" t="t" l="l"/>
              <a:pathLst>
                <a:path h="665734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7" b="7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468880" y="7437120"/>
            <a:ext cx="57607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Dolor operacional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68880" y="7907655"/>
            <a:ext cx="576072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Sin trazabilidad: seguimiento, pago controlado y evidencia del trabajo.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052560" y="2400300"/>
            <a:ext cx="8407908" cy="6652260"/>
            <a:chOff x="0" y="0"/>
            <a:chExt cx="11210544" cy="8869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210544" cy="8869680"/>
            </a:xfrm>
            <a:custGeom>
              <a:avLst/>
              <a:gdLst/>
              <a:ahLst/>
              <a:cxnLst/>
              <a:rect r="r" b="b" t="t" l="l"/>
              <a:pathLst>
                <a:path h="8869680" w="112105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991088" y="0"/>
                  </a:lnTo>
                  <a:cubicBezTo>
                    <a:pt x="11112246" y="0"/>
                    <a:pt x="11210544" y="98298"/>
                    <a:pt x="11210544" y="219456"/>
                  </a:cubicBezTo>
                  <a:lnTo>
                    <a:pt x="11210544" y="8650224"/>
                  </a:lnTo>
                  <a:cubicBezTo>
                    <a:pt x="11210544" y="8771382"/>
                    <a:pt x="11112246" y="8869680"/>
                    <a:pt x="10991088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9532620" y="2655570"/>
            <a:ext cx="75438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ServiGo conecta oferta y demanda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532620" y="3244215"/>
            <a:ext cx="75438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Geolocalización · reputación digital · analítica de datos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532620" y="4114800"/>
            <a:ext cx="3634740" cy="2194560"/>
            <a:chOff x="0" y="0"/>
            <a:chExt cx="4846320" cy="2926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46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46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663440" y="0"/>
                  </a:lnTo>
                  <a:cubicBezTo>
                    <a:pt x="4764405" y="0"/>
                    <a:pt x="4846320" y="81915"/>
                    <a:pt x="4846320" y="182880"/>
                  </a:cubicBezTo>
                  <a:lnTo>
                    <a:pt x="4846320" y="2743200"/>
                  </a:lnTo>
                  <a:cubicBezTo>
                    <a:pt x="4846320" y="2844165"/>
                    <a:pt x="4764405" y="2926080"/>
                    <a:pt x="4663440" y="2926080"/>
                  </a:cubicBezTo>
                  <a:lnTo>
                    <a:pt x="182880" y="2926080"/>
                  </a:lnTo>
                  <a:cubicBezTo>
                    <a:pt x="81915" y="2926080"/>
                    <a:pt x="0" y="2844165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38360" y="432054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902952" y="4485132"/>
            <a:ext cx="356616" cy="356616"/>
            <a:chOff x="0" y="0"/>
            <a:chExt cx="475488" cy="475488"/>
          </a:xfrm>
        </p:grpSpPr>
        <p:sp>
          <p:nvSpPr>
            <p:cNvPr name="Freeform 46" id="46" descr="FiUser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561320" y="4320540"/>
            <a:ext cx="2468880" cy="685800"/>
            <a:chOff x="0" y="0"/>
            <a:chExt cx="329184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Cliente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738360" y="5137023"/>
            <a:ext cx="329184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Solicita, chatea, paga y evalúa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3373100" y="4114800"/>
            <a:ext cx="3634740" cy="2194560"/>
            <a:chOff x="0" y="0"/>
            <a:chExt cx="4846320" cy="2926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46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46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663440" y="0"/>
                  </a:lnTo>
                  <a:cubicBezTo>
                    <a:pt x="4764405" y="0"/>
                    <a:pt x="4846320" y="81915"/>
                    <a:pt x="4846320" y="182880"/>
                  </a:cubicBezTo>
                  <a:lnTo>
                    <a:pt x="4846320" y="2743200"/>
                  </a:lnTo>
                  <a:cubicBezTo>
                    <a:pt x="4846320" y="2844165"/>
                    <a:pt x="4764405" y="2926080"/>
                    <a:pt x="4663440" y="2926080"/>
                  </a:cubicBezTo>
                  <a:lnTo>
                    <a:pt x="182880" y="2926080"/>
                  </a:lnTo>
                  <a:cubicBezTo>
                    <a:pt x="81915" y="2926080"/>
                    <a:pt x="0" y="2844165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578840" y="4320540"/>
            <a:ext cx="685800" cy="685800"/>
            <a:chOff x="0" y="0"/>
            <a:chExt cx="9144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743432" y="4485132"/>
            <a:ext cx="356616" cy="356616"/>
            <a:chOff x="0" y="0"/>
            <a:chExt cx="475488" cy="475488"/>
          </a:xfrm>
        </p:grpSpPr>
        <p:sp>
          <p:nvSpPr>
            <p:cNvPr name="Freeform 56" id="56" descr="FiTool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401800" y="4320540"/>
            <a:ext cx="2468880" cy="685800"/>
            <a:chOff x="0" y="0"/>
            <a:chExt cx="3291840" cy="914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Técnico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3578840" y="5137023"/>
            <a:ext cx="329184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Recibe solicitudes cercanas y ve zonas con demanda</a:t>
            </a:r>
          </a:p>
        </p:txBody>
      </p:sp>
      <p:grpSp>
        <p:nvGrpSpPr>
          <p:cNvPr name="Group 61" id="61"/>
          <p:cNvGrpSpPr/>
          <p:nvPr/>
        </p:nvGrpSpPr>
        <p:grpSpPr>
          <a:xfrm rot="0">
            <a:off x="9532620" y="6515100"/>
            <a:ext cx="3634740" cy="2194560"/>
            <a:chOff x="0" y="0"/>
            <a:chExt cx="4846320" cy="2926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846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46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663440" y="0"/>
                  </a:lnTo>
                  <a:cubicBezTo>
                    <a:pt x="4764405" y="0"/>
                    <a:pt x="4846320" y="81915"/>
                    <a:pt x="4846320" y="182880"/>
                  </a:cubicBezTo>
                  <a:lnTo>
                    <a:pt x="4846320" y="2743200"/>
                  </a:lnTo>
                  <a:cubicBezTo>
                    <a:pt x="4846320" y="2844165"/>
                    <a:pt x="4764405" y="2926080"/>
                    <a:pt x="4663440" y="2926080"/>
                  </a:cubicBezTo>
                  <a:lnTo>
                    <a:pt x="182880" y="2926080"/>
                  </a:lnTo>
                  <a:cubicBezTo>
                    <a:pt x="81915" y="2926080"/>
                    <a:pt x="0" y="2844165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738360" y="6720840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902952" y="6885432"/>
            <a:ext cx="356616" cy="356616"/>
            <a:chOff x="0" y="0"/>
            <a:chExt cx="475488" cy="475488"/>
          </a:xfrm>
        </p:grpSpPr>
        <p:sp>
          <p:nvSpPr>
            <p:cNvPr name="Freeform 66" id="66" descr="FiSettings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561320" y="6720840"/>
            <a:ext cx="2468880" cy="685800"/>
            <a:chOff x="0" y="0"/>
            <a:chExt cx="329184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Administrador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9738360" y="7537323"/>
            <a:ext cx="329184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Valida técnicos y controla la calidad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3373100" y="6515100"/>
            <a:ext cx="3634740" cy="2194560"/>
            <a:chOff x="0" y="0"/>
            <a:chExt cx="4846320" cy="29260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84632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846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663440" y="0"/>
                  </a:lnTo>
                  <a:cubicBezTo>
                    <a:pt x="4764405" y="0"/>
                    <a:pt x="4846320" y="81915"/>
                    <a:pt x="4846320" y="182880"/>
                  </a:cubicBezTo>
                  <a:lnTo>
                    <a:pt x="4846320" y="2743200"/>
                  </a:lnTo>
                  <a:cubicBezTo>
                    <a:pt x="4846320" y="2844165"/>
                    <a:pt x="4764405" y="2926080"/>
                    <a:pt x="4663440" y="2926080"/>
                  </a:cubicBezTo>
                  <a:lnTo>
                    <a:pt x="182880" y="2926080"/>
                  </a:lnTo>
                  <a:cubicBezTo>
                    <a:pt x="81915" y="2926080"/>
                    <a:pt x="0" y="2844165"/>
                    <a:pt x="0" y="2743200"/>
                  </a:cubicBezTo>
                  <a:close/>
                </a:path>
              </a:pathLst>
            </a:custGeom>
            <a:solidFill>
              <a:srgbClr val="1C7293">
                <a:alpha val="15686"/>
              </a:srgbClr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578840" y="6720840"/>
            <a:ext cx="685800" cy="685800"/>
            <a:chOff x="0" y="0"/>
            <a:chExt cx="914400" cy="9144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743432" y="6885432"/>
            <a:ext cx="356616" cy="356616"/>
            <a:chOff x="0" y="0"/>
            <a:chExt cx="475488" cy="475488"/>
          </a:xfrm>
        </p:grpSpPr>
        <p:sp>
          <p:nvSpPr>
            <p:cNvPr name="Freeform 76" id="76" descr="FiCpu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401800" y="6720840"/>
            <a:ext cx="2468880" cy="685800"/>
            <a:chOff x="0" y="0"/>
            <a:chExt cx="329184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2918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Sistema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3578840" y="7537323"/>
            <a:ext cx="329184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Matching, pagos sandbox y reputación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 y alcance del proyecto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8536" y="0"/>
                  </a:lnTo>
                  <a:cubicBezTo>
                    <a:pt x="4440047" y="0"/>
                    <a:pt x="4562856" y="122809"/>
                    <a:pt x="4562856" y="274320"/>
                  </a:cubicBezTo>
                  <a:cubicBezTo>
                    <a:pt x="4562856" y="425831"/>
                    <a:pt x="4440047" y="548640"/>
                    <a:pt x="4288536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0"/>
                  </a:moveTo>
                  <a:lnTo>
                    <a:pt x="4562856" y="0"/>
                  </a:lnTo>
                  <a:lnTo>
                    <a:pt x="45628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50" r="0" b="-1120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56285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 Y ALCANCE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7680960" cy="6652260"/>
            <a:chOff x="0" y="0"/>
            <a:chExt cx="10241280" cy="8869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10241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0021824" y="0"/>
                  </a:lnTo>
                  <a:cubicBezTo>
                    <a:pt x="10142982" y="0"/>
                    <a:pt x="10241280" y="98298"/>
                    <a:pt x="10241280" y="219456"/>
                  </a:cubicBezTo>
                  <a:lnTo>
                    <a:pt x="10241280" y="8650224"/>
                  </a:lnTo>
                  <a:cubicBezTo>
                    <a:pt x="10241280" y="8771382"/>
                    <a:pt x="10142982" y="8869680"/>
                    <a:pt x="10021824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34440" y="2743200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31950" y="2940710"/>
            <a:ext cx="427939" cy="427939"/>
            <a:chOff x="0" y="0"/>
            <a:chExt cx="570586" cy="570586"/>
          </a:xfrm>
        </p:grpSpPr>
        <p:sp>
          <p:nvSpPr>
            <p:cNvPr name="Freeform 18" id="18" descr="FiTarget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263140" y="2743200"/>
            <a:ext cx="5897880" cy="822960"/>
            <a:chOff x="0" y="0"/>
            <a:chExt cx="786384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863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863840">
                  <a:moveTo>
                    <a:pt x="0" y="0"/>
                  </a:moveTo>
                  <a:lnTo>
                    <a:pt x="7863840" y="0"/>
                  </a:lnTo>
                  <a:lnTo>
                    <a:pt x="7863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86384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234440" y="3724275"/>
            <a:ext cx="68580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Una app móvil que conecta clientes con técnicos mediante geolocalización, reputación, pagos sandbox y analítica de demanda.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34440" y="5349240"/>
            <a:ext cx="548640" cy="548640"/>
            <a:chOff x="0" y="0"/>
            <a:chExt cx="73152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34440" y="5349240"/>
            <a:ext cx="548640" cy="548640"/>
            <a:chOff x="0" y="0"/>
            <a:chExt cx="731520" cy="731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57400" y="5280660"/>
            <a:ext cx="6035040" cy="685800"/>
            <a:chOff x="0" y="0"/>
            <a:chExt cx="804672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Autenticación y perfiles por rol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34440" y="6281928"/>
            <a:ext cx="548640" cy="548640"/>
            <a:chOff x="0" y="0"/>
            <a:chExt cx="73152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34440" y="6281928"/>
            <a:ext cx="548640" cy="548640"/>
            <a:chOff x="0" y="0"/>
            <a:chExt cx="73152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057400" y="6213348"/>
            <a:ext cx="6035040" cy="685800"/>
            <a:chOff x="0" y="0"/>
            <a:chExt cx="804672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Solicitudes, matching y ciclo del servicio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34440" y="7214616"/>
            <a:ext cx="548640" cy="548640"/>
            <a:chOff x="0" y="0"/>
            <a:chExt cx="73152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34440" y="7214616"/>
            <a:ext cx="548640" cy="548640"/>
            <a:chOff x="0" y="0"/>
            <a:chExt cx="731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57400" y="7146036"/>
            <a:ext cx="6035040" cy="685800"/>
            <a:chOff x="0" y="0"/>
            <a:chExt cx="804672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Chat, seguimiento, pago sandbox y evaluación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34440" y="8147304"/>
            <a:ext cx="548640" cy="548640"/>
            <a:chOff x="0" y="0"/>
            <a:chExt cx="73152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34440" y="8147304"/>
            <a:ext cx="548640" cy="548640"/>
            <a:chOff x="0" y="0"/>
            <a:chExt cx="7315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057400" y="8078724"/>
            <a:ext cx="6035040" cy="685800"/>
            <a:chOff x="0" y="0"/>
            <a:chExt cx="804672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046720" cy="914400"/>
            </a:xfrm>
            <a:custGeom>
              <a:avLst/>
              <a:gdLst/>
              <a:ahLst/>
              <a:cxnLst/>
              <a:rect r="r" b="b" t="t" l="l"/>
              <a:pathLst>
                <a:path h="91440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80467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Modelo Firestore, dashboard de 3 KPI y modelo de demanda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915400" y="2400300"/>
            <a:ext cx="4251960" cy="6652260"/>
            <a:chOff x="0" y="0"/>
            <a:chExt cx="5669280" cy="88696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669280" cy="8869680"/>
            </a:xfrm>
            <a:custGeom>
              <a:avLst/>
              <a:gdLst/>
              <a:ahLst/>
              <a:cxnLst/>
              <a:rect r="r" b="b" t="t" l="l"/>
              <a:pathLst>
                <a:path h="8869680" w="56692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449824" y="0"/>
                  </a:lnTo>
                  <a:cubicBezTo>
                    <a:pt x="5570982" y="0"/>
                    <a:pt x="5669280" y="98298"/>
                    <a:pt x="5669280" y="219456"/>
                  </a:cubicBezTo>
                  <a:lnTo>
                    <a:pt x="5669280" y="8650224"/>
                  </a:lnTo>
                  <a:cubicBezTo>
                    <a:pt x="5669280" y="8771382"/>
                    <a:pt x="5570982" y="8869680"/>
                    <a:pt x="5449824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304520" y="2400300"/>
            <a:ext cx="4155948" cy="6652260"/>
            <a:chOff x="0" y="0"/>
            <a:chExt cx="5541264" cy="88696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541264" cy="8869680"/>
            </a:xfrm>
            <a:custGeom>
              <a:avLst/>
              <a:gdLst/>
              <a:ahLst/>
              <a:cxnLst/>
              <a:rect r="r" b="b" t="t" l="l"/>
              <a:pathLst>
                <a:path h="8869680" w="554126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321808" y="0"/>
                  </a:lnTo>
                  <a:cubicBezTo>
                    <a:pt x="5442966" y="0"/>
                    <a:pt x="5541264" y="98298"/>
                    <a:pt x="5541264" y="219456"/>
                  </a:cubicBezTo>
                  <a:lnTo>
                    <a:pt x="5541264" y="8650224"/>
                  </a:lnTo>
                  <a:cubicBezTo>
                    <a:pt x="5541264" y="8771382"/>
                    <a:pt x="5442966" y="8869680"/>
                    <a:pt x="5321808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89720" y="2633472"/>
            <a:ext cx="617220" cy="617220"/>
            <a:chOff x="0" y="0"/>
            <a:chExt cx="822960" cy="8229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337853" y="2781605"/>
            <a:ext cx="320954" cy="320954"/>
            <a:chOff x="0" y="0"/>
            <a:chExt cx="427939" cy="427939"/>
          </a:xfrm>
        </p:grpSpPr>
        <p:sp>
          <p:nvSpPr>
            <p:cNvPr name="Freeform 62" id="62" descr="FiCheckCircle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0"/>
                  </a:moveTo>
                  <a:lnTo>
                    <a:pt x="427990" y="0"/>
                  </a:lnTo>
                  <a:lnTo>
                    <a:pt x="427990" y="427990"/>
                  </a:lnTo>
                  <a:lnTo>
                    <a:pt x="0" y="42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1" b="11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944100" y="2633472"/>
            <a:ext cx="3017520" cy="617220"/>
            <a:chOff x="0" y="0"/>
            <a:chExt cx="4023360" cy="8229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23360" cy="822960"/>
            </a:xfrm>
            <a:custGeom>
              <a:avLst/>
              <a:gdLst/>
              <a:ahLst/>
              <a:cxnLst/>
              <a:rect r="r" b="b" t="t" l="l"/>
              <a:pathLst>
                <a:path h="82296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402336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Sí hace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578840" y="2633472"/>
            <a:ext cx="617220" cy="617220"/>
            <a:chOff x="0" y="0"/>
            <a:chExt cx="822960" cy="8229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726973" y="2781605"/>
            <a:ext cx="320954" cy="320954"/>
            <a:chOff x="0" y="0"/>
            <a:chExt cx="427939" cy="427939"/>
          </a:xfrm>
        </p:grpSpPr>
        <p:sp>
          <p:nvSpPr>
            <p:cNvPr name="Freeform 69" id="69" descr="FiXCircle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0"/>
                  </a:moveTo>
                  <a:lnTo>
                    <a:pt x="427990" y="0"/>
                  </a:lnTo>
                  <a:lnTo>
                    <a:pt x="427990" y="427990"/>
                  </a:lnTo>
                  <a:lnTo>
                    <a:pt x="0" y="42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1" b="11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333220" y="2633472"/>
            <a:ext cx="3154680" cy="617220"/>
            <a:chOff x="0" y="0"/>
            <a:chExt cx="4206240" cy="8229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206240" cy="822960"/>
            </a:xfrm>
            <a:custGeom>
              <a:avLst/>
              <a:gdLst/>
              <a:ahLst/>
              <a:cxnLst/>
              <a:rect r="r" b="b" t="t" l="l"/>
              <a:pathLst>
                <a:path h="82296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0" r="0" b="-4959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4206240" cy="861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Fuera</a:t>
              </a: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del alcance inicial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89720" y="3662172"/>
            <a:ext cx="342900" cy="342900"/>
            <a:chOff x="0" y="0"/>
            <a:chExt cx="457200" cy="457200"/>
          </a:xfrm>
        </p:grpSpPr>
        <p:sp>
          <p:nvSpPr>
            <p:cNvPr name="Freeform 74" id="74" descr="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669780" y="3593592"/>
            <a:ext cx="3360420" cy="548640"/>
            <a:chOff x="0" y="0"/>
            <a:chExt cx="448056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4480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Registro, login y perfiles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89720" y="4416552"/>
            <a:ext cx="342900" cy="342900"/>
            <a:chOff x="0" y="0"/>
            <a:chExt cx="457200" cy="457200"/>
          </a:xfrm>
        </p:grpSpPr>
        <p:sp>
          <p:nvSpPr>
            <p:cNvPr name="Freeform 79" id="79" descr="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669780" y="4347972"/>
            <a:ext cx="3360420" cy="548640"/>
            <a:chOff x="0" y="0"/>
            <a:chExt cx="448056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4480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Publicar solicitudes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89720" y="5170932"/>
            <a:ext cx="342900" cy="342900"/>
            <a:chOff x="0" y="0"/>
            <a:chExt cx="457200" cy="457200"/>
          </a:xfrm>
        </p:grpSpPr>
        <p:sp>
          <p:nvSpPr>
            <p:cNvPr name="Freeform 84" id="84" descr="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669780" y="5102352"/>
            <a:ext cx="3360420" cy="548640"/>
            <a:chOff x="0" y="0"/>
            <a:chExt cx="4480560" cy="7315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4480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Matching geográfico básico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189720" y="5925312"/>
            <a:ext cx="342900" cy="342900"/>
            <a:chOff x="0" y="0"/>
            <a:chExt cx="457200" cy="457200"/>
          </a:xfrm>
        </p:grpSpPr>
        <p:sp>
          <p:nvSpPr>
            <p:cNvPr name="Freeform 89" id="89" descr="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669780" y="5856732"/>
            <a:ext cx="3360420" cy="548640"/>
            <a:chOff x="0" y="0"/>
            <a:chExt cx="4480560" cy="7315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4480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y seguimiento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189720" y="6679692"/>
            <a:ext cx="342900" cy="342900"/>
            <a:chOff x="0" y="0"/>
            <a:chExt cx="457200" cy="457200"/>
          </a:xfrm>
        </p:grpSpPr>
        <p:sp>
          <p:nvSpPr>
            <p:cNvPr name="Freeform 94" id="94" descr="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669780" y="6611112"/>
            <a:ext cx="3360420" cy="548640"/>
            <a:chOff x="0" y="0"/>
            <a:chExt cx="4480560" cy="7315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480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Pago sandbox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189720" y="7434072"/>
            <a:ext cx="342900" cy="342900"/>
            <a:chOff x="0" y="0"/>
            <a:chExt cx="457200" cy="457200"/>
          </a:xfrm>
        </p:grpSpPr>
        <p:sp>
          <p:nvSpPr>
            <p:cNvPr name="Freeform 99" id="99" descr="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669780" y="7365492"/>
            <a:ext cx="3360420" cy="548640"/>
            <a:chOff x="0" y="0"/>
            <a:chExt cx="4480560" cy="73152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4480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Evaluación bidireccional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189720" y="8188452"/>
            <a:ext cx="342900" cy="342900"/>
            <a:chOff x="0" y="0"/>
            <a:chExt cx="457200" cy="457200"/>
          </a:xfrm>
        </p:grpSpPr>
        <p:sp>
          <p:nvSpPr>
            <p:cNvPr name="Freeform 104" id="104" descr="check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669780" y="8119872"/>
            <a:ext cx="3360420" cy="548640"/>
            <a:chOff x="0" y="0"/>
            <a:chExt cx="4480560" cy="73152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44805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Administración, BI y minería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578840" y="3662172"/>
            <a:ext cx="342900" cy="342900"/>
            <a:chOff x="0" y="0"/>
            <a:chExt cx="457200" cy="457200"/>
          </a:xfrm>
        </p:grpSpPr>
        <p:sp>
          <p:nvSpPr>
            <p:cNvPr name="Freeform 109" id="109" descr="no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058900" y="3593592"/>
            <a:ext cx="3291840" cy="685800"/>
            <a:chOff x="0" y="0"/>
            <a:chExt cx="4389120" cy="9144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43891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Pagos reales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578840" y="4512564"/>
            <a:ext cx="342900" cy="342900"/>
            <a:chOff x="0" y="0"/>
            <a:chExt cx="457200" cy="457200"/>
          </a:xfrm>
        </p:grpSpPr>
        <p:sp>
          <p:nvSpPr>
            <p:cNvPr name="Freeform 114" id="114" descr="no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058900" y="4443984"/>
            <a:ext cx="3291840" cy="685800"/>
            <a:chOff x="0" y="0"/>
            <a:chExt cx="4389120" cy="9144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43891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Liquidar dinero a técnicos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578840" y="5362956"/>
            <a:ext cx="342900" cy="342900"/>
            <a:chOff x="0" y="0"/>
            <a:chExt cx="457200" cy="457200"/>
          </a:xfrm>
        </p:grpSpPr>
        <p:sp>
          <p:nvSpPr>
            <p:cNvPr name="Freeform 119" id="119" descr="no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4058900" y="5294376"/>
            <a:ext cx="3291840" cy="685800"/>
            <a:chOff x="0" y="0"/>
            <a:chExt cx="4389120" cy="9144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43891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Publicar en tiendas de apps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578840" y="6213348"/>
            <a:ext cx="342900" cy="342900"/>
            <a:chOff x="0" y="0"/>
            <a:chExt cx="457200" cy="457200"/>
          </a:xfrm>
        </p:grpSpPr>
        <p:sp>
          <p:nvSpPr>
            <p:cNvPr name="Freeform 124" id="124" descr="no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058900" y="6144768"/>
            <a:ext cx="3291840" cy="685800"/>
            <a:chOff x="0" y="0"/>
            <a:chExt cx="4389120" cy="9144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47625"/>
              <a:ext cx="43891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Validaciones legales reales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578840" y="7063740"/>
            <a:ext cx="342900" cy="342900"/>
            <a:chOff x="0" y="0"/>
            <a:chExt cx="457200" cy="457200"/>
          </a:xfrm>
        </p:grpSpPr>
        <p:sp>
          <p:nvSpPr>
            <p:cNvPr name="Freeform 129" id="129" descr="no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14058900" y="6995160"/>
            <a:ext cx="3291840" cy="685800"/>
            <a:chOff x="0" y="0"/>
            <a:chExt cx="4389120" cy="9144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43891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IA avanzada en producción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3578840" y="7914132"/>
            <a:ext cx="342900" cy="342900"/>
            <a:chOff x="0" y="0"/>
            <a:chExt cx="457200" cy="457200"/>
          </a:xfrm>
        </p:grpSpPr>
        <p:sp>
          <p:nvSpPr>
            <p:cNvPr name="Freeform 134" id="134" descr="no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4058900" y="7845552"/>
            <a:ext cx="3291840" cy="685800"/>
            <a:chOff x="0" y="0"/>
            <a:chExt cx="4389120" cy="91440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389120" cy="914400"/>
            </a:xfrm>
            <a:custGeom>
              <a:avLst/>
              <a:gdLst/>
              <a:ahLst/>
              <a:cxnLst/>
              <a:rect r="r" b="b" t="t" l="l"/>
              <a:pathLst>
                <a:path h="9144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528" r="0" b="-43528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47625"/>
              <a:ext cx="438912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Cubrir todas las comunas</a:t>
              </a:r>
            </a:p>
          </p:txBody>
        </p:sp>
      </p:grpSp>
      <p:sp>
        <p:nvSpPr>
          <p:cNvPr name="TextBox 138" id="138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Ajustes al proyecto y su justificación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854196" cy="411480"/>
            <a:chOff x="0" y="0"/>
            <a:chExt cx="5138928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38928" cy="548640"/>
            </a:xfrm>
            <a:custGeom>
              <a:avLst/>
              <a:gdLst/>
              <a:ahLst/>
              <a:cxnLst/>
              <a:rect r="r" b="b" t="t" l="l"/>
              <a:pathLst>
                <a:path h="548640" w="5138928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864608" y="0"/>
                  </a:lnTo>
                  <a:cubicBezTo>
                    <a:pt x="5016119" y="0"/>
                    <a:pt x="5138928" y="122809"/>
                    <a:pt x="5138928" y="274320"/>
                  </a:cubicBezTo>
                  <a:cubicBezTo>
                    <a:pt x="5138928" y="425831"/>
                    <a:pt x="5016119" y="548640"/>
                    <a:pt x="4864608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854196" cy="411480"/>
            <a:chOff x="0" y="0"/>
            <a:chExt cx="5138928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38928" cy="548640"/>
            </a:xfrm>
            <a:custGeom>
              <a:avLst/>
              <a:gdLst/>
              <a:ahLst/>
              <a:cxnLst/>
              <a:rect r="r" b="b" t="t" l="l"/>
              <a:pathLst>
                <a:path h="548640" w="5138928">
                  <a:moveTo>
                    <a:pt x="0" y="0"/>
                  </a:moveTo>
                  <a:lnTo>
                    <a:pt x="5138928" y="0"/>
                  </a:lnTo>
                  <a:lnTo>
                    <a:pt x="513892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2509" r="0" b="-13250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5138928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AJUSTES A LA PROPUESTA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22960" y="2321052"/>
            <a:ext cx="61722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Ajuste realizado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61020" y="2321052"/>
            <a:ext cx="61722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¿Por qué?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950440" y="2321052"/>
            <a:ext cx="246888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ORIGEN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2960" y="2880360"/>
            <a:ext cx="16637508" cy="1371600"/>
            <a:chOff x="0" y="0"/>
            <a:chExt cx="22183344" cy="182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18334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1609344"/>
                  </a:lnTo>
                  <a:cubicBezTo>
                    <a:pt x="22183344" y="1730502"/>
                    <a:pt x="22085046" y="1828800"/>
                    <a:pt x="21963887" y="1828800"/>
                  </a:cubicBezTo>
                  <a:lnTo>
                    <a:pt x="219456" y="1828800"/>
                  </a:lnTo>
                  <a:cubicBezTo>
                    <a:pt x="98298" y="1828800"/>
                    <a:pt x="0" y="1730502"/>
                    <a:pt x="0" y="160934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3154680"/>
            <a:ext cx="822960" cy="822960"/>
            <a:chOff x="0" y="0"/>
            <a:chExt cx="109728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94790" y="3352190"/>
            <a:ext cx="427939" cy="427939"/>
            <a:chOff x="0" y="0"/>
            <a:chExt cx="570586" cy="570586"/>
          </a:xfrm>
        </p:grpSpPr>
        <p:sp>
          <p:nvSpPr>
            <p:cNvPr name="Freeform 21" id="21" descr="FiRepeat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194560" y="3075432"/>
            <a:ext cx="56235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Requerimientos con Scrum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4560" y="3587115"/>
            <a:ext cx="56235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Product Backlog, épicas e historias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161020" y="3017520"/>
            <a:ext cx="6446520" cy="1097280"/>
            <a:chOff x="0" y="0"/>
            <a:chExt cx="859536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595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8595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Necesitábamos trazabilidad y adaptar el alcance sin perder evidencia verificable.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881860" y="3264408"/>
            <a:ext cx="2400300" cy="603504"/>
            <a:chOff x="0" y="0"/>
            <a:chExt cx="3200400" cy="8046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2798064" y="0"/>
                  </a:lnTo>
                  <a:cubicBezTo>
                    <a:pt x="3020314" y="0"/>
                    <a:pt x="3200400" y="180086"/>
                    <a:pt x="3200400" y="402336"/>
                  </a:cubicBezTo>
                  <a:cubicBezTo>
                    <a:pt x="3200400" y="624586"/>
                    <a:pt x="3020314" y="804672"/>
                    <a:pt x="2798064" y="804672"/>
                  </a:cubicBezTo>
                  <a:lnTo>
                    <a:pt x="402336" y="804672"/>
                  </a:ln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881860" y="3264408"/>
            <a:ext cx="2400300" cy="603504"/>
            <a:chOff x="0" y="0"/>
            <a:chExt cx="3200400" cy="8046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Dificultad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4457700"/>
            <a:ext cx="16637508" cy="1371600"/>
            <a:chOff x="0" y="0"/>
            <a:chExt cx="22183344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18334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1609344"/>
                  </a:lnTo>
                  <a:cubicBezTo>
                    <a:pt x="22183344" y="1730502"/>
                    <a:pt x="22085046" y="1828800"/>
                    <a:pt x="21963887" y="1828800"/>
                  </a:cubicBezTo>
                  <a:lnTo>
                    <a:pt x="219456" y="1828800"/>
                  </a:lnTo>
                  <a:cubicBezTo>
                    <a:pt x="98298" y="1828800"/>
                    <a:pt x="0" y="1730502"/>
                    <a:pt x="0" y="160934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97280" y="4732020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94790" y="4929530"/>
            <a:ext cx="427939" cy="427939"/>
            <a:chOff x="0" y="0"/>
            <a:chExt cx="570586" cy="570586"/>
          </a:xfrm>
        </p:grpSpPr>
        <p:sp>
          <p:nvSpPr>
            <p:cNvPr name="Freeform 37" id="37" descr="FiTarget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2194560" y="4652772"/>
            <a:ext cx="5623560" cy="400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Focalización del a</a:t>
            </a: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lcance inicial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4560" y="5164455"/>
            <a:ext cx="56235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Pagos sandbox, sin tiendas, sin IA avanzada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161020" y="4594860"/>
            <a:ext cx="6446520" cy="1097280"/>
            <a:chOff x="0" y="0"/>
            <a:chExt cx="8595360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95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595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alcance inicial era muy amplio y las integraciones de pago son complejas.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881860" y="4841748"/>
            <a:ext cx="2400300" cy="603504"/>
            <a:chOff x="0" y="0"/>
            <a:chExt cx="3200400" cy="8046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2798064" y="0"/>
                  </a:lnTo>
                  <a:cubicBezTo>
                    <a:pt x="3020314" y="0"/>
                    <a:pt x="3200400" y="180086"/>
                    <a:pt x="3200400" y="402336"/>
                  </a:cubicBezTo>
                  <a:cubicBezTo>
                    <a:pt x="3200400" y="624586"/>
                    <a:pt x="3020314" y="804672"/>
                    <a:pt x="2798064" y="804672"/>
                  </a:cubicBezTo>
                  <a:lnTo>
                    <a:pt x="402336" y="804672"/>
                  </a:ln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881860" y="4841748"/>
            <a:ext cx="2400300" cy="603504"/>
            <a:chOff x="0" y="0"/>
            <a:chExt cx="3200400" cy="8046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Dificultad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6035040"/>
            <a:ext cx="16637508" cy="1371600"/>
            <a:chOff x="0" y="0"/>
            <a:chExt cx="22183344" cy="1828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18334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1609344"/>
                  </a:lnTo>
                  <a:cubicBezTo>
                    <a:pt x="22183344" y="1730502"/>
                    <a:pt x="22085046" y="1828800"/>
                    <a:pt x="21963887" y="1828800"/>
                  </a:cubicBezTo>
                  <a:lnTo>
                    <a:pt x="219456" y="1828800"/>
                  </a:lnTo>
                  <a:cubicBezTo>
                    <a:pt x="98298" y="1828800"/>
                    <a:pt x="0" y="1730502"/>
                    <a:pt x="0" y="160934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97280" y="6309360"/>
            <a:ext cx="822960" cy="822960"/>
            <a:chOff x="0" y="0"/>
            <a:chExt cx="1097280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94790" y="6506870"/>
            <a:ext cx="427939" cy="427939"/>
            <a:chOff x="0" y="0"/>
            <a:chExt cx="570586" cy="570586"/>
          </a:xfrm>
        </p:grpSpPr>
        <p:sp>
          <p:nvSpPr>
            <p:cNvPr name="Freeform 53" id="53" descr="FiUsers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2194560" y="6230112"/>
            <a:ext cx="56235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Responsables por fortaleza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194560" y="6741795"/>
            <a:ext cx="56235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Arquitectura, desarrollo y diseño UX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8161020" y="6172200"/>
            <a:ext cx="6446520" cy="1097280"/>
            <a:chOff x="0" y="0"/>
            <a:chExt cx="8595360" cy="1463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595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8595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Evita depender de un solo integrante y aprovecha lo que mejor hace cada uno.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881860" y="6419088"/>
            <a:ext cx="2400300" cy="603504"/>
            <a:chOff x="0" y="0"/>
            <a:chExt cx="3200400" cy="80467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2798064" y="0"/>
                  </a:lnTo>
                  <a:cubicBezTo>
                    <a:pt x="3020314" y="0"/>
                    <a:pt x="3200400" y="180086"/>
                    <a:pt x="3200400" y="402336"/>
                  </a:cubicBezTo>
                  <a:cubicBezTo>
                    <a:pt x="3200400" y="624586"/>
                    <a:pt x="3020314" y="804672"/>
                    <a:pt x="2798064" y="804672"/>
                  </a:cubicBezTo>
                  <a:lnTo>
                    <a:pt x="402336" y="804672"/>
                  </a:ln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E7F0F3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4881860" y="6419088"/>
            <a:ext cx="2400300" cy="603504"/>
            <a:chOff x="0" y="0"/>
            <a:chExt cx="3200400" cy="80467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Facilitador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22960" y="7612380"/>
            <a:ext cx="16637508" cy="1371600"/>
            <a:chOff x="0" y="0"/>
            <a:chExt cx="22183344" cy="1828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18334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1609344"/>
                  </a:lnTo>
                  <a:cubicBezTo>
                    <a:pt x="22183344" y="1730502"/>
                    <a:pt x="22085046" y="1828800"/>
                    <a:pt x="21963887" y="1828800"/>
                  </a:cubicBezTo>
                  <a:lnTo>
                    <a:pt x="219456" y="1828800"/>
                  </a:lnTo>
                  <a:cubicBezTo>
                    <a:pt x="98298" y="1828800"/>
                    <a:pt x="0" y="1730502"/>
                    <a:pt x="0" y="160934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97280" y="7886700"/>
            <a:ext cx="822960" cy="822960"/>
            <a:chOff x="0" y="0"/>
            <a:chExt cx="10972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94790" y="8084210"/>
            <a:ext cx="427939" cy="427939"/>
            <a:chOff x="0" y="0"/>
            <a:chExt cx="570586" cy="570586"/>
          </a:xfrm>
        </p:grpSpPr>
        <p:sp>
          <p:nvSpPr>
            <p:cNvPr name="Freeform 69" id="69" descr="FiEdit3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2194560" y="7807452"/>
            <a:ext cx="562356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Presentación rediseñada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194560" y="8319135"/>
            <a:ext cx="562356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Más visual y con evidencias de avance</a:t>
            </a:r>
          </a:p>
        </p:txBody>
      </p:sp>
      <p:grpSp>
        <p:nvGrpSpPr>
          <p:cNvPr name="Group 72" id="72"/>
          <p:cNvGrpSpPr/>
          <p:nvPr/>
        </p:nvGrpSpPr>
        <p:grpSpPr>
          <a:xfrm rot="0">
            <a:off x="8161020" y="7749540"/>
            <a:ext cx="6446520" cy="1097280"/>
            <a:chOff x="0" y="0"/>
            <a:chExt cx="8595360" cy="1463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5953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5953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la Fase 1 el docente la vio apagada, sin íconos y con información faltante.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881860" y="7996428"/>
            <a:ext cx="2400300" cy="603504"/>
            <a:chOff x="0" y="0"/>
            <a:chExt cx="3200400" cy="8046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lnTo>
                    <a:pt x="2798064" y="0"/>
                  </a:lnTo>
                  <a:cubicBezTo>
                    <a:pt x="3020314" y="0"/>
                    <a:pt x="3200400" y="180086"/>
                    <a:pt x="3200400" y="402336"/>
                  </a:cubicBezTo>
                  <a:cubicBezTo>
                    <a:pt x="3200400" y="624586"/>
                    <a:pt x="3020314" y="804672"/>
                    <a:pt x="2798064" y="804672"/>
                  </a:cubicBezTo>
                  <a:lnTo>
                    <a:pt x="402336" y="804672"/>
                  </a:ln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CADCFC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4881860" y="7996428"/>
            <a:ext cx="2400300" cy="603504"/>
            <a:chOff x="0" y="0"/>
            <a:chExt cx="3200400" cy="80467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200400" cy="804672"/>
            </a:xfrm>
            <a:custGeom>
              <a:avLst/>
              <a:gdLst/>
              <a:ahLst/>
              <a:cxnLst/>
              <a:rect r="r" b="b" t="t" l="l"/>
              <a:pathLst>
                <a:path h="804672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97" r="0" b="-2749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320040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Feedback docente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Scrum aplicado: del backlog al incremento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2990088" cy="411480"/>
            <a:chOff x="0" y="0"/>
            <a:chExt cx="3986784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6784" cy="548640"/>
            </a:xfrm>
            <a:custGeom>
              <a:avLst/>
              <a:gdLst/>
              <a:ahLst/>
              <a:cxnLst/>
              <a:rect r="r" b="b" t="t" l="l"/>
              <a:pathLst>
                <a:path h="548640" w="398678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712464" y="0"/>
                  </a:lnTo>
                  <a:cubicBezTo>
                    <a:pt x="3863975" y="0"/>
                    <a:pt x="3986784" y="122809"/>
                    <a:pt x="3986784" y="274320"/>
                  </a:cubicBezTo>
                  <a:cubicBezTo>
                    <a:pt x="3986784" y="425831"/>
                    <a:pt x="3863975" y="548640"/>
                    <a:pt x="371246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2990088" cy="411480"/>
            <a:chOff x="0" y="0"/>
            <a:chExt cx="3986784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86784" cy="548640"/>
            </a:xfrm>
            <a:custGeom>
              <a:avLst/>
              <a:gdLst/>
              <a:ahLst/>
              <a:cxnLst/>
              <a:rect r="r" b="b" t="t" l="l"/>
              <a:pathLst>
                <a:path h="548640" w="3986784">
                  <a:moveTo>
                    <a:pt x="0" y="0"/>
                  </a:moveTo>
                  <a:lnTo>
                    <a:pt x="3986784" y="0"/>
                  </a:lnTo>
                  <a:lnTo>
                    <a:pt x="398678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98678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ÁGIL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8503920" cy="1508760"/>
            <a:chOff x="0" y="0"/>
            <a:chExt cx="11338560" cy="2011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3856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1792224"/>
                  </a:lnTo>
                  <a:cubicBezTo>
                    <a:pt x="11338561" y="1913382"/>
                    <a:pt x="11240262" y="2011680"/>
                    <a:pt x="11119104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2743200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3370" y="2940710"/>
            <a:ext cx="427939" cy="427939"/>
            <a:chOff x="0" y="0"/>
            <a:chExt cx="570586" cy="570586"/>
          </a:xfrm>
        </p:grpSpPr>
        <p:sp>
          <p:nvSpPr>
            <p:cNvPr name="Freeform 18" id="18" descr="FiFlag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331720" y="2636520"/>
            <a:ext cx="672084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0 · completado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331720" y="3148203"/>
            <a:ext cx="672084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Gobierno ágil, cuentas, arquitectura y datos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22960" y="4114800"/>
            <a:ext cx="8503920" cy="1508760"/>
            <a:chOff x="0" y="0"/>
            <a:chExt cx="11338560" cy="2011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33856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1792224"/>
                  </a:lnTo>
                  <a:cubicBezTo>
                    <a:pt x="11338561" y="1913382"/>
                    <a:pt x="11240262" y="2011680"/>
                    <a:pt x="11119104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65860" y="4457700"/>
            <a:ext cx="822960" cy="822960"/>
            <a:chOff x="0" y="0"/>
            <a:chExt cx="10972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63370" y="4655210"/>
            <a:ext cx="427939" cy="427939"/>
            <a:chOff x="0" y="0"/>
            <a:chExt cx="570586" cy="570586"/>
          </a:xfrm>
        </p:grpSpPr>
        <p:sp>
          <p:nvSpPr>
            <p:cNvPr name="Freeform 26" id="26" descr="FiList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331720" y="4351020"/>
            <a:ext cx="672084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 Backlog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31720" y="4862703"/>
            <a:ext cx="672084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Épicas, historias de usuario y criterios de aceptación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22960" y="5829300"/>
            <a:ext cx="8503920" cy="1508760"/>
            <a:chOff x="0" y="0"/>
            <a:chExt cx="11338560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3856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1792224"/>
                  </a:lnTo>
                  <a:cubicBezTo>
                    <a:pt x="11338561" y="1913382"/>
                    <a:pt x="11240262" y="2011680"/>
                    <a:pt x="11119104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65860" y="6172200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63370" y="6369710"/>
            <a:ext cx="427939" cy="427939"/>
            <a:chOff x="0" y="0"/>
            <a:chExt cx="570586" cy="570586"/>
          </a:xfrm>
        </p:grpSpPr>
        <p:sp>
          <p:nvSpPr>
            <p:cNvPr name="Freeform 34" id="34" descr="FiCalendar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2331720" y="6065520"/>
            <a:ext cx="672084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Ceremonias con minutas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331720" y="6577203"/>
            <a:ext cx="672084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Planning, revisión semanal, review y retrospectiva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2960" y="7543800"/>
            <a:ext cx="8503920" cy="1508760"/>
            <a:chOff x="0" y="0"/>
            <a:chExt cx="11338560" cy="2011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38561" cy="2011680"/>
            </a:xfrm>
            <a:custGeom>
              <a:avLst/>
              <a:gdLst/>
              <a:ahLst/>
              <a:cxnLst/>
              <a:rect r="r" b="b" t="t" l="l"/>
              <a:pathLst>
                <a:path h="2011680" w="113385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1119104" y="0"/>
                  </a:lnTo>
                  <a:cubicBezTo>
                    <a:pt x="11240262" y="0"/>
                    <a:pt x="11338561" y="98298"/>
                    <a:pt x="11338561" y="219456"/>
                  </a:cubicBezTo>
                  <a:lnTo>
                    <a:pt x="11338561" y="1792224"/>
                  </a:lnTo>
                  <a:cubicBezTo>
                    <a:pt x="11338561" y="1913382"/>
                    <a:pt x="11240262" y="2011680"/>
                    <a:pt x="11119104" y="2011680"/>
                  </a:cubicBezTo>
                  <a:lnTo>
                    <a:pt x="219456" y="2011680"/>
                  </a:lnTo>
                  <a:cubicBezTo>
                    <a:pt x="98298" y="2011680"/>
                    <a:pt x="0" y="1913382"/>
                    <a:pt x="0" y="17922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5860" y="7886700"/>
            <a:ext cx="822960" cy="822960"/>
            <a:chOff x="0" y="0"/>
            <a:chExt cx="10972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63370" y="8084210"/>
            <a:ext cx="427939" cy="427939"/>
            <a:chOff x="0" y="0"/>
            <a:chExt cx="570586" cy="570586"/>
          </a:xfrm>
        </p:grpSpPr>
        <p:sp>
          <p:nvSpPr>
            <p:cNvPr name="Freeform 42" id="42" descr="FiCheckSquare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4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2331720" y="7780020"/>
            <a:ext cx="672084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DoR y DoD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31720" y="8291703"/>
            <a:ext cx="6720840" cy="66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Criterios de “listo para iniciar” y “terminado”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1172130" y="2562139"/>
            <a:ext cx="5950010" cy="5950010"/>
            <a:chOff x="0" y="0"/>
            <a:chExt cx="7933347" cy="7933347"/>
          </a:xfrm>
        </p:grpSpPr>
        <p:sp>
          <p:nvSpPr>
            <p:cNvPr name="Freeform 47" id="47" descr="ágil metodología icono 27526337 Vector en Vecteezy"/>
            <p:cNvSpPr/>
            <p:nvPr/>
          </p:nvSpPr>
          <p:spPr>
            <a:xfrm flipH="false" flipV="false" rot="0">
              <a:off x="0" y="0"/>
              <a:ext cx="7933309" cy="7933309"/>
            </a:xfrm>
            <a:custGeom>
              <a:avLst/>
              <a:gdLst/>
              <a:ahLst/>
              <a:cxnLst/>
              <a:rect r="r" b="b" t="t" l="l"/>
              <a:pathLst>
                <a:path h="7933309" w="7933309">
                  <a:moveTo>
                    <a:pt x="0" y="0"/>
                  </a:moveTo>
                  <a:lnTo>
                    <a:pt x="7933309" y="0"/>
                  </a:lnTo>
                  <a:lnTo>
                    <a:pt x="7933309" y="7933309"/>
                  </a:lnTo>
                  <a:lnTo>
                    <a:pt x="0" y="79333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Arquitectura serverless sobre Firebase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278124" cy="411480"/>
            <a:chOff x="0" y="0"/>
            <a:chExt cx="4370832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70832" cy="548640"/>
            </a:xfrm>
            <a:custGeom>
              <a:avLst/>
              <a:gdLst/>
              <a:ahLst/>
              <a:cxnLst/>
              <a:rect r="r" b="b" t="t" l="l"/>
              <a:pathLst>
                <a:path h="548640" w="4370832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096512" y="0"/>
                  </a:lnTo>
                  <a:cubicBezTo>
                    <a:pt x="4248023" y="0"/>
                    <a:pt x="4370832" y="122809"/>
                    <a:pt x="4370832" y="274320"/>
                  </a:cubicBezTo>
                  <a:cubicBezTo>
                    <a:pt x="4370832" y="425831"/>
                    <a:pt x="4248023" y="548640"/>
                    <a:pt x="4096512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278124" cy="411480"/>
            <a:chOff x="0" y="0"/>
            <a:chExt cx="4370832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70832" cy="548640"/>
            </a:xfrm>
            <a:custGeom>
              <a:avLst/>
              <a:gdLst/>
              <a:ahLst/>
              <a:cxnLst/>
              <a:rect r="r" b="b" t="t" l="l"/>
              <a:pathLst>
                <a:path h="54864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230" r="0" b="-1052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70832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DEL SISTEMA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10561320" cy="6652260"/>
            <a:chOff x="0" y="0"/>
            <a:chExt cx="14081760" cy="8869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81761" cy="8869680"/>
            </a:xfrm>
            <a:custGeom>
              <a:avLst/>
              <a:gdLst/>
              <a:ahLst/>
              <a:cxnLst/>
              <a:rect r="r" b="b" t="t" l="l"/>
              <a:pathLst>
                <a:path h="8869680" w="1408176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3862304" y="0"/>
                  </a:lnTo>
                  <a:cubicBezTo>
                    <a:pt x="13983463" y="0"/>
                    <a:pt x="14081761" y="98298"/>
                    <a:pt x="14081761" y="219456"/>
                  </a:cubicBezTo>
                  <a:lnTo>
                    <a:pt x="14081761" y="8650224"/>
                  </a:lnTo>
                  <a:cubicBezTo>
                    <a:pt x="14081761" y="8771382"/>
                    <a:pt x="13983463" y="8869680"/>
                    <a:pt x="13862304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65860" y="2558415"/>
            <a:ext cx="987552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Ionic + Angular · Firebase · Servicios externos · BI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7280" y="3291840"/>
            <a:ext cx="10012680" cy="5280660"/>
            <a:chOff x="0" y="0"/>
            <a:chExt cx="13350240" cy="7040880"/>
          </a:xfrm>
        </p:grpSpPr>
        <p:sp>
          <p:nvSpPr>
            <p:cNvPr name="Freeform 17" id="17" descr="Diagrama de arquitectura ServiGo"/>
            <p:cNvSpPr/>
            <p:nvPr/>
          </p:nvSpPr>
          <p:spPr>
            <a:xfrm flipH="false" flipV="false" rot="0">
              <a:off x="0" y="0"/>
              <a:ext cx="13350239" cy="7040880"/>
            </a:xfrm>
            <a:custGeom>
              <a:avLst/>
              <a:gdLst/>
              <a:ahLst/>
              <a:cxnLst/>
              <a:rect r="r" b="b" t="t" l="l"/>
              <a:pathLst>
                <a:path h="7040880" w="13350239">
                  <a:moveTo>
                    <a:pt x="0" y="0"/>
                  </a:moveTo>
                  <a:lnTo>
                    <a:pt x="13350239" y="0"/>
                  </a:lnTo>
                  <a:lnTo>
                    <a:pt x="13350239" y="7040880"/>
                  </a:lnTo>
                  <a:lnTo>
                    <a:pt x="0" y="704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" t="0" r="-2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727180" y="2400300"/>
            <a:ext cx="5733288" cy="6652260"/>
            <a:chOff x="0" y="0"/>
            <a:chExt cx="7644384" cy="8869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44385" cy="8869680"/>
            </a:xfrm>
            <a:custGeom>
              <a:avLst/>
              <a:gdLst/>
              <a:ahLst/>
              <a:cxnLst/>
              <a:rect r="r" b="b" t="t" l="l"/>
              <a:pathLst>
                <a:path h="8869680" w="7644385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424928" y="0"/>
                  </a:lnTo>
                  <a:cubicBezTo>
                    <a:pt x="7546086" y="0"/>
                    <a:pt x="7644385" y="98298"/>
                    <a:pt x="7644385" y="219456"/>
                  </a:cubicBezTo>
                  <a:lnTo>
                    <a:pt x="7644385" y="8650224"/>
                  </a:lnTo>
                  <a:cubicBezTo>
                    <a:pt x="7644385" y="8771382"/>
                    <a:pt x="7546086" y="8869680"/>
                    <a:pt x="7424928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070080" y="2595372"/>
            <a:ext cx="507492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Casos de uso prioritarios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70080" y="3429000"/>
            <a:ext cx="1303020" cy="548640"/>
            <a:chOff x="0" y="0"/>
            <a:chExt cx="173736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371600" y="0"/>
                  </a:lnTo>
                  <a:cubicBezTo>
                    <a:pt x="1573657" y="0"/>
                    <a:pt x="1737360" y="163703"/>
                    <a:pt x="1737360" y="365760"/>
                  </a:cubicBezTo>
                  <a:cubicBezTo>
                    <a:pt x="1737360" y="567817"/>
                    <a:pt x="1573657" y="731520"/>
                    <a:pt x="137160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70080" y="3429000"/>
            <a:ext cx="1303020" cy="548640"/>
            <a:chOff x="0" y="0"/>
            <a:chExt cx="17373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37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CU-005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578840" y="3360420"/>
            <a:ext cx="3703320" cy="685800"/>
            <a:chOff x="0" y="0"/>
            <a:chExt cx="493776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0" cy="914400"/>
            </a:xfrm>
            <a:custGeom>
              <a:avLst/>
              <a:gdLst/>
              <a:ahLst/>
              <a:cxnLst/>
              <a:rect r="r" b="b" t="t" l="l"/>
              <a:pathLst>
                <a:path h="91440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9377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Publicar solicitud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070080" y="4279392"/>
            <a:ext cx="1303020" cy="548640"/>
            <a:chOff x="0" y="0"/>
            <a:chExt cx="17373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371600" y="0"/>
                  </a:lnTo>
                  <a:cubicBezTo>
                    <a:pt x="1573657" y="0"/>
                    <a:pt x="1737360" y="163703"/>
                    <a:pt x="1737360" y="365760"/>
                  </a:cubicBezTo>
                  <a:cubicBezTo>
                    <a:pt x="1737360" y="567817"/>
                    <a:pt x="1573657" y="731520"/>
                    <a:pt x="137160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070080" y="4279392"/>
            <a:ext cx="1303020" cy="548640"/>
            <a:chOff x="0" y="0"/>
            <a:chExt cx="17373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737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CU-006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578840" y="4210812"/>
            <a:ext cx="3703320" cy="685800"/>
            <a:chOff x="0" y="0"/>
            <a:chExt cx="493776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937760" cy="914400"/>
            </a:xfrm>
            <a:custGeom>
              <a:avLst/>
              <a:gdLst/>
              <a:ahLst/>
              <a:cxnLst/>
              <a:rect r="r" b="b" t="t" l="l"/>
              <a:pathLst>
                <a:path h="91440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49377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Buscar y notificar técnicos cercanos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070080" y="5129784"/>
            <a:ext cx="1303020" cy="548640"/>
            <a:chOff x="0" y="0"/>
            <a:chExt cx="173736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371600" y="0"/>
                  </a:lnTo>
                  <a:cubicBezTo>
                    <a:pt x="1573657" y="0"/>
                    <a:pt x="1737360" y="163703"/>
                    <a:pt x="1737360" y="365760"/>
                  </a:cubicBezTo>
                  <a:cubicBezTo>
                    <a:pt x="1737360" y="567817"/>
                    <a:pt x="1573657" y="731520"/>
                    <a:pt x="137160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070080" y="5129784"/>
            <a:ext cx="1303020" cy="548640"/>
            <a:chOff x="0" y="0"/>
            <a:chExt cx="173736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737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CU-008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78840" y="5061204"/>
            <a:ext cx="3703320" cy="685800"/>
            <a:chOff x="0" y="0"/>
            <a:chExt cx="493776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937760" cy="914400"/>
            </a:xfrm>
            <a:custGeom>
              <a:avLst/>
              <a:gdLst/>
              <a:ahLst/>
              <a:cxnLst/>
              <a:rect r="r" b="b" t="t" l="l"/>
              <a:pathLst>
                <a:path h="91440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9377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Seguimiento del servicio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070080" y="5980176"/>
            <a:ext cx="1303020" cy="548640"/>
            <a:chOff x="0" y="0"/>
            <a:chExt cx="17373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371600" y="0"/>
                  </a:lnTo>
                  <a:cubicBezTo>
                    <a:pt x="1573657" y="0"/>
                    <a:pt x="1737360" y="163703"/>
                    <a:pt x="1737360" y="365760"/>
                  </a:cubicBezTo>
                  <a:cubicBezTo>
                    <a:pt x="1737360" y="567817"/>
                    <a:pt x="1573657" y="731520"/>
                    <a:pt x="137160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070080" y="5980176"/>
            <a:ext cx="1303020" cy="548640"/>
            <a:chOff x="0" y="0"/>
            <a:chExt cx="17373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737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CU-011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578840" y="5911596"/>
            <a:ext cx="3703320" cy="685800"/>
            <a:chOff x="0" y="0"/>
            <a:chExt cx="493776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937760" cy="914400"/>
            </a:xfrm>
            <a:custGeom>
              <a:avLst/>
              <a:gdLst/>
              <a:ahLst/>
              <a:cxnLst/>
              <a:rect r="r" b="b" t="t" l="l"/>
              <a:pathLst>
                <a:path h="91440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9377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Gestionar pago sandbox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070080" y="6830568"/>
            <a:ext cx="1303020" cy="548640"/>
            <a:chOff x="0" y="0"/>
            <a:chExt cx="17373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371600" y="0"/>
                  </a:lnTo>
                  <a:cubicBezTo>
                    <a:pt x="1573657" y="0"/>
                    <a:pt x="1737360" y="163703"/>
                    <a:pt x="1737360" y="365760"/>
                  </a:cubicBezTo>
                  <a:cubicBezTo>
                    <a:pt x="1737360" y="567817"/>
                    <a:pt x="1573657" y="731520"/>
                    <a:pt x="137160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070080" y="6830568"/>
            <a:ext cx="1303020" cy="548640"/>
            <a:chOff x="0" y="0"/>
            <a:chExt cx="173736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1737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CU-013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578840" y="6761988"/>
            <a:ext cx="3703320" cy="685800"/>
            <a:chOff x="0" y="0"/>
            <a:chExt cx="493776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937760" cy="914400"/>
            </a:xfrm>
            <a:custGeom>
              <a:avLst/>
              <a:gdLst/>
              <a:ahLst/>
              <a:cxnLst/>
              <a:rect r="r" b="b" t="t" l="l"/>
              <a:pathLst>
                <a:path h="91440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49377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Evaluar técnico y cliente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070080" y="7680960"/>
            <a:ext cx="1303020" cy="548640"/>
            <a:chOff x="0" y="0"/>
            <a:chExt cx="1737360" cy="7315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1371600" y="0"/>
                  </a:lnTo>
                  <a:cubicBezTo>
                    <a:pt x="1573657" y="0"/>
                    <a:pt x="1737360" y="163703"/>
                    <a:pt x="1737360" y="365760"/>
                  </a:cubicBezTo>
                  <a:cubicBezTo>
                    <a:pt x="1737360" y="567817"/>
                    <a:pt x="1573657" y="731520"/>
                    <a:pt x="137160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070080" y="7680960"/>
            <a:ext cx="1303020" cy="548640"/>
            <a:chOff x="0" y="0"/>
            <a:chExt cx="173736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37360" cy="731520"/>
            </a:xfrm>
            <a:custGeom>
              <a:avLst/>
              <a:gdLst/>
              <a:ahLst/>
              <a:cxnLst/>
              <a:rect r="r" b="b" t="t" l="l"/>
              <a:pathLst>
                <a:path h="73152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022" t="0" r="-4022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7373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CU-015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578840" y="7612380"/>
            <a:ext cx="3703320" cy="685800"/>
            <a:chOff x="0" y="0"/>
            <a:chExt cx="493776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937760" cy="914400"/>
            </a:xfrm>
            <a:custGeom>
              <a:avLst/>
              <a:gdLst/>
              <a:ahLst/>
              <a:cxnLst/>
              <a:rect r="r" b="b" t="t" l="l"/>
              <a:pathLst>
                <a:path h="91440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93776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Consultar demanda por zona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2070080" y="8397240"/>
            <a:ext cx="51435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0263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Actores: Cliente, Técnico, Administrador, Sistema y Pasarela de Pago.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Proceso TO-BE y recomendación territorial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278124" cy="411480"/>
            <a:chOff x="0" y="0"/>
            <a:chExt cx="4370832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70832" cy="548640"/>
            </a:xfrm>
            <a:custGeom>
              <a:avLst/>
              <a:gdLst/>
              <a:ahLst/>
              <a:cxnLst/>
              <a:rect r="r" b="b" t="t" l="l"/>
              <a:pathLst>
                <a:path h="548640" w="4370832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096512" y="0"/>
                  </a:lnTo>
                  <a:cubicBezTo>
                    <a:pt x="4248023" y="0"/>
                    <a:pt x="4370832" y="122809"/>
                    <a:pt x="4370832" y="274320"/>
                  </a:cubicBezTo>
                  <a:cubicBezTo>
                    <a:pt x="4370832" y="425831"/>
                    <a:pt x="4248023" y="548640"/>
                    <a:pt x="4096512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278124" cy="411480"/>
            <a:chOff x="0" y="0"/>
            <a:chExt cx="4370832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70832" cy="548640"/>
            </a:xfrm>
            <a:custGeom>
              <a:avLst/>
              <a:gdLst/>
              <a:ahLst/>
              <a:cxnLst/>
              <a:rect r="r" b="b" t="t" l="l"/>
              <a:pathLst>
                <a:path h="54864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230" r="0" b="-1052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70832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PROCESO DE NEGOCIO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22960" y="2293620"/>
            <a:ext cx="109728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Atención de un servicio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822960" y="2880360"/>
            <a:ext cx="3017520" cy="2606040"/>
            <a:chOff x="0" y="0"/>
            <a:chExt cx="4023360" cy="3474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3086100"/>
            <a:ext cx="754380" cy="754380"/>
            <a:chOff x="0" y="0"/>
            <a:chExt cx="100584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9751" y="3267151"/>
            <a:ext cx="392278" cy="392278"/>
            <a:chOff x="0" y="0"/>
            <a:chExt cx="523037" cy="523037"/>
          </a:xfrm>
        </p:grpSpPr>
        <p:sp>
          <p:nvSpPr>
            <p:cNvPr name="Freeform 19" id="19" descr="FiUser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28700" y="393954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41007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Publica necesidad, ubicación y evidencia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867912" y="4087368"/>
            <a:ext cx="329184" cy="329184"/>
            <a:chOff x="0" y="0"/>
            <a:chExt cx="438912" cy="438912"/>
          </a:xfrm>
        </p:grpSpPr>
        <p:sp>
          <p:nvSpPr>
            <p:cNvPr name="Freeform 23" id="23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224528" y="2880360"/>
            <a:ext cx="3017520" cy="2606040"/>
            <a:chOff x="0" y="0"/>
            <a:chExt cx="4023360" cy="3474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430268" y="3086100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4611319" y="3267151"/>
            <a:ext cx="392278" cy="392278"/>
            <a:chOff x="0" y="0"/>
            <a:chExt cx="523037" cy="523037"/>
          </a:xfrm>
        </p:grpSpPr>
        <p:sp>
          <p:nvSpPr>
            <p:cNvPr name="Freeform 29" id="29" descr="FiCpu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4430268" y="393954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ServiGo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30268" y="441007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Valida datos y busca técnicos cercanos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7269480" y="4087368"/>
            <a:ext cx="329184" cy="329184"/>
            <a:chOff x="0" y="0"/>
            <a:chExt cx="438912" cy="438912"/>
          </a:xfrm>
        </p:grpSpPr>
        <p:sp>
          <p:nvSpPr>
            <p:cNvPr name="Freeform 33" id="33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7626096" y="2880360"/>
            <a:ext cx="3017520" cy="2606040"/>
            <a:chOff x="0" y="0"/>
            <a:chExt cx="4023360" cy="3474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831836" y="3086100"/>
            <a:ext cx="754380" cy="754380"/>
            <a:chOff x="0" y="0"/>
            <a:chExt cx="1005840" cy="1005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012887" y="3267151"/>
            <a:ext cx="392278" cy="392278"/>
            <a:chOff x="0" y="0"/>
            <a:chExt cx="523037" cy="523037"/>
          </a:xfrm>
        </p:grpSpPr>
        <p:sp>
          <p:nvSpPr>
            <p:cNvPr name="Freeform 39" id="39" descr="FiTool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7831836" y="393954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Técnico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31836" y="441007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Acepta, cotiza y va al domicilio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671048" y="4087368"/>
            <a:ext cx="329184" cy="329184"/>
            <a:chOff x="0" y="0"/>
            <a:chExt cx="438912" cy="438912"/>
          </a:xfrm>
        </p:grpSpPr>
        <p:sp>
          <p:nvSpPr>
            <p:cNvPr name="Freeform 43" id="43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027664" y="2880360"/>
            <a:ext cx="3017520" cy="2606040"/>
            <a:chOff x="0" y="0"/>
            <a:chExt cx="4023360" cy="3474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233404" y="3086100"/>
            <a:ext cx="754380" cy="754380"/>
            <a:chOff x="0" y="0"/>
            <a:chExt cx="1005840" cy="1005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414455" y="3267151"/>
            <a:ext cx="392278" cy="392278"/>
            <a:chOff x="0" y="0"/>
            <a:chExt cx="523037" cy="523037"/>
          </a:xfrm>
        </p:grpSpPr>
        <p:sp>
          <p:nvSpPr>
            <p:cNvPr name="Freeform 49" id="49" descr="FiCamera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9" b="-9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1233404" y="393954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Servicio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233404" y="441007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Se ejecuta y registra evidencia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4072616" y="4087368"/>
            <a:ext cx="329184" cy="329184"/>
            <a:chOff x="0" y="0"/>
            <a:chExt cx="438912" cy="438912"/>
          </a:xfrm>
        </p:grpSpPr>
        <p:sp>
          <p:nvSpPr>
            <p:cNvPr name="Freeform 53" id="53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429232" y="2880360"/>
            <a:ext cx="3017520" cy="2606040"/>
            <a:chOff x="0" y="0"/>
            <a:chExt cx="4023360" cy="3474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4634972" y="3086100"/>
            <a:ext cx="754380" cy="754380"/>
            <a:chOff x="0" y="0"/>
            <a:chExt cx="1005840" cy="1005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816023" y="3267151"/>
            <a:ext cx="392278" cy="392278"/>
            <a:chOff x="0" y="0"/>
            <a:chExt cx="523037" cy="523037"/>
          </a:xfrm>
        </p:grpSpPr>
        <p:sp>
          <p:nvSpPr>
            <p:cNvPr name="Freeform 59" id="59" descr="FiAward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9" b="-9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14634972" y="393954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Cierre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634972" y="441007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Pago, evaluación y analítica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22960" y="5859780"/>
            <a:ext cx="109728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Proceso analítico: recomendación al técnico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22960" y="6446520"/>
            <a:ext cx="3017520" cy="2606040"/>
            <a:chOff x="0" y="0"/>
            <a:chExt cx="4023360" cy="3474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8700" y="6652260"/>
            <a:ext cx="754380" cy="754380"/>
            <a:chOff x="0" y="0"/>
            <a:chExt cx="100584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09751" y="6833311"/>
            <a:ext cx="392278" cy="392278"/>
            <a:chOff x="0" y="0"/>
            <a:chExt cx="523037" cy="523037"/>
          </a:xfrm>
        </p:grpSpPr>
        <p:sp>
          <p:nvSpPr>
            <p:cNvPr name="Freeform 68" id="68" descr="FiDatabase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9" b="-9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1028700" y="750570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Datos históricos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8700" y="797623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Servicios por zona, categoría y hora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3867912" y="7653528"/>
            <a:ext cx="329184" cy="329184"/>
            <a:chOff x="0" y="0"/>
            <a:chExt cx="438912" cy="438912"/>
          </a:xfrm>
        </p:grpSpPr>
        <p:sp>
          <p:nvSpPr>
            <p:cNvPr name="Freeform 72" id="72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224528" y="6446520"/>
            <a:ext cx="3017520" cy="2606040"/>
            <a:chOff x="0" y="0"/>
            <a:chExt cx="4023360" cy="34747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430268" y="6652260"/>
            <a:ext cx="754380" cy="754380"/>
            <a:chOff x="0" y="0"/>
            <a:chExt cx="1005840" cy="10058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4611319" y="6833311"/>
            <a:ext cx="392278" cy="392278"/>
            <a:chOff x="0" y="0"/>
            <a:chExt cx="523037" cy="523037"/>
          </a:xfrm>
        </p:grpSpPr>
        <p:sp>
          <p:nvSpPr>
            <p:cNvPr name="Freeform 78" id="78" descr="FiRefreshCw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9" b="-9"/>
              </a:stretch>
            </a:blip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4430268" y="750570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ETL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430268" y="797623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Normaliza datos para BI y minería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7269480" y="7653528"/>
            <a:ext cx="329184" cy="329184"/>
            <a:chOff x="0" y="0"/>
            <a:chExt cx="438912" cy="438912"/>
          </a:xfrm>
        </p:grpSpPr>
        <p:sp>
          <p:nvSpPr>
            <p:cNvPr name="Freeform 82" id="82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626096" y="6446520"/>
            <a:ext cx="3017520" cy="2606040"/>
            <a:chOff x="0" y="0"/>
            <a:chExt cx="4023360" cy="34747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831836" y="6652260"/>
            <a:ext cx="754380" cy="754380"/>
            <a:chOff x="0" y="0"/>
            <a:chExt cx="1005840" cy="10058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8012887" y="6833311"/>
            <a:ext cx="392278" cy="392278"/>
            <a:chOff x="0" y="0"/>
            <a:chExt cx="523037" cy="523037"/>
          </a:xfrm>
        </p:grpSpPr>
        <p:sp>
          <p:nvSpPr>
            <p:cNvPr name="Freeform 88" id="88" descr="FiActivity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9" b="-9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7831836" y="750570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Modelo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831836" y="797623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 probabilidad de demanda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0671048" y="7653528"/>
            <a:ext cx="329184" cy="329184"/>
            <a:chOff x="0" y="0"/>
            <a:chExt cx="438912" cy="438912"/>
          </a:xfrm>
        </p:grpSpPr>
        <p:sp>
          <p:nvSpPr>
            <p:cNvPr name="Freeform 92" id="92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1027664" y="6446520"/>
            <a:ext cx="3017520" cy="2606040"/>
            <a:chOff x="0" y="0"/>
            <a:chExt cx="4023360" cy="347472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1233404" y="6652260"/>
            <a:ext cx="754380" cy="754380"/>
            <a:chOff x="0" y="0"/>
            <a:chExt cx="1005840" cy="10058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1414455" y="6833311"/>
            <a:ext cx="392278" cy="392278"/>
            <a:chOff x="0" y="0"/>
            <a:chExt cx="523037" cy="523037"/>
          </a:xfrm>
        </p:grpSpPr>
        <p:sp>
          <p:nvSpPr>
            <p:cNvPr name="Freeform 98" id="98" descr="FiMap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9" b="-9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1233404" y="750570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Recomendación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1233404" y="797623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Sugiere comunas con más oportunidad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14072616" y="7653528"/>
            <a:ext cx="329184" cy="329184"/>
            <a:chOff x="0" y="0"/>
            <a:chExt cx="438912" cy="438912"/>
          </a:xfrm>
        </p:grpSpPr>
        <p:sp>
          <p:nvSpPr>
            <p:cNvPr name="Freeform 102" id="102" descr="siguiente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4429232" y="6446520"/>
            <a:ext cx="3017520" cy="2606040"/>
            <a:chOff x="0" y="0"/>
            <a:chExt cx="4023360" cy="34747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023360" cy="3474720"/>
            </a:xfrm>
            <a:custGeom>
              <a:avLst/>
              <a:gdLst/>
              <a:ahLst/>
              <a:cxnLst/>
              <a:rect r="r" b="b" t="t" l="l"/>
              <a:pathLst>
                <a:path h="3474720" w="40233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803904" y="0"/>
                  </a:lnTo>
                  <a:cubicBezTo>
                    <a:pt x="3925062" y="0"/>
                    <a:pt x="4023360" y="98298"/>
                    <a:pt x="4023360" y="219456"/>
                  </a:cubicBezTo>
                  <a:lnTo>
                    <a:pt x="4023360" y="3255264"/>
                  </a:lnTo>
                  <a:cubicBezTo>
                    <a:pt x="4023360" y="3376422"/>
                    <a:pt x="3925062" y="3474720"/>
                    <a:pt x="3803904" y="3474720"/>
                  </a:cubicBezTo>
                  <a:lnTo>
                    <a:pt x="219456" y="3474720"/>
                  </a:lnTo>
                  <a:cubicBezTo>
                    <a:pt x="98298" y="3474720"/>
                    <a:pt x="0" y="3376422"/>
                    <a:pt x="0" y="3255264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4634972" y="6652260"/>
            <a:ext cx="754380" cy="754380"/>
            <a:chOff x="0" y="0"/>
            <a:chExt cx="1005840" cy="10058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4816023" y="6833311"/>
            <a:ext cx="392278" cy="392278"/>
            <a:chOff x="0" y="0"/>
            <a:chExt cx="523037" cy="523037"/>
          </a:xfrm>
        </p:grpSpPr>
        <p:sp>
          <p:nvSpPr>
            <p:cNvPr name="Freeform 108" id="108" descr="FiNavigation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9" b="-9"/>
              </a:stretch>
            </a:blipFill>
          </p:spPr>
        </p:sp>
      </p:grpSp>
      <p:sp>
        <p:nvSpPr>
          <p:cNvPr name="TextBox 109" id="109"/>
          <p:cNvSpPr txBox="true"/>
          <p:nvPr/>
        </p:nvSpPr>
        <p:spPr>
          <a:xfrm rot="0">
            <a:off x="14634972" y="7505700"/>
            <a:ext cx="260604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Decisión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4634972" y="7976235"/>
            <a:ext cx="26746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El técnico se desplaza o ajusta disponibilidad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Modelo de datos NoSQL en Cloud Firestore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2846070" cy="411480"/>
            <a:chOff x="0" y="0"/>
            <a:chExt cx="379476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94760" cy="548640"/>
            </a:xfrm>
            <a:custGeom>
              <a:avLst/>
              <a:gdLst/>
              <a:ahLst/>
              <a:cxnLst/>
              <a:rect r="r" b="b" t="t" l="l"/>
              <a:pathLst>
                <a:path h="548640" w="379476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520440" y="0"/>
                  </a:lnTo>
                  <a:cubicBezTo>
                    <a:pt x="3671951" y="0"/>
                    <a:pt x="3794760" y="122809"/>
                    <a:pt x="3794760" y="274320"/>
                  </a:cubicBezTo>
                  <a:cubicBezTo>
                    <a:pt x="3794760" y="425831"/>
                    <a:pt x="3671951" y="548640"/>
                    <a:pt x="352044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2846070" cy="411480"/>
            <a:chOff x="0" y="0"/>
            <a:chExt cx="379476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94760" cy="548640"/>
            </a:xfrm>
            <a:custGeom>
              <a:avLst/>
              <a:gdLst/>
              <a:ahLst/>
              <a:cxnLst/>
              <a:rect r="r" b="b" t="t" l="l"/>
              <a:pathLst>
                <a:path h="548640" w="3794760">
                  <a:moveTo>
                    <a:pt x="0" y="0"/>
                  </a:moveTo>
                  <a:lnTo>
                    <a:pt x="3794760" y="0"/>
                  </a:lnTo>
                  <a:lnTo>
                    <a:pt x="3794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771" r="0" b="-8477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7947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DATOS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7269480" cy="6652260"/>
            <a:chOff x="0" y="0"/>
            <a:chExt cx="9692640" cy="88696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92640" cy="8869680"/>
            </a:xfrm>
            <a:custGeom>
              <a:avLst/>
              <a:gdLst/>
              <a:ahLst/>
              <a:cxnLst/>
              <a:rect r="r" b="b" t="t" l="l"/>
              <a:pathLst>
                <a:path h="8869680" w="96926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9473184" y="0"/>
                  </a:lnTo>
                  <a:cubicBezTo>
                    <a:pt x="9594342" y="0"/>
                    <a:pt x="9692640" y="98298"/>
                    <a:pt x="9692640" y="219456"/>
                  </a:cubicBezTo>
                  <a:lnTo>
                    <a:pt x="9692640" y="8650224"/>
                  </a:lnTo>
                  <a:cubicBezTo>
                    <a:pt x="9692640" y="8771382"/>
                    <a:pt x="9594342" y="8869680"/>
                    <a:pt x="9473184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606040"/>
            <a:ext cx="6720840" cy="6240780"/>
            <a:chOff x="0" y="0"/>
            <a:chExt cx="8961120" cy="8321040"/>
          </a:xfrm>
        </p:grpSpPr>
        <p:sp>
          <p:nvSpPr>
            <p:cNvPr name="Freeform 16" id="16" descr="Diagrama del modelo Firestore"/>
            <p:cNvSpPr/>
            <p:nvPr/>
          </p:nvSpPr>
          <p:spPr>
            <a:xfrm flipH="false" flipV="false" rot="0">
              <a:off x="0" y="0"/>
              <a:ext cx="8961120" cy="8321040"/>
            </a:xfrm>
            <a:custGeom>
              <a:avLst/>
              <a:gdLst/>
              <a:ahLst/>
              <a:cxnLst/>
              <a:rect r="r" b="b" t="t" l="l"/>
              <a:pathLst>
                <a:path h="83210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321040"/>
                  </a:lnTo>
                  <a:lnTo>
                    <a:pt x="0" y="8321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130" r="0" b="-313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03920" y="2400300"/>
            <a:ext cx="4389120" cy="2811780"/>
            <a:chOff x="0" y="0"/>
            <a:chExt cx="5852160" cy="3749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3529584"/>
                  </a:lnTo>
                  <a:cubicBezTo>
                    <a:pt x="5852160" y="3650742"/>
                    <a:pt x="5753862" y="3749040"/>
                    <a:pt x="563270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778240" y="2647188"/>
            <a:ext cx="685800" cy="685800"/>
            <a:chOff x="0" y="0"/>
            <a:chExt cx="9144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942832" y="2811780"/>
            <a:ext cx="356616" cy="356616"/>
            <a:chOff x="0" y="0"/>
            <a:chExt cx="475488" cy="475488"/>
          </a:xfrm>
        </p:grpSpPr>
        <p:sp>
          <p:nvSpPr>
            <p:cNvPr name="Freeform 22" id="22" descr="FiUsers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669780" y="2647188"/>
            <a:ext cx="3017520" cy="685800"/>
            <a:chOff x="0" y="0"/>
            <a:chExt cx="402336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023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Identidad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8846820" y="3518535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46820" y="4026027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technicianProfiles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46820" y="4533519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serviceCategories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098780" y="2400300"/>
            <a:ext cx="4389120" cy="2811780"/>
            <a:chOff x="0" y="0"/>
            <a:chExt cx="5852160" cy="3749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3529584"/>
                  </a:lnTo>
                  <a:cubicBezTo>
                    <a:pt x="5852160" y="3650742"/>
                    <a:pt x="5753862" y="3749040"/>
                    <a:pt x="563270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73100" y="2647188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537692" y="2811780"/>
            <a:ext cx="356616" cy="356616"/>
            <a:chOff x="0" y="0"/>
            <a:chExt cx="475488" cy="475488"/>
          </a:xfrm>
        </p:grpSpPr>
        <p:sp>
          <p:nvSpPr>
            <p:cNvPr name="Freeform 34" id="34" descr="FiLayers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264640" y="2647188"/>
            <a:ext cx="3017520" cy="685800"/>
            <a:chOff x="0" y="0"/>
            <a:chExt cx="402336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023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Operación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3441680" y="3518535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serviceRequests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441680" y="4026027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services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441680" y="4533519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notifications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503920" y="5417820"/>
            <a:ext cx="4389120" cy="2811780"/>
            <a:chOff x="0" y="0"/>
            <a:chExt cx="5852160" cy="3749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5216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3529584"/>
                  </a:lnTo>
                  <a:cubicBezTo>
                    <a:pt x="5852160" y="3650742"/>
                    <a:pt x="5753862" y="3749040"/>
                    <a:pt x="563270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778240" y="5664708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42832" y="5829300"/>
            <a:ext cx="356616" cy="356616"/>
            <a:chOff x="0" y="0"/>
            <a:chExt cx="475488" cy="475488"/>
          </a:xfrm>
        </p:grpSpPr>
        <p:sp>
          <p:nvSpPr>
            <p:cNvPr name="Freeform 46" id="46" descr="FiMessageSquar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669780" y="5664708"/>
            <a:ext cx="3017520" cy="685800"/>
            <a:chOff x="0" y="0"/>
            <a:chExt cx="402336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023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Interacción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8846820" y="6536055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chats / messages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846820" y="7043547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846820" y="7551039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complaints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13098780" y="5417820"/>
            <a:ext cx="4389120" cy="2811780"/>
            <a:chOff x="0" y="0"/>
            <a:chExt cx="5852160" cy="3749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0" cy="3749040"/>
            </a:xfrm>
            <a:custGeom>
              <a:avLst/>
              <a:gdLst/>
              <a:ahLst/>
              <a:cxnLst/>
              <a:rect r="r" b="b" t="t" l="l"/>
              <a:pathLst>
                <a:path h="3749040" w="585216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632704" y="0"/>
                  </a:lnTo>
                  <a:cubicBezTo>
                    <a:pt x="5753862" y="0"/>
                    <a:pt x="5852160" y="98298"/>
                    <a:pt x="5852160" y="219456"/>
                  </a:cubicBezTo>
                  <a:lnTo>
                    <a:pt x="5852160" y="3529584"/>
                  </a:lnTo>
                  <a:cubicBezTo>
                    <a:pt x="5852160" y="3650742"/>
                    <a:pt x="5753862" y="3749040"/>
                    <a:pt x="5632704" y="3749040"/>
                  </a:cubicBezTo>
                  <a:lnTo>
                    <a:pt x="219456" y="3749040"/>
                  </a:lnTo>
                  <a:cubicBezTo>
                    <a:pt x="98298" y="3749040"/>
                    <a:pt x="0" y="3650742"/>
                    <a:pt x="0" y="35295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3373100" y="5664708"/>
            <a:ext cx="685800" cy="685800"/>
            <a:chOff x="0" y="0"/>
            <a:chExt cx="9144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3537692" y="5829300"/>
            <a:ext cx="356616" cy="356616"/>
            <a:chOff x="0" y="0"/>
            <a:chExt cx="475488" cy="475488"/>
          </a:xfrm>
        </p:grpSpPr>
        <p:sp>
          <p:nvSpPr>
            <p:cNvPr name="Freeform 58" id="58" descr="FiBarChart2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264640" y="5664708"/>
            <a:ext cx="3017520" cy="685800"/>
            <a:chOff x="0" y="0"/>
            <a:chExt cx="402336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023360" cy="914400"/>
            </a:xfrm>
            <a:custGeom>
              <a:avLst/>
              <a:gdLst/>
              <a:ahLst/>
              <a:cxnLst/>
              <a:rect r="r" b="b" t="t" l="l"/>
              <a:pathLst>
                <a:path h="91440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34" r="0" b="-3573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02336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Pagos y analítica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3441680" y="6536055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payments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3441680" y="7043547"/>
            <a:ext cx="3840480" cy="500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analyticsDemand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Mockups del flujo del cliente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288536" y="0"/>
                  </a:lnTo>
                  <a:cubicBezTo>
                    <a:pt x="4440047" y="0"/>
                    <a:pt x="4562856" y="122809"/>
                    <a:pt x="4562856" y="274320"/>
                  </a:cubicBezTo>
                  <a:cubicBezTo>
                    <a:pt x="4562856" y="425831"/>
                    <a:pt x="4440047" y="548640"/>
                    <a:pt x="4288536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422142" cy="411480"/>
            <a:chOff x="0" y="0"/>
            <a:chExt cx="456285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2856" cy="548640"/>
            </a:xfrm>
            <a:custGeom>
              <a:avLst/>
              <a:gdLst/>
              <a:ahLst/>
              <a:cxnLst/>
              <a:rect r="r" b="b" t="t" l="l"/>
              <a:pathLst>
                <a:path h="548640" w="4562856">
                  <a:moveTo>
                    <a:pt x="0" y="0"/>
                  </a:moveTo>
                  <a:lnTo>
                    <a:pt x="4562856" y="0"/>
                  </a:lnTo>
                  <a:lnTo>
                    <a:pt x="456285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050" r="0" b="-1120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56285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EVIDENCIA DE AVANCE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6158" y="2345436"/>
            <a:ext cx="3272981" cy="5733288"/>
            <a:chOff x="0" y="0"/>
            <a:chExt cx="4363974" cy="76443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63974" cy="7644385"/>
            </a:xfrm>
            <a:custGeom>
              <a:avLst/>
              <a:gdLst/>
              <a:ahLst/>
              <a:cxnLst/>
              <a:rect r="r" b="b" t="t" l="l"/>
              <a:pathLst>
                <a:path h="7644385" w="436397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144518" y="0"/>
                  </a:lnTo>
                  <a:cubicBezTo>
                    <a:pt x="4265676" y="0"/>
                    <a:pt x="4363974" y="98298"/>
                    <a:pt x="4363974" y="219456"/>
                  </a:cubicBezTo>
                  <a:lnTo>
                    <a:pt x="4363974" y="7424928"/>
                  </a:lnTo>
                  <a:cubicBezTo>
                    <a:pt x="4363974" y="7546086"/>
                    <a:pt x="4265676" y="7644385"/>
                    <a:pt x="4144518" y="7644385"/>
                  </a:cubicBezTo>
                  <a:lnTo>
                    <a:pt x="219456" y="7644385"/>
                  </a:lnTo>
                  <a:cubicBezTo>
                    <a:pt x="98298" y="7644384"/>
                    <a:pt x="0" y="7546086"/>
                    <a:pt x="0" y="7424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1022" y="2400300"/>
            <a:ext cx="3163252" cy="5623560"/>
            <a:chOff x="0" y="0"/>
            <a:chExt cx="4217670" cy="7498080"/>
          </a:xfrm>
        </p:grpSpPr>
        <p:sp>
          <p:nvSpPr>
            <p:cNvPr name="Freeform 16" id="16" descr="Mockup: 1 · Nueva solicitud"/>
            <p:cNvSpPr/>
            <p:nvPr/>
          </p:nvSpPr>
          <p:spPr>
            <a:xfrm flipH="false" flipV="false" rot="0">
              <a:off x="0" y="0"/>
              <a:ext cx="4217670" cy="7498080"/>
            </a:xfrm>
            <a:custGeom>
              <a:avLst/>
              <a:gdLst/>
              <a:ahLst/>
              <a:cxnLst/>
              <a:rect r="r" b="b" t="t" l="l"/>
              <a:pathLst>
                <a:path h="7498080" w="4217670">
                  <a:moveTo>
                    <a:pt x="0" y="0"/>
                  </a:moveTo>
                  <a:lnTo>
                    <a:pt x="4217670" y="0"/>
                  </a:lnTo>
                  <a:lnTo>
                    <a:pt x="421767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0120" y="8122920"/>
            <a:ext cx="388505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· Nueva solicitud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120" y="8566023"/>
            <a:ext cx="388505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CU-005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639437" y="4869180"/>
            <a:ext cx="685800" cy="685800"/>
            <a:chOff x="0" y="0"/>
            <a:chExt cx="914400" cy="914400"/>
          </a:xfrm>
        </p:grpSpPr>
        <p:sp>
          <p:nvSpPr>
            <p:cNvPr name="Freeform 20" id="20" descr="siguiente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25535" y="2345436"/>
            <a:ext cx="3272981" cy="5733288"/>
            <a:chOff x="0" y="0"/>
            <a:chExt cx="4363974" cy="76443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63974" cy="7644385"/>
            </a:xfrm>
            <a:custGeom>
              <a:avLst/>
              <a:gdLst/>
              <a:ahLst/>
              <a:cxnLst/>
              <a:rect r="r" b="b" t="t" l="l"/>
              <a:pathLst>
                <a:path h="7644385" w="436397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144518" y="0"/>
                  </a:lnTo>
                  <a:cubicBezTo>
                    <a:pt x="4265676" y="0"/>
                    <a:pt x="4363974" y="98298"/>
                    <a:pt x="4363974" y="219456"/>
                  </a:cubicBezTo>
                  <a:lnTo>
                    <a:pt x="4363974" y="7424928"/>
                  </a:lnTo>
                  <a:cubicBezTo>
                    <a:pt x="4363974" y="7546086"/>
                    <a:pt x="4265676" y="7644385"/>
                    <a:pt x="4144518" y="7644385"/>
                  </a:cubicBezTo>
                  <a:lnTo>
                    <a:pt x="219456" y="7644385"/>
                  </a:lnTo>
                  <a:cubicBezTo>
                    <a:pt x="98298" y="7644384"/>
                    <a:pt x="0" y="7546086"/>
                    <a:pt x="0" y="7424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80399" y="2400300"/>
            <a:ext cx="3163252" cy="5623560"/>
            <a:chOff x="0" y="0"/>
            <a:chExt cx="4217670" cy="7498080"/>
          </a:xfrm>
        </p:grpSpPr>
        <p:sp>
          <p:nvSpPr>
            <p:cNvPr name="Freeform 24" id="24" descr="Mockup: 2 · Matching de técnicos"/>
            <p:cNvSpPr/>
            <p:nvPr/>
          </p:nvSpPr>
          <p:spPr>
            <a:xfrm flipH="false" flipV="false" rot="0">
              <a:off x="0" y="0"/>
              <a:ext cx="4217670" cy="7498080"/>
            </a:xfrm>
            <a:custGeom>
              <a:avLst/>
              <a:gdLst/>
              <a:ahLst/>
              <a:cxnLst/>
              <a:rect r="r" b="b" t="t" l="l"/>
              <a:pathLst>
                <a:path h="7498080" w="4217670">
                  <a:moveTo>
                    <a:pt x="0" y="0"/>
                  </a:moveTo>
                  <a:lnTo>
                    <a:pt x="4217670" y="0"/>
                  </a:lnTo>
                  <a:lnTo>
                    <a:pt x="421767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5119497" y="8122920"/>
            <a:ext cx="388505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· Matching de técnicos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19497" y="8566023"/>
            <a:ext cx="388505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CU-006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798814" y="4869180"/>
            <a:ext cx="685800" cy="685800"/>
            <a:chOff x="0" y="0"/>
            <a:chExt cx="914400" cy="914400"/>
          </a:xfrm>
        </p:grpSpPr>
        <p:sp>
          <p:nvSpPr>
            <p:cNvPr name="Freeform 28" id="28" descr="siguiente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584912" y="2345436"/>
            <a:ext cx="3272981" cy="5733288"/>
            <a:chOff x="0" y="0"/>
            <a:chExt cx="4363974" cy="76443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63974" cy="7644385"/>
            </a:xfrm>
            <a:custGeom>
              <a:avLst/>
              <a:gdLst/>
              <a:ahLst/>
              <a:cxnLst/>
              <a:rect r="r" b="b" t="t" l="l"/>
              <a:pathLst>
                <a:path h="7644385" w="436397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144518" y="0"/>
                  </a:lnTo>
                  <a:cubicBezTo>
                    <a:pt x="4265676" y="0"/>
                    <a:pt x="4363974" y="98298"/>
                    <a:pt x="4363974" y="219456"/>
                  </a:cubicBezTo>
                  <a:lnTo>
                    <a:pt x="4363974" y="7424928"/>
                  </a:lnTo>
                  <a:cubicBezTo>
                    <a:pt x="4363974" y="7546086"/>
                    <a:pt x="4265676" y="7644385"/>
                    <a:pt x="4144518" y="7644385"/>
                  </a:cubicBezTo>
                  <a:lnTo>
                    <a:pt x="219456" y="7644385"/>
                  </a:lnTo>
                  <a:cubicBezTo>
                    <a:pt x="98298" y="7644384"/>
                    <a:pt x="0" y="7546086"/>
                    <a:pt x="0" y="7424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39776" y="2400300"/>
            <a:ext cx="3163252" cy="5623560"/>
            <a:chOff x="0" y="0"/>
            <a:chExt cx="4217670" cy="7498080"/>
          </a:xfrm>
        </p:grpSpPr>
        <p:sp>
          <p:nvSpPr>
            <p:cNvPr name="Freeform 32" id="32" descr="Mockup: 3 · Seguimiento del técnico"/>
            <p:cNvSpPr/>
            <p:nvPr/>
          </p:nvSpPr>
          <p:spPr>
            <a:xfrm flipH="false" flipV="false" rot="0">
              <a:off x="0" y="0"/>
              <a:ext cx="4217670" cy="7498080"/>
            </a:xfrm>
            <a:custGeom>
              <a:avLst/>
              <a:gdLst/>
              <a:ahLst/>
              <a:cxnLst/>
              <a:rect r="r" b="b" t="t" l="l"/>
              <a:pathLst>
                <a:path h="7498080" w="4217670">
                  <a:moveTo>
                    <a:pt x="0" y="0"/>
                  </a:moveTo>
                  <a:lnTo>
                    <a:pt x="4217670" y="0"/>
                  </a:lnTo>
                  <a:lnTo>
                    <a:pt x="421767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278874" y="8122920"/>
            <a:ext cx="388505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· Seguimiento del técnico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78874" y="8566023"/>
            <a:ext cx="388505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CU-008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958191" y="4869180"/>
            <a:ext cx="685800" cy="685800"/>
            <a:chOff x="0" y="0"/>
            <a:chExt cx="914400" cy="914400"/>
          </a:xfrm>
        </p:grpSpPr>
        <p:sp>
          <p:nvSpPr>
            <p:cNvPr name="Freeform 36" id="36" descr="siguiente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744289" y="2345436"/>
            <a:ext cx="3272981" cy="5733288"/>
            <a:chOff x="0" y="0"/>
            <a:chExt cx="4363974" cy="76443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363974" cy="7644385"/>
            </a:xfrm>
            <a:custGeom>
              <a:avLst/>
              <a:gdLst/>
              <a:ahLst/>
              <a:cxnLst/>
              <a:rect r="r" b="b" t="t" l="l"/>
              <a:pathLst>
                <a:path h="7644385" w="436397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144518" y="0"/>
                  </a:lnTo>
                  <a:cubicBezTo>
                    <a:pt x="4265676" y="0"/>
                    <a:pt x="4363974" y="98298"/>
                    <a:pt x="4363974" y="219456"/>
                  </a:cubicBezTo>
                  <a:lnTo>
                    <a:pt x="4363974" y="7424928"/>
                  </a:lnTo>
                  <a:cubicBezTo>
                    <a:pt x="4363974" y="7546086"/>
                    <a:pt x="4265676" y="7644385"/>
                    <a:pt x="4144518" y="7644385"/>
                  </a:cubicBezTo>
                  <a:lnTo>
                    <a:pt x="219456" y="7644385"/>
                  </a:lnTo>
                  <a:cubicBezTo>
                    <a:pt x="98298" y="7644384"/>
                    <a:pt x="0" y="7546086"/>
                    <a:pt x="0" y="742492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799153" y="2400300"/>
            <a:ext cx="3163252" cy="5623560"/>
            <a:chOff x="0" y="0"/>
            <a:chExt cx="4217670" cy="7498080"/>
          </a:xfrm>
        </p:grpSpPr>
        <p:sp>
          <p:nvSpPr>
            <p:cNvPr name="Freeform 40" id="40" descr="Mockup: 4 · Pago del servicio"/>
            <p:cNvSpPr/>
            <p:nvPr/>
          </p:nvSpPr>
          <p:spPr>
            <a:xfrm flipH="false" flipV="false" rot="0">
              <a:off x="0" y="0"/>
              <a:ext cx="4217670" cy="7498080"/>
            </a:xfrm>
            <a:custGeom>
              <a:avLst/>
              <a:gdLst/>
              <a:ahLst/>
              <a:cxnLst/>
              <a:rect r="r" b="b" t="t" l="l"/>
              <a:pathLst>
                <a:path h="7498080" w="4217670">
                  <a:moveTo>
                    <a:pt x="0" y="0"/>
                  </a:moveTo>
                  <a:lnTo>
                    <a:pt x="4217670" y="0"/>
                  </a:lnTo>
                  <a:lnTo>
                    <a:pt x="4217670" y="7498080"/>
                  </a:lnTo>
                  <a:lnTo>
                    <a:pt x="0" y="7498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3438251" y="8122920"/>
            <a:ext cx="3885057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 · Pago del servicio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438251" y="8566023"/>
            <a:ext cx="3885057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CU-011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BI, minería de datos y stack tecnológico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4430268" cy="411480"/>
            <a:chOff x="0" y="0"/>
            <a:chExt cx="5907024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07024" cy="548640"/>
            </a:xfrm>
            <a:custGeom>
              <a:avLst/>
              <a:gdLst/>
              <a:ahLst/>
              <a:cxnLst/>
              <a:rect r="r" b="b" t="t" l="l"/>
              <a:pathLst>
                <a:path h="548640" w="590702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5632704" y="0"/>
                  </a:lnTo>
                  <a:cubicBezTo>
                    <a:pt x="5784215" y="0"/>
                    <a:pt x="5907024" y="122809"/>
                    <a:pt x="5907024" y="274320"/>
                  </a:cubicBezTo>
                  <a:cubicBezTo>
                    <a:pt x="5907024" y="425831"/>
                    <a:pt x="5784215" y="548640"/>
                    <a:pt x="563270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4430268" cy="411480"/>
            <a:chOff x="0" y="0"/>
            <a:chExt cx="5907024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907024" cy="548640"/>
            </a:xfrm>
            <a:custGeom>
              <a:avLst/>
              <a:gdLst/>
              <a:ahLst/>
              <a:cxnLst/>
              <a:rect r="r" b="b" t="t" l="l"/>
              <a:pathLst>
                <a:path h="548640" w="5907024">
                  <a:moveTo>
                    <a:pt x="0" y="0"/>
                  </a:moveTo>
                  <a:lnTo>
                    <a:pt x="5907024" y="0"/>
                  </a:lnTo>
                  <a:lnTo>
                    <a:pt x="59070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788" r="0" b="-15978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590702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ANALÍTICA E IMPLEMENTACIÓN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5472684" cy="2400300"/>
            <a:chOff x="0" y="0"/>
            <a:chExt cx="7296912" cy="320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296912" cy="3200400"/>
            </a:xfrm>
            <a:custGeom>
              <a:avLst/>
              <a:gdLst/>
              <a:ahLst/>
              <a:cxnLst/>
              <a:rect r="r" b="b" t="t" l="l"/>
              <a:pathLst>
                <a:path h="3200400" w="7296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77456" y="0"/>
                  </a:lnTo>
                  <a:cubicBezTo>
                    <a:pt x="7198614" y="0"/>
                    <a:pt x="7296912" y="98298"/>
                    <a:pt x="7296912" y="219456"/>
                  </a:cubicBezTo>
                  <a:lnTo>
                    <a:pt x="7296912" y="2980944"/>
                  </a:lnTo>
                  <a:cubicBezTo>
                    <a:pt x="7296912" y="3102102"/>
                    <a:pt x="7198614" y="3200400"/>
                    <a:pt x="7077456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2674620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63370" y="2872130"/>
            <a:ext cx="427939" cy="427939"/>
            <a:chOff x="0" y="0"/>
            <a:chExt cx="570586" cy="570586"/>
          </a:xfrm>
        </p:grpSpPr>
        <p:sp>
          <p:nvSpPr>
            <p:cNvPr name="Freeform 18" id="18" descr="FiMap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4" b="4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263140" y="2674620"/>
            <a:ext cx="3703320" cy="822960"/>
            <a:chOff x="0" y="0"/>
            <a:chExt cx="493776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37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BI 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65860" y="3655695"/>
            <a:ext cx="486918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Demanda por comuna, categoría y franja horaria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05372" y="2400300"/>
            <a:ext cx="5472684" cy="2400300"/>
            <a:chOff x="0" y="0"/>
            <a:chExt cx="7296912" cy="3200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96912" cy="3200400"/>
            </a:xfrm>
            <a:custGeom>
              <a:avLst/>
              <a:gdLst/>
              <a:ahLst/>
              <a:cxnLst/>
              <a:rect r="r" b="b" t="t" l="l"/>
              <a:pathLst>
                <a:path h="3200400" w="7296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77456" y="0"/>
                  </a:lnTo>
                  <a:cubicBezTo>
                    <a:pt x="7198614" y="0"/>
                    <a:pt x="7296912" y="98298"/>
                    <a:pt x="7296912" y="219456"/>
                  </a:cubicBezTo>
                  <a:lnTo>
                    <a:pt x="7296912" y="2980944"/>
                  </a:lnTo>
                  <a:cubicBezTo>
                    <a:pt x="7296912" y="3102102"/>
                    <a:pt x="7198614" y="3200400"/>
                    <a:pt x="7077456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48272" y="2674620"/>
            <a:ext cx="822960" cy="822960"/>
            <a:chOff x="0" y="0"/>
            <a:chExt cx="1097280" cy="1097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45782" y="2872130"/>
            <a:ext cx="427939" cy="427939"/>
            <a:chOff x="0" y="0"/>
            <a:chExt cx="570586" cy="570586"/>
          </a:xfrm>
        </p:grpSpPr>
        <p:sp>
          <p:nvSpPr>
            <p:cNvPr name="Freeform 28" id="28" descr="FiClock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4" b="4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845552" y="2674620"/>
            <a:ext cx="3703320" cy="822960"/>
            <a:chOff x="0" y="0"/>
            <a:chExt cx="493776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7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937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BI 2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748272" y="3655695"/>
            <a:ext cx="486918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Tiempo promedio de solicitud a asignación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1987784" y="2400300"/>
            <a:ext cx="5472684" cy="2400300"/>
            <a:chOff x="0" y="0"/>
            <a:chExt cx="7296912" cy="3200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96912" cy="3200400"/>
            </a:xfrm>
            <a:custGeom>
              <a:avLst/>
              <a:gdLst/>
              <a:ahLst/>
              <a:cxnLst/>
              <a:rect r="r" b="b" t="t" l="l"/>
              <a:pathLst>
                <a:path h="3200400" w="7296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7077456" y="0"/>
                  </a:lnTo>
                  <a:cubicBezTo>
                    <a:pt x="7198614" y="0"/>
                    <a:pt x="7296912" y="98298"/>
                    <a:pt x="7296912" y="219456"/>
                  </a:cubicBezTo>
                  <a:lnTo>
                    <a:pt x="7296912" y="2980944"/>
                  </a:lnTo>
                  <a:cubicBezTo>
                    <a:pt x="7296912" y="3102102"/>
                    <a:pt x="7198614" y="3200400"/>
                    <a:pt x="7077456" y="3200400"/>
                  </a:cubicBezTo>
                  <a:lnTo>
                    <a:pt x="219456" y="3200400"/>
                  </a:lnTo>
                  <a:cubicBezTo>
                    <a:pt x="98298" y="3200400"/>
                    <a:pt x="0" y="3102102"/>
                    <a:pt x="0" y="298094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330684" y="2674620"/>
            <a:ext cx="822960" cy="822960"/>
            <a:chOff x="0" y="0"/>
            <a:chExt cx="10972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528194" y="2872130"/>
            <a:ext cx="427939" cy="427939"/>
            <a:chOff x="0" y="0"/>
            <a:chExt cx="570586" cy="570586"/>
          </a:xfrm>
        </p:grpSpPr>
        <p:sp>
          <p:nvSpPr>
            <p:cNvPr name="Freeform 38" id="38" descr="FiPieChart"/>
            <p:cNvSpPr/>
            <p:nvPr/>
          </p:nvSpPr>
          <p:spPr>
            <a:xfrm flipH="false" flipV="false" rot="0">
              <a:off x="0" y="0"/>
              <a:ext cx="570611" cy="570611"/>
            </a:xfrm>
            <a:custGeom>
              <a:avLst/>
              <a:gdLst/>
              <a:ahLst/>
              <a:cxnLst/>
              <a:rect r="r" b="b" t="t" l="l"/>
              <a:pathLst>
                <a:path h="570611" w="570611">
                  <a:moveTo>
                    <a:pt x="0" y="0"/>
                  </a:moveTo>
                  <a:lnTo>
                    <a:pt x="570611" y="0"/>
                  </a:lnTo>
                  <a:lnTo>
                    <a:pt x="570611" y="570611"/>
                  </a:lnTo>
                  <a:lnTo>
                    <a:pt x="0" y="570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4" b="4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3427964" y="2674620"/>
            <a:ext cx="3703320" cy="822960"/>
            <a:chOff x="0" y="0"/>
            <a:chExt cx="493776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37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93776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BI 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2330684" y="3655695"/>
            <a:ext cx="486918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Servicios completados, cancelados y con reclamo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22960" y="5074920"/>
            <a:ext cx="16637508" cy="1988820"/>
            <a:chOff x="0" y="0"/>
            <a:chExt cx="22183344" cy="26517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183344" cy="2651760"/>
            </a:xfrm>
            <a:custGeom>
              <a:avLst/>
              <a:gdLst/>
              <a:ahLst/>
              <a:cxnLst/>
              <a:rect r="r" b="b" t="t" l="l"/>
              <a:pathLst>
                <a:path h="265176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2432304"/>
                  </a:lnTo>
                  <a:cubicBezTo>
                    <a:pt x="22183344" y="2553462"/>
                    <a:pt x="22085046" y="2651760"/>
                    <a:pt x="21963887" y="2651760"/>
                  </a:cubicBezTo>
                  <a:lnTo>
                    <a:pt x="219456" y="2651760"/>
                  </a:lnTo>
                  <a:cubicBezTo>
                    <a:pt x="98298" y="2651760"/>
                    <a:pt x="0" y="2553462"/>
                    <a:pt x="0" y="243230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34440" y="5513832"/>
            <a:ext cx="1097280" cy="1097280"/>
            <a:chOff x="0" y="0"/>
            <a:chExt cx="146304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97787" y="5777179"/>
            <a:ext cx="570586" cy="570586"/>
            <a:chOff x="0" y="0"/>
            <a:chExt cx="760781" cy="760781"/>
          </a:xfrm>
        </p:grpSpPr>
        <p:sp>
          <p:nvSpPr>
            <p:cNvPr name="Freeform 48" id="48" descr="FiTrendingUp"/>
            <p:cNvSpPr/>
            <p:nvPr/>
          </p:nvSpPr>
          <p:spPr>
            <a:xfrm flipH="false" flipV="false" rot="0">
              <a:off x="0" y="0"/>
              <a:ext cx="760730" cy="760730"/>
            </a:xfrm>
            <a:custGeom>
              <a:avLst/>
              <a:gdLst/>
              <a:ahLst/>
              <a:cxnLst/>
              <a:rect r="r" b="b" t="t" l="l"/>
              <a:pathLst>
                <a:path h="760730" w="760730">
                  <a:moveTo>
                    <a:pt x="0" y="0"/>
                  </a:moveTo>
                  <a:lnTo>
                    <a:pt x="760730" y="0"/>
                  </a:lnTo>
                  <a:lnTo>
                    <a:pt x="760730" y="760730"/>
                  </a:lnTo>
                  <a:lnTo>
                    <a:pt x="0" y="7607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6" b="-6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2674620" y="5302758"/>
            <a:ext cx="144018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KPI probabilístico de minería de datos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674620" y="5891403"/>
            <a:ext cx="14401800" cy="1007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Probabilidad de alta demanda por comuna, especialidad, día y horario: recomienda zonas de oportunidad a los técnicos y aumenta la tasa de aceptación.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22960" y="7231380"/>
            <a:ext cx="5486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Stack tecnológico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22960" y="7818120"/>
            <a:ext cx="2647188" cy="1303020"/>
            <a:chOff x="0" y="0"/>
            <a:chExt cx="3529584" cy="1737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52958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5295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0128" y="0"/>
                  </a:lnTo>
                  <a:cubicBezTo>
                    <a:pt x="3431286" y="0"/>
                    <a:pt x="3529584" y="98298"/>
                    <a:pt x="3529584" y="219456"/>
                  </a:cubicBezTo>
                  <a:lnTo>
                    <a:pt x="3529584" y="1517904"/>
                  </a:lnTo>
                  <a:cubicBezTo>
                    <a:pt x="3529584" y="1639062"/>
                    <a:pt x="3431286" y="1737360"/>
                    <a:pt x="3310128" y="1737360"/>
                  </a:cubicBezTo>
                  <a:lnTo>
                    <a:pt x="219456" y="1737360"/>
                  </a:lnTo>
                  <a:cubicBezTo>
                    <a:pt x="98298" y="1737360"/>
                    <a:pt x="0" y="1639062"/>
                    <a:pt x="0" y="151790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87552" y="8195310"/>
            <a:ext cx="548640" cy="548640"/>
            <a:chOff x="0" y="0"/>
            <a:chExt cx="731520" cy="731520"/>
          </a:xfrm>
        </p:grpSpPr>
        <p:sp>
          <p:nvSpPr>
            <p:cNvPr name="Freeform 55" id="55" descr="Ionic + Angular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73352" y="7818120"/>
            <a:ext cx="1714500" cy="1303020"/>
            <a:chOff x="0" y="0"/>
            <a:chExt cx="2286000" cy="1737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86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2286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Ionic + Angular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627882" y="7818120"/>
            <a:ext cx="2647188" cy="1303020"/>
            <a:chOff x="0" y="0"/>
            <a:chExt cx="3529584" cy="17373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52958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5295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0128" y="0"/>
                  </a:lnTo>
                  <a:cubicBezTo>
                    <a:pt x="3431286" y="0"/>
                    <a:pt x="3529584" y="98298"/>
                    <a:pt x="3529584" y="219456"/>
                  </a:cubicBezTo>
                  <a:lnTo>
                    <a:pt x="3529584" y="1517904"/>
                  </a:lnTo>
                  <a:cubicBezTo>
                    <a:pt x="3529584" y="1639062"/>
                    <a:pt x="3431286" y="1737360"/>
                    <a:pt x="3310128" y="1737360"/>
                  </a:cubicBezTo>
                  <a:lnTo>
                    <a:pt x="219456" y="1737360"/>
                  </a:lnTo>
                  <a:cubicBezTo>
                    <a:pt x="98298" y="1737360"/>
                    <a:pt x="0" y="1639062"/>
                    <a:pt x="0" y="151790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3792474" y="8195310"/>
            <a:ext cx="548640" cy="548640"/>
            <a:chOff x="0" y="0"/>
            <a:chExt cx="731520" cy="731520"/>
          </a:xfrm>
        </p:grpSpPr>
        <p:sp>
          <p:nvSpPr>
            <p:cNvPr name="Freeform 62" id="62" descr="Firebase Auth + Functions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478274" y="7818120"/>
            <a:ext cx="1714500" cy="1303020"/>
            <a:chOff x="0" y="0"/>
            <a:chExt cx="2286000" cy="173736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6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2286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Firebase Auth + Functions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432804" y="7818120"/>
            <a:ext cx="2647188" cy="1303020"/>
            <a:chOff x="0" y="0"/>
            <a:chExt cx="3529584" cy="1737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52958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5295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0128" y="0"/>
                  </a:lnTo>
                  <a:cubicBezTo>
                    <a:pt x="3431286" y="0"/>
                    <a:pt x="3529584" y="98298"/>
                    <a:pt x="3529584" y="219456"/>
                  </a:cubicBezTo>
                  <a:lnTo>
                    <a:pt x="3529584" y="1517904"/>
                  </a:lnTo>
                  <a:cubicBezTo>
                    <a:pt x="3529584" y="1639062"/>
                    <a:pt x="3431286" y="1737360"/>
                    <a:pt x="3310128" y="1737360"/>
                  </a:cubicBezTo>
                  <a:lnTo>
                    <a:pt x="219456" y="1737360"/>
                  </a:lnTo>
                  <a:cubicBezTo>
                    <a:pt x="98298" y="1737360"/>
                    <a:pt x="0" y="1639062"/>
                    <a:pt x="0" y="151790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597396" y="8195310"/>
            <a:ext cx="548640" cy="548640"/>
            <a:chOff x="0" y="0"/>
            <a:chExt cx="731520" cy="731520"/>
          </a:xfrm>
        </p:grpSpPr>
        <p:sp>
          <p:nvSpPr>
            <p:cNvPr name="Freeform 69" id="69" descr="Firestore + Storage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283196" y="7818120"/>
            <a:ext cx="1714500" cy="1303020"/>
            <a:chOff x="0" y="0"/>
            <a:chExt cx="2286000" cy="17373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86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2286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Firestore + Storage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237726" y="7818120"/>
            <a:ext cx="2647188" cy="1303020"/>
            <a:chOff x="0" y="0"/>
            <a:chExt cx="3529584" cy="17373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52958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5295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0128" y="0"/>
                  </a:lnTo>
                  <a:cubicBezTo>
                    <a:pt x="3431286" y="0"/>
                    <a:pt x="3529584" y="98298"/>
                    <a:pt x="3529584" y="219456"/>
                  </a:cubicBezTo>
                  <a:lnTo>
                    <a:pt x="3529584" y="1517904"/>
                  </a:lnTo>
                  <a:cubicBezTo>
                    <a:pt x="3529584" y="1639062"/>
                    <a:pt x="3431286" y="1737360"/>
                    <a:pt x="3310128" y="1737360"/>
                  </a:cubicBezTo>
                  <a:lnTo>
                    <a:pt x="219456" y="1737360"/>
                  </a:lnTo>
                  <a:cubicBezTo>
                    <a:pt x="98298" y="1737360"/>
                    <a:pt x="0" y="1639062"/>
                    <a:pt x="0" y="151790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9402318" y="8195310"/>
            <a:ext cx="548640" cy="548640"/>
            <a:chOff x="0" y="0"/>
            <a:chExt cx="731520" cy="731520"/>
          </a:xfrm>
        </p:grpSpPr>
        <p:sp>
          <p:nvSpPr>
            <p:cNvPr name="Freeform 76" id="76" descr="Google Maps Platform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088118" y="7818120"/>
            <a:ext cx="1714500" cy="1303020"/>
            <a:chOff x="0" y="0"/>
            <a:chExt cx="2286000" cy="1737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86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2286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Google Maps Platform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042648" y="7818120"/>
            <a:ext cx="2647188" cy="1303020"/>
            <a:chOff x="0" y="0"/>
            <a:chExt cx="3529584" cy="1737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2958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5295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0128" y="0"/>
                  </a:lnTo>
                  <a:cubicBezTo>
                    <a:pt x="3431286" y="0"/>
                    <a:pt x="3529584" y="98298"/>
                    <a:pt x="3529584" y="219456"/>
                  </a:cubicBezTo>
                  <a:lnTo>
                    <a:pt x="3529584" y="1517904"/>
                  </a:lnTo>
                  <a:cubicBezTo>
                    <a:pt x="3529584" y="1639062"/>
                    <a:pt x="3431286" y="1737360"/>
                    <a:pt x="3310128" y="1737360"/>
                  </a:cubicBezTo>
                  <a:lnTo>
                    <a:pt x="219456" y="1737360"/>
                  </a:lnTo>
                  <a:cubicBezTo>
                    <a:pt x="98298" y="1737360"/>
                    <a:pt x="0" y="1639062"/>
                    <a:pt x="0" y="151790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207240" y="8195310"/>
            <a:ext cx="548640" cy="548640"/>
            <a:chOff x="0" y="0"/>
            <a:chExt cx="731520" cy="731520"/>
          </a:xfrm>
        </p:grpSpPr>
        <p:sp>
          <p:nvSpPr>
            <p:cNvPr name="Freeform 83" id="83" descr="Pagos sandbox (Transbank / MP)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893040" y="7818120"/>
            <a:ext cx="1714500" cy="1303020"/>
            <a:chOff x="0" y="0"/>
            <a:chExt cx="2286000" cy="17373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86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286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Pagos sandbox (Transbank / MP)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847570" y="7818120"/>
            <a:ext cx="2647188" cy="1303020"/>
            <a:chOff x="0" y="0"/>
            <a:chExt cx="3529584" cy="17373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529584" cy="1737360"/>
            </a:xfrm>
            <a:custGeom>
              <a:avLst/>
              <a:gdLst/>
              <a:ahLst/>
              <a:cxnLst/>
              <a:rect r="r" b="b" t="t" l="l"/>
              <a:pathLst>
                <a:path h="1737360" w="35295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0128" y="0"/>
                  </a:lnTo>
                  <a:cubicBezTo>
                    <a:pt x="3431286" y="0"/>
                    <a:pt x="3529584" y="98298"/>
                    <a:pt x="3529584" y="219456"/>
                  </a:cubicBezTo>
                  <a:lnTo>
                    <a:pt x="3529584" y="1517904"/>
                  </a:lnTo>
                  <a:cubicBezTo>
                    <a:pt x="3529584" y="1639062"/>
                    <a:pt x="3431286" y="1737360"/>
                    <a:pt x="3310128" y="1737360"/>
                  </a:cubicBezTo>
                  <a:lnTo>
                    <a:pt x="219456" y="1737360"/>
                  </a:lnTo>
                  <a:cubicBezTo>
                    <a:pt x="98298" y="1737360"/>
                    <a:pt x="0" y="1639062"/>
                    <a:pt x="0" y="151790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012162" y="8195310"/>
            <a:ext cx="548640" cy="548640"/>
            <a:chOff x="0" y="0"/>
            <a:chExt cx="731520" cy="731520"/>
          </a:xfrm>
        </p:grpSpPr>
        <p:sp>
          <p:nvSpPr>
            <p:cNvPr name="Freeform 90" id="90" descr="Power BI + Pyth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5697962" y="7818120"/>
            <a:ext cx="1714500" cy="1303020"/>
            <a:chOff x="0" y="0"/>
            <a:chExt cx="2286000" cy="17373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860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510" t="0" r="-47510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22860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Power BI + Python</a:t>
              </a:r>
            </a:p>
          </p:txBody>
        </p:sp>
      </p:grpSp>
      <p:sp>
        <p:nvSpPr>
          <p:cNvPr name="TextBox 94" id="94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Plan de pruebas de producto y proceso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566160" cy="411480"/>
            <a:chOff x="0" y="0"/>
            <a:chExt cx="475488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480560" y="0"/>
                  </a:lnTo>
                  <a:cubicBezTo>
                    <a:pt x="4632071" y="0"/>
                    <a:pt x="4754880" y="122809"/>
                    <a:pt x="4754880" y="274320"/>
                  </a:cubicBezTo>
                  <a:cubicBezTo>
                    <a:pt x="4754880" y="425831"/>
                    <a:pt x="4632071" y="548640"/>
                    <a:pt x="448056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CALIDAD Y VALIDACIÓN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5198364" cy="1783080"/>
            <a:chOff x="0" y="0"/>
            <a:chExt cx="6931152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31152" cy="2377440"/>
            </a:xfrm>
            <a:custGeom>
              <a:avLst/>
              <a:gdLst/>
              <a:ahLst/>
              <a:cxnLst/>
              <a:rect r="r" b="b" t="t" l="l"/>
              <a:pathLst>
                <a:path h="2377440" w="693115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11697" y="0"/>
                  </a:lnTo>
                  <a:cubicBezTo>
                    <a:pt x="6832854" y="0"/>
                    <a:pt x="6931152" y="98298"/>
                    <a:pt x="6931152" y="219456"/>
                  </a:cubicBezTo>
                  <a:lnTo>
                    <a:pt x="6931152" y="2157984"/>
                  </a:lnTo>
                  <a:cubicBezTo>
                    <a:pt x="6931152" y="2279142"/>
                    <a:pt x="6832854" y="2377440"/>
                    <a:pt x="6711697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97280" y="2674620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78331" y="2855671"/>
            <a:ext cx="392278" cy="392278"/>
            <a:chOff x="0" y="0"/>
            <a:chExt cx="523037" cy="523037"/>
          </a:xfrm>
        </p:grpSpPr>
        <p:sp>
          <p:nvSpPr>
            <p:cNvPr name="Freeform 18" id="18" descr="FiEdit3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9" b="-9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125980" y="2674620"/>
            <a:ext cx="3703320" cy="754380"/>
            <a:chOff x="0" y="0"/>
            <a:chExt cx="4937760" cy="1005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4937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· Diseñar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97280" y="3459480"/>
            <a:ext cx="466344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Casos de prueba desde historias y criterios de aceptación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076188" y="3086100"/>
            <a:ext cx="411480" cy="411480"/>
            <a:chOff x="0" y="0"/>
            <a:chExt cx="548640" cy="548640"/>
          </a:xfrm>
        </p:grpSpPr>
        <p:sp>
          <p:nvSpPr>
            <p:cNvPr name="Freeform 24" id="24" descr="siguiente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542532" y="2400300"/>
            <a:ext cx="5198364" cy="1783080"/>
            <a:chOff x="0" y="0"/>
            <a:chExt cx="6931152" cy="2377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31152" cy="2377440"/>
            </a:xfrm>
            <a:custGeom>
              <a:avLst/>
              <a:gdLst/>
              <a:ahLst/>
              <a:cxnLst/>
              <a:rect r="r" b="b" t="t" l="l"/>
              <a:pathLst>
                <a:path h="2377440" w="693115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11697" y="0"/>
                  </a:lnTo>
                  <a:cubicBezTo>
                    <a:pt x="6832854" y="0"/>
                    <a:pt x="6931152" y="98298"/>
                    <a:pt x="6931152" y="219456"/>
                  </a:cubicBezTo>
                  <a:lnTo>
                    <a:pt x="6931152" y="2157984"/>
                  </a:lnTo>
                  <a:cubicBezTo>
                    <a:pt x="6931152" y="2279142"/>
                    <a:pt x="6832854" y="2377440"/>
                    <a:pt x="6711697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16852" y="2674620"/>
            <a:ext cx="754380" cy="754380"/>
            <a:chOff x="0" y="0"/>
            <a:chExt cx="1005840" cy="10058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97903" y="2855671"/>
            <a:ext cx="392278" cy="392278"/>
            <a:chOff x="0" y="0"/>
            <a:chExt cx="523037" cy="523037"/>
          </a:xfrm>
        </p:grpSpPr>
        <p:sp>
          <p:nvSpPr>
            <p:cNvPr name="Freeform 30" id="30" descr="FiPlay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9" b="-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845552" y="2674620"/>
            <a:ext cx="3703320" cy="754380"/>
            <a:chOff x="0" y="0"/>
            <a:chExt cx="4937760" cy="1005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4937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· Aplicar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816852" y="3459480"/>
            <a:ext cx="466344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En cada sprint y antes del cierre (Fase 3)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795760" y="3086100"/>
            <a:ext cx="411480" cy="411480"/>
            <a:chOff x="0" y="0"/>
            <a:chExt cx="548640" cy="548640"/>
          </a:xfrm>
        </p:grpSpPr>
        <p:sp>
          <p:nvSpPr>
            <p:cNvPr name="Freeform 36" id="36" descr="siguiente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262104" y="2400300"/>
            <a:ext cx="5198364" cy="1783080"/>
            <a:chOff x="0" y="0"/>
            <a:chExt cx="6931152" cy="2377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31152" cy="2377440"/>
            </a:xfrm>
            <a:custGeom>
              <a:avLst/>
              <a:gdLst/>
              <a:ahLst/>
              <a:cxnLst/>
              <a:rect r="r" b="b" t="t" l="l"/>
              <a:pathLst>
                <a:path h="2377440" w="693115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11697" y="0"/>
                  </a:lnTo>
                  <a:cubicBezTo>
                    <a:pt x="6832854" y="0"/>
                    <a:pt x="6931152" y="98298"/>
                    <a:pt x="6931152" y="219456"/>
                  </a:cubicBezTo>
                  <a:lnTo>
                    <a:pt x="6931152" y="2157984"/>
                  </a:lnTo>
                  <a:cubicBezTo>
                    <a:pt x="6931152" y="2279142"/>
                    <a:pt x="6832854" y="2377440"/>
                    <a:pt x="6711697" y="2377440"/>
                  </a:cubicBezTo>
                  <a:lnTo>
                    <a:pt x="219456" y="2377440"/>
                  </a:lnTo>
                  <a:cubicBezTo>
                    <a:pt x="98298" y="2377440"/>
                    <a:pt x="0" y="2279142"/>
                    <a:pt x="0" y="215798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536424" y="2674620"/>
            <a:ext cx="754380" cy="754380"/>
            <a:chOff x="0" y="0"/>
            <a:chExt cx="1005840" cy="1005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717475" y="2855671"/>
            <a:ext cx="392278" cy="392278"/>
            <a:chOff x="0" y="0"/>
            <a:chExt cx="523037" cy="523037"/>
          </a:xfrm>
        </p:grpSpPr>
        <p:sp>
          <p:nvSpPr>
            <p:cNvPr name="Freeform 42" id="42" descr="FiRefreshCw"/>
            <p:cNvSpPr/>
            <p:nvPr/>
          </p:nvSpPr>
          <p:spPr>
            <a:xfrm flipH="false" flipV="false" rot="0">
              <a:off x="0" y="0"/>
              <a:ext cx="522986" cy="522986"/>
            </a:xfrm>
            <a:custGeom>
              <a:avLst/>
              <a:gdLst/>
              <a:ahLst/>
              <a:cxnLst/>
              <a:rect r="r" b="b" t="t" l="l"/>
              <a:pathLst>
                <a:path h="522986" w="522986">
                  <a:moveTo>
                    <a:pt x="0" y="0"/>
                  </a:moveTo>
                  <a:lnTo>
                    <a:pt x="522986" y="0"/>
                  </a:lnTo>
                  <a:lnTo>
                    <a:pt x="522986" y="522986"/>
                  </a:lnTo>
                  <a:lnTo>
                    <a:pt x="0" y="522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9" b="-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65124" y="2674620"/>
            <a:ext cx="3703320" cy="754380"/>
            <a:chOff x="0" y="0"/>
            <a:chExt cx="4937760" cy="1005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37760" cy="1005840"/>
            </a:xfrm>
            <a:custGeom>
              <a:avLst/>
              <a:gdLst/>
              <a:ahLst/>
              <a:cxnLst/>
              <a:rect r="r" b="b" t="t" l="l"/>
              <a:pathLst>
                <a:path h="10058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493776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· Mejorar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2536424" y="3459480"/>
            <a:ext cx="4663440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Los hallazgos vuelven al Product Backlog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5860" y="4419600"/>
            <a:ext cx="301752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Tipo de prueba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26280" y="4419600"/>
            <a:ext cx="5486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QUÉ VALIDA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247120" y="4419600"/>
            <a:ext cx="54864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CRITERIO DE ÉXITO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822960" y="4937760"/>
            <a:ext cx="16637508" cy="891540"/>
            <a:chOff x="0" y="0"/>
            <a:chExt cx="22183344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18334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969264"/>
                  </a:lnTo>
                  <a:cubicBezTo>
                    <a:pt x="22183344" y="1090422"/>
                    <a:pt x="22085046" y="1188720"/>
                    <a:pt x="21963887" y="1188720"/>
                  </a:cubicBezTo>
                  <a:lnTo>
                    <a:pt x="219456" y="1188720"/>
                  </a:lnTo>
                  <a:cubicBezTo>
                    <a:pt x="98298" y="1188720"/>
                    <a:pt x="0" y="1090422"/>
                    <a:pt x="0" y="969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28700" y="5074920"/>
            <a:ext cx="617220" cy="617220"/>
            <a:chOff x="0" y="0"/>
            <a:chExt cx="822960" cy="8229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76833" y="5223053"/>
            <a:ext cx="320954" cy="320954"/>
            <a:chOff x="0" y="0"/>
            <a:chExt cx="427939" cy="427939"/>
          </a:xfrm>
        </p:grpSpPr>
        <p:sp>
          <p:nvSpPr>
            <p:cNvPr name="Freeform 55" id="55" descr="FiCheckCircle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0"/>
                  </a:moveTo>
                  <a:lnTo>
                    <a:pt x="427990" y="0"/>
                  </a:lnTo>
                  <a:lnTo>
                    <a:pt x="427990" y="427990"/>
                  </a:lnTo>
                  <a:lnTo>
                    <a:pt x="0" y="42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1" b="11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783080" y="4937760"/>
            <a:ext cx="2606040" cy="891540"/>
            <a:chOff x="0" y="0"/>
            <a:chExt cx="3474720" cy="1188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474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3474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Funcional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526280" y="4937760"/>
            <a:ext cx="6446520" cy="891540"/>
            <a:chOff x="0" y="0"/>
            <a:chExt cx="8595360" cy="1188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953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91" r="0" b="-9089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859536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Flujo completo: solicitud, asignación, pago sandbox y evaluación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247120" y="4937760"/>
            <a:ext cx="6035040" cy="891540"/>
            <a:chOff x="0" y="0"/>
            <a:chExt cx="8046720" cy="1188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046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Casos aprobados para los 6 casos de uso prioritarios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22960" y="5966460"/>
            <a:ext cx="16637508" cy="891540"/>
            <a:chOff x="0" y="0"/>
            <a:chExt cx="22183344" cy="1188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18334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969264"/>
                  </a:lnTo>
                  <a:cubicBezTo>
                    <a:pt x="22183344" y="1090422"/>
                    <a:pt x="22085046" y="1188720"/>
                    <a:pt x="21963887" y="1188720"/>
                  </a:cubicBezTo>
                  <a:lnTo>
                    <a:pt x="219456" y="1188720"/>
                  </a:lnTo>
                  <a:cubicBezTo>
                    <a:pt x="98298" y="1188720"/>
                    <a:pt x="0" y="1090422"/>
                    <a:pt x="0" y="969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28700" y="6103620"/>
            <a:ext cx="617220" cy="617220"/>
            <a:chOff x="0" y="0"/>
            <a:chExt cx="822960" cy="82296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76833" y="6251753"/>
            <a:ext cx="320954" cy="320954"/>
            <a:chOff x="0" y="0"/>
            <a:chExt cx="427939" cy="427939"/>
          </a:xfrm>
        </p:grpSpPr>
        <p:sp>
          <p:nvSpPr>
            <p:cNvPr name="Freeform 70" id="70" descr="FiLock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0"/>
                  </a:moveTo>
                  <a:lnTo>
                    <a:pt x="427990" y="0"/>
                  </a:lnTo>
                  <a:lnTo>
                    <a:pt x="427990" y="427990"/>
                  </a:lnTo>
                  <a:lnTo>
                    <a:pt x="0" y="42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11" b="1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783080" y="5966460"/>
            <a:ext cx="2606040" cy="891540"/>
            <a:chOff x="0" y="0"/>
            <a:chExt cx="3474720" cy="1188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474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474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Seguridad y datos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4526280" y="5966460"/>
            <a:ext cx="6446520" cy="891540"/>
            <a:chOff x="0" y="0"/>
            <a:chExt cx="8595360" cy="11887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5953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91" r="0" b="-9089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859536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Reglas de Firestore por rol; índices y consultas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1247120" y="5966460"/>
            <a:ext cx="6035040" cy="891540"/>
            <a:chOff x="0" y="0"/>
            <a:chExt cx="8046720" cy="11887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8046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rol accede solo a sus propios datos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6995160"/>
            <a:ext cx="16637508" cy="891540"/>
            <a:chOff x="0" y="0"/>
            <a:chExt cx="22183344" cy="11887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8334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969264"/>
                  </a:lnTo>
                  <a:cubicBezTo>
                    <a:pt x="22183344" y="1090422"/>
                    <a:pt x="22085046" y="1188720"/>
                    <a:pt x="21963887" y="1188720"/>
                  </a:cubicBezTo>
                  <a:lnTo>
                    <a:pt x="219456" y="1188720"/>
                  </a:lnTo>
                  <a:cubicBezTo>
                    <a:pt x="98298" y="1188720"/>
                    <a:pt x="0" y="1090422"/>
                    <a:pt x="0" y="969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28700" y="7132320"/>
            <a:ext cx="617220" cy="617220"/>
            <a:chOff x="0" y="0"/>
            <a:chExt cx="822960" cy="8229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76833" y="7280453"/>
            <a:ext cx="320954" cy="320954"/>
            <a:chOff x="0" y="0"/>
            <a:chExt cx="427939" cy="427939"/>
          </a:xfrm>
        </p:grpSpPr>
        <p:sp>
          <p:nvSpPr>
            <p:cNvPr name="Freeform 85" id="85" descr="FiGitBranch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0"/>
                  </a:moveTo>
                  <a:lnTo>
                    <a:pt x="427990" y="0"/>
                  </a:lnTo>
                  <a:lnTo>
                    <a:pt x="427990" y="427990"/>
                  </a:lnTo>
                  <a:lnTo>
                    <a:pt x="0" y="42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11" b="11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783080" y="6995160"/>
            <a:ext cx="2606040" cy="891540"/>
            <a:chOff x="0" y="0"/>
            <a:chExt cx="3474720" cy="11887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474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3474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4526280" y="6995160"/>
            <a:ext cx="6446520" cy="891540"/>
            <a:chOff x="0" y="0"/>
            <a:chExt cx="8595360" cy="118872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85953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91" r="0" b="-9089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859536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 Functions, Google Maps, FCM y pasarela sandbox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247120" y="6995160"/>
            <a:ext cx="6035040" cy="891540"/>
            <a:chOff x="0" y="0"/>
            <a:chExt cx="8046720" cy="11887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8046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servicios externos responden sin errores en el flujo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822960" y="8023860"/>
            <a:ext cx="16637508" cy="891540"/>
            <a:chOff x="0" y="0"/>
            <a:chExt cx="22183344" cy="11887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18334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969264"/>
                  </a:lnTo>
                  <a:cubicBezTo>
                    <a:pt x="22183344" y="1090422"/>
                    <a:pt x="22085046" y="1188720"/>
                    <a:pt x="21963887" y="1188720"/>
                  </a:cubicBezTo>
                  <a:lnTo>
                    <a:pt x="219456" y="1188720"/>
                  </a:lnTo>
                  <a:cubicBezTo>
                    <a:pt x="98298" y="1188720"/>
                    <a:pt x="0" y="1090422"/>
                    <a:pt x="0" y="96926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028700" y="8161020"/>
            <a:ext cx="617220" cy="617220"/>
            <a:chOff x="0" y="0"/>
            <a:chExt cx="822960" cy="8229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76833" y="8309153"/>
            <a:ext cx="320954" cy="320954"/>
            <a:chOff x="0" y="0"/>
            <a:chExt cx="427939" cy="427939"/>
          </a:xfrm>
        </p:grpSpPr>
        <p:sp>
          <p:nvSpPr>
            <p:cNvPr name="Freeform 100" id="100" descr="FiBarChart2"/>
            <p:cNvSpPr/>
            <p:nvPr/>
          </p:nvSpPr>
          <p:spPr>
            <a:xfrm flipH="false" flipV="false" rot="0">
              <a:off x="0" y="0"/>
              <a:ext cx="427990" cy="427990"/>
            </a:xfrm>
            <a:custGeom>
              <a:avLst/>
              <a:gdLst/>
              <a:ahLst/>
              <a:cxnLst/>
              <a:rect r="r" b="b" t="t" l="l"/>
              <a:pathLst>
                <a:path h="427990" w="427990">
                  <a:moveTo>
                    <a:pt x="0" y="0"/>
                  </a:moveTo>
                  <a:lnTo>
                    <a:pt x="427990" y="0"/>
                  </a:lnTo>
                  <a:lnTo>
                    <a:pt x="427990" y="427990"/>
                  </a:lnTo>
                  <a:lnTo>
                    <a:pt x="0" y="427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11" b="11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783080" y="8023860"/>
            <a:ext cx="2606040" cy="891540"/>
            <a:chOff x="0" y="0"/>
            <a:chExt cx="3474720" cy="118872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474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56" r="0" b="-695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3474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Analítica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4526280" y="8023860"/>
            <a:ext cx="6446520" cy="891540"/>
            <a:chOff x="0" y="0"/>
            <a:chExt cx="8595360" cy="11887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85953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891" r="0" b="-9089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859536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KPI del dashboard y modelo probabilístico con datos demo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247120" y="8023860"/>
            <a:ext cx="6035040" cy="891540"/>
            <a:chOff x="0" y="0"/>
            <a:chExt cx="8046720" cy="118872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8046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98" r="0" b="-8189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8046720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KPI coinciden con el origen; modelo evaluado con datos de prueba</a:t>
              </a:r>
            </a:p>
          </p:txBody>
        </p:sp>
      </p:grpSp>
      <p:sp>
        <p:nvSpPr>
          <p:cNvPr name="TextBox 110" id="110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Estado de avance y planificación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2269998" cy="411480"/>
            <a:chOff x="0" y="0"/>
            <a:chExt cx="3026664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26664" cy="548640"/>
            </a:xfrm>
            <a:custGeom>
              <a:avLst/>
              <a:gdLst/>
              <a:ahLst/>
              <a:cxnLst/>
              <a:rect r="r" b="b" t="t" l="l"/>
              <a:pathLst>
                <a:path h="548640" w="3026664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752344" y="0"/>
                  </a:lnTo>
                  <a:cubicBezTo>
                    <a:pt x="2903855" y="0"/>
                    <a:pt x="3026664" y="122809"/>
                    <a:pt x="3026664" y="274320"/>
                  </a:cubicBezTo>
                  <a:cubicBezTo>
                    <a:pt x="3026664" y="425831"/>
                    <a:pt x="2903855" y="548640"/>
                    <a:pt x="2752344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2269998" cy="411480"/>
            <a:chOff x="0" y="0"/>
            <a:chExt cx="3026664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26664" cy="548640"/>
            </a:xfrm>
            <a:custGeom>
              <a:avLst/>
              <a:gdLst/>
              <a:ahLst/>
              <a:cxnLst/>
              <a:rect r="r" b="b" t="t" l="l"/>
              <a:pathLst>
                <a:path h="548640" w="3026664">
                  <a:moveTo>
                    <a:pt x="0" y="0"/>
                  </a:moveTo>
                  <a:lnTo>
                    <a:pt x="3026664" y="0"/>
                  </a:lnTo>
                  <a:lnTo>
                    <a:pt x="302666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492" r="0" b="-574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026664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SEGUIMIENTO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3909060" cy="2125980"/>
            <a:chOff x="0" y="0"/>
            <a:chExt cx="5212080" cy="2834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2615184"/>
                  </a:lnTo>
                  <a:cubicBezTo>
                    <a:pt x="5212080" y="2736342"/>
                    <a:pt x="5113782" y="2834640"/>
                    <a:pt x="49926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114800" y="2606040"/>
            <a:ext cx="438912" cy="438912"/>
            <a:chOff x="0" y="0"/>
            <a:chExt cx="585216" cy="585216"/>
          </a:xfrm>
        </p:grpSpPr>
        <p:sp>
          <p:nvSpPr>
            <p:cNvPr name="Freeform 16" id="16" descr="completado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97280" y="2636520"/>
            <a:ext cx="288036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Sprint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7280" y="3518535"/>
            <a:ext cx="34290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Gobierno ágil, cuentas, arquitectura y datos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718304" y="3250692"/>
            <a:ext cx="356616" cy="356616"/>
            <a:chOff x="0" y="0"/>
            <a:chExt cx="475488" cy="475488"/>
          </a:xfrm>
        </p:grpSpPr>
        <p:sp>
          <p:nvSpPr>
            <p:cNvPr name="Freeform 20" id="20" descr="siguient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61204" y="2400300"/>
            <a:ext cx="3909060" cy="2125980"/>
            <a:chOff x="0" y="0"/>
            <a:chExt cx="5212080" cy="2834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2615184"/>
                  </a:lnTo>
                  <a:cubicBezTo>
                    <a:pt x="5212080" y="2736342"/>
                    <a:pt x="5113782" y="2834640"/>
                    <a:pt x="49926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050024" y="2606040"/>
            <a:ext cx="1714500" cy="411480"/>
            <a:chOff x="0" y="0"/>
            <a:chExt cx="22860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86000" cy="548640"/>
            </a:xfrm>
            <a:custGeom>
              <a:avLst/>
              <a:gdLst/>
              <a:ahLst/>
              <a:cxnLst/>
              <a:rect r="r" b="b" t="t" l="l"/>
              <a:pathLst>
                <a:path h="548640" w="228600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2011680" y="0"/>
                  </a:lnTo>
                  <a:cubicBezTo>
                    <a:pt x="2163191" y="0"/>
                    <a:pt x="2286000" y="122809"/>
                    <a:pt x="2286000" y="274320"/>
                  </a:cubicBezTo>
                  <a:cubicBezTo>
                    <a:pt x="2286000" y="425831"/>
                    <a:pt x="2163191" y="548640"/>
                    <a:pt x="201168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050024" y="2606040"/>
            <a:ext cx="1714500" cy="411480"/>
            <a:chOff x="0" y="0"/>
            <a:chExt cx="22860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86000" cy="548640"/>
            </a:xfrm>
            <a:custGeom>
              <a:avLst/>
              <a:gdLst/>
              <a:ahLst/>
              <a:cxnLst/>
              <a:rect r="r" b="b" t="t" l="l"/>
              <a:pathLst>
                <a:path h="54864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2860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Estamos aquí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335524" y="2636520"/>
            <a:ext cx="178308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5524" y="3518535"/>
            <a:ext cx="34290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Arquitectura: DAS, TO-BE, diccionario y presentación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956548" y="3250692"/>
            <a:ext cx="356616" cy="356616"/>
            <a:chOff x="0" y="0"/>
            <a:chExt cx="475488" cy="475488"/>
          </a:xfrm>
        </p:grpSpPr>
        <p:sp>
          <p:nvSpPr>
            <p:cNvPr name="Freeform 31" id="31" descr="siguient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299448" y="2400300"/>
            <a:ext cx="3909060" cy="2125980"/>
            <a:chOff x="0" y="0"/>
            <a:chExt cx="5212080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2615184"/>
                  </a:lnTo>
                  <a:cubicBezTo>
                    <a:pt x="5212080" y="2736342"/>
                    <a:pt x="5113782" y="2834640"/>
                    <a:pt x="49926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573768" y="2636520"/>
            <a:ext cx="288036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Desarrollo integral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73768" y="3518535"/>
            <a:ext cx="34290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App, BD, pagos sandbox, BI y minería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194792" y="3250692"/>
            <a:ext cx="356616" cy="356616"/>
            <a:chOff x="0" y="0"/>
            <a:chExt cx="475488" cy="475488"/>
          </a:xfrm>
        </p:grpSpPr>
        <p:sp>
          <p:nvSpPr>
            <p:cNvPr name="Freeform 37" id="37" descr="siguient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537692" y="2400300"/>
            <a:ext cx="3909060" cy="2125980"/>
            <a:chOff x="0" y="0"/>
            <a:chExt cx="5212080" cy="2834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120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212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992624" y="0"/>
                  </a:lnTo>
                  <a:cubicBezTo>
                    <a:pt x="5113782" y="0"/>
                    <a:pt x="5212080" y="98298"/>
                    <a:pt x="5212080" y="219456"/>
                  </a:cubicBezTo>
                  <a:lnTo>
                    <a:pt x="5212080" y="2615184"/>
                  </a:lnTo>
                  <a:cubicBezTo>
                    <a:pt x="5212080" y="2736342"/>
                    <a:pt x="5113782" y="2834640"/>
                    <a:pt x="4992624" y="2834640"/>
                  </a:cubicBezTo>
                  <a:lnTo>
                    <a:pt x="219456" y="2834640"/>
                  </a:lnTo>
                  <a:cubicBezTo>
                    <a:pt x="98298" y="2834640"/>
                    <a:pt x="0" y="2736342"/>
                    <a:pt x="0" y="26151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812012" y="2636520"/>
            <a:ext cx="2880360" cy="79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E27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Fase 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812012" y="3518535"/>
            <a:ext cx="3429000" cy="93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Pruebas, manual, informe de cierre y defensa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2960" y="4869180"/>
            <a:ext cx="4114800" cy="1275588"/>
            <a:chOff x="0" y="0"/>
            <a:chExt cx="5486400" cy="17007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86400" cy="1700784"/>
            </a:xfrm>
            <a:custGeom>
              <a:avLst/>
              <a:gdLst/>
              <a:ahLst/>
              <a:cxnLst/>
              <a:rect r="r" b="b" t="t" l="l"/>
              <a:pathLst>
                <a:path h="1700784" w="5486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266944" y="0"/>
                  </a:lnTo>
                  <a:cubicBezTo>
                    <a:pt x="5388102" y="0"/>
                    <a:pt x="5486400" y="98298"/>
                    <a:pt x="5486400" y="219456"/>
                  </a:cubicBezTo>
                  <a:lnTo>
                    <a:pt x="5486400" y="1481328"/>
                  </a:lnTo>
                  <a:cubicBezTo>
                    <a:pt x="5486400" y="1602486"/>
                    <a:pt x="5388102" y="1700784"/>
                    <a:pt x="5266944" y="1700784"/>
                  </a:cubicBezTo>
                  <a:lnTo>
                    <a:pt x="219456" y="1700784"/>
                  </a:lnTo>
                  <a:cubicBezTo>
                    <a:pt x="98298" y="1700784"/>
                    <a:pt x="0" y="1602486"/>
                    <a:pt x="0" y="148132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65860" y="4869180"/>
            <a:ext cx="1097280" cy="1275588"/>
            <a:chOff x="0" y="0"/>
            <a:chExt cx="1463040" cy="17007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" cy="1700784"/>
            </a:xfrm>
            <a:custGeom>
              <a:avLst/>
              <a:gdLst/>
              <a:ahLst/>
              <a:cxnLst/>
              <a:rect r="r" b="b" t="t" l="l"/>
              <a:pathLst>
                <a:path h="17007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700784"/>
                  </a:lnTo>
                  <a:lnTo>
                    <a:pt x="0" y="1700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152" t="0" r="-99152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463040" cy="1710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C7293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331720" y="4869180"/>
            <a:ext cx="2468880" cy="1275588"/>
            <a:chOff x="0" y="0"/>
            <a:chExt cx="3291840" cy="17007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291840" cy="1700784"/>
            </a:xfrm>
            <a:custGeom>
              <a:avLst/>
              <a:gdLst/>
              <a:ahLst/>
              <a:cxnLst/>
              <a:rect r="r" b="b" t="t" l="l"/>
              <a:pathLst>
                <a:path h="17007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700784"/>
                  </a:lnTo>
                  <a:lnTo>
                    <a:pt x="0" y="1700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90" t="0" r="-1629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291840" cy="1738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6309360"/>
            <a:ext cx="4114800" cy="1275588"/>
            <a:chOff x="0" y="0"/>
            <a:chExt cx="5486400" cy="170078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86400" cy="1700784"/>
            </a:xfrm>
            <a:custGeom>
              <a:avLst/>
              <a:gdLst/>
              <a:ahLst/>
              <a:cxnLst/>
              <a:rect r="r" b="b" t="t" l="l"/>
              <a:pathLst>
                <a:path h="1700784" w="5486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266944" y="0"/>
                  </a:lnTo>
                  <a:cubicBezTo>
                    <a:pt x="5388102" y="0"/>
                    <a:pt x="5486400" y="98298"/>
                    <a:pt x="5486400" y="219456"/>
                  </a:cubicBezTo>
                  <a:lnTo>
                    <a:pt x="5486400" y="1481328"/>
                  </a:lnTo>
                  <a:cubicBezTo>
                    <a:pt x="5486400" y="1602486"/>
                    <a:pt x="5388102" y="1700784"/>
                    <a:pt x="5266944" y="1700784"/>
                  </a:cubicBezTo>
                  <a:lnTo>
                    <a:pt x="219456" y="1700784"/>
                  </a:lnTo>
                  <a:cubicBezTo>
                    <a:pt x="98298" y="1700784"/>
                    <a:pt x="0" y="1602486"/>
                    <a:pt x="0" y="148132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65860" y="6309360"/>
            <a:ext cx="1097280" cy="1275588"/>
            <a:chOff x="0" y="0"/>
            <a:chExt cx="1463040" cy="170078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463040" cy="1700784"/>
            </a:xfrm>
            <a:custGeom>
              <a:avLst/>
              <a:gdLst/>
              <a:ahLst/>
              <a:cxnLst/>
              <a:rect r="r" b="b" t="t" l="l"/>
              <a:pathLst>
                <a:path h="17007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700784"/>
                  </a:lnTo>
                  <a:lnTo>
                    <a:pt x="0" y="1700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152" t="0" r="-99152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463040" cy="1710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299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331720" y="6309360"/>
            <a:ext cx="2468880" cy="1275588"/>
            <a:chOff x="0" y="0"/>
            <a:chExt cx="3291840" cy="17007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291840" cy="1700784"/>
            </a:xfrm>
            <a:custGeom>
              <a:avLst/>
              <a:gdLst/>
              <a:ahLst/>
              <a:cxnLst/>
              <a:rect r="r" b="b" t="t" l="l"/>
              <a:pathLst>
                <a:path h="17007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700784"/>
                  </a:lnTo>
                  <a:lnTo>
                    <a:pt x="0" y="1700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90" t="0" r="-16290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291840" cy="1738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22960" y="7749540"/>
            <a:ext cx="4114800" cy="1275588"/>
            <a:chOff x="0" y="0"/>
            <a:chExt cx="5486400" cy="17007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86400" cy="1700784"/>
            </a:xfrm>
            <a:custGeom>
              <a:avLst/>
              <a:gdLst/>
              <a:ahLst/>
              <a:cxnLst/>
              <a:rect r="r" b="b" t="t" l="l"/>
              <a:pathLst>
                <a:path h="1700784" w="548640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5266944" y="0"/>
                  </a:lnTo>
                  <a:cubicBezTo>
                    <a:pt x="5388102" y="0"/>
                    <a:pt x="5486400" y="98298"/>
                    <a:pt x="5486400" y="219456"/>
                  </a:cubicBezTo>
                  <a:lnTo>
                    <a:pt x="5486400" y="1481328"/>
                  </a:lnTo>
                  <a:cubicBezTo>
                    <a:pt x="5486400" y="1602486"/>
                    <a:pt x="5388102" y="1700784"/>
                    <a:pt x="5266944" y="1700784"/>
                  </a:cubicBezTo>
                  <a:lnTo>
                    <a:pt x="219456" y="1700784"/>
                  </a:lnTo>
                  <a:cubicBezTo>
                    <a:pt x="98298" y="1700784"/>
                    <a:pt x="0" y="1602486"/>
                    <a:pt x="0" y="148132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65860" y="7749540"/>
            <a:ext cx="1097280" cy="1275588"/>
            <a:chOff x="0" y="0"/>
            <a:chExt cx="1463040" cy="17007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463040" cy="1700784"/>
            </a:xfrm>
            <a:custGeom>
              <a:avLst/>
              <a:gdLst/>
              <a:ahLst/>
              <a:cxnLst/>
              <a:rect r="r" b="b" t="t" l="l"/>
              <a:pathLst>
                <a:path h="170078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700784"/>
                  </a:lnTo>
                  <a:lnTo>
                    <a:pt x="0" y="1700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152" t="0" r="-99152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463040" cy="17103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66708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2331720" y="7749540"/>
            <a:ext cx="2468880" cy="1275588"/>
            <a:chOff x="0" y="0"/>
            <a:chExt cx="3291840" cy="170078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91840" cy="1700784"/>
            </a:xfrm>
            <a:custGeom>
              <a:avLst/>
              <a:gdLst/>
              <a:ahLst/>
              <a:cxnLst/>
              <a:rect r="r" b="b" t="t" l="l"/>
              <a:pathLst>
                <a:path h="1700784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1700784"/>
                  </a:lnTo>
                  <a:lnTo>
                    <a:pt x="0" y="1700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90" t="0" r="-1629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291840" cy="17388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iniciar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5280660" y="4869180"/>
            <a:ext cx="12179808" cy="754380"/>
            <a:chOff x="0" y="0"/>
            <a:chExt cx="16239744" cy="10058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23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2397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020287" y="0"/>
                  </a:lnTo>
                  <a:cubicBezTo>
                    <a:pt x="16141446" y="0"/>
                    <a:pt x="16239744" y="98298"/>
                    <a:pt x="16239744" y="219456"/>
                  </a:cubicBezTo>
                  <a:lnTo>
                    <a:pt x="16239744" y="786384"/>
                  </a:lnTo>
                  <a:cubicBezTo>
                    <a:pt x="16239744" y="907542"/>
                    <a:pt x="16141446" y="1005840"/>
                    <a:pt x="16020287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5554980" y="4869180"/>
            <a:ext cx="5212080" cy="754380"/>
            <a:chOff x="0" y="0"/>
            <a:chExt cx="6949440" cy="1005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49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9494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Sprint 0 y gobierno ágil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835640" y="4869180"/>
            <a:ext cx="2880360" cy="754380"/>
            <a:chOff x="0" y="0"/>
            <a:chExt cx="3840480" cy="10058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840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38404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Julio Soto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4744700" y="4978908"/>
            <a:ext cx="2468880" cy="534924"/>
            <a:chOff x="0" y="0"/>
            <a:chExt cx="3291840" cy="7132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356616"/>
                  </a:moveTo>
                  <a:cubicBezTo>
                    <a:pt x="0" y="159639"/>
                    <a:pt x="159639" y="0"/>
                    <a:pt x="356616" y="0"/>
                  </a:cubicBezTo>
                  <a:lnTo>
                    <a:pt x="2935224" y="0"/>
                  </a:lnTo>
                  <a:cubicBezTo>
                    <a:pt x="3132201" y="0"/>
                    <a:pt x="3291840" y="159639"/>
                    <a:pt x="3291840" y="356616"/>
                  </a:cubicBezTo>
                  <a:cubicBezTo>
                    <a:pt x="3291840" y="553593"/>
                    <a:pt x="3132201" y="713232"/>
                    <a:pt x="2935224" y="713232"/>
                  </a:cubicBezTo>
                  <a:lnTo>
                    <a:pt x="356616" y="713232"/>
                  </a:lnTo>
                  <a:cubicBezTo>
                    <a:pt x="159639" y="713232"/>
                    <a:pt x="0" y="553593"/>
                    <a:pt x="0" y="3566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4744700" y="4978908"/>
            <a:ext cx="2468880" cy="534924"/>
            <a:chOff x="0" y="0"/>
            <a:chExt cx="3291840" cy="71323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291840" cy="75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Completado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280660" y="5733288"/>
            <a:ext cx="12179808" cy="754380"/>
            <a:chOff x="0" y="0"/>
            <a:chExt cx="16239744" cy="10058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23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2397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020287" y="0"/>
                  </a:lnTo>
                  <a:cubicBezTo>
                    <a:pt x="16141446" y="0"/>
                    <a:pt x="16239744" y="98298"/>
                    <a:pt x="16239744" y="219456"/>
                  </a:cubicBezTo>
                  <a:lnTo>
                    <a:pt x="16239744" y="786384"/>
                  </a:lnTo>
                  <a:cubicBezTo>
                    <a:pt x="16239744" y="907542"/>
                    <a:pt x="16141446" y="1005840"/>
                    <a:pt x="16020287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554980" y="5733288"/>
            <a:ext cx="5212080" cy="754380"/>
            <a:chOff x="0" y="0"/>
            <a:chExt cx="6949440" cy="10058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949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69494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Diccionario Firestore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0835640" y="5733288"/>
            <a:ext cx="2880360" cy="754380"/>
            <a:chOff x="0" y="0"/>
            <a:chExt cx="3840480" cy="10058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840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38404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Julio Soto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744700" y="5843016"/>
            <a:ext cx="2468880" cy="534924"/>
            <a:chOff x="0" y="0"/>
            <a:chExt cx="3291840" cy="71323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356616"/>
                  </a:moveTo>
                  <a:cubicBezTo>
                    <a:pt x="0" y="159639"/>
                    <a:pt x="159639" y="0"/>
                    <a:pt x="356616" y="0"/>
                  </a:cubicBezTo>
                  <a:lnTo>
                    <a:pt x="2935224" y="0"/>
                  </a:lnTo>
                  <a:cubicBezTo>
                    <a:pt x="3132201" y="0"/>
                    <a:pt x="3291840" y="159639"/>
                    <a:pt x="3291840" y="356616"/>
                  </a:cubicBezTo>
                  <a:cubicBezTo>
                    <a:pt x="3291840" y="553593"/>
                    <a:pt x="3132201" y="713232"/>
                    <a:pt x="2935224" y="713232"/>
                  </a:cubicBezTo>
                  <a:lnTo>
                    <a:pt x="356616" y="713232"/>
                  </a:lnTo>
                  <a:cubicBezTo>
                    <a:pt x="159639" y="713232"/>
                    <a:pt x="0" y="553593"/>
                    <a:pt x="0" y="3566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4744700" y="5843016"/>
            <a:ext cx="2468880" cy="534924"/>
            <a:chOff x="0" y="0"/>
            <a:chExt cx="3291840" cy="71323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3291840" cy="75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280660" y="6597396"/>
            <a:ext cx="12179808" cy="754380"/>
            <a:chOff x="0" y="0"/>
            <a:chExt cx="16239744" cy="10058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623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2397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020287" y="0"/>
                  </a:lnTo>
                  <a:cubicBezTo>
                    <a:pt x="16141446" y="0"/>
                    <a:pt x="16239744" y="98298"/>
                    <a:pt x="16239744" y="219456"/>
                  </a:cubicBezTo>
                  <a:lnTo>
                    <a:pt x="16239744" y="786384"/>
                  </a:lnTo>
                  <a:cubicBezTo>
                    <a:pt x="16239744" y="907542"/>
                    <a:pt x="16141446" y="1005840"/>
                    <a:pt x="16020287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554980" y="6597396"/>
            <a:ext cx="5212080" cy="754380"/>
            <a:chOff x="0" y="0"/>
            <a:chExt cx="6949440" cy="10058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949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69494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móvil Ionic / Angular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835640" y="6597396"/>
            <a:ext cx="2880360" cy="754380"/>
            <a:chOff x="0" y="0"/>
            <a:chExt cx="3840480" cy="10058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840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38404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Julio · Mauricio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744700" y="6707124"/>
            <a:ext cx="2468880" cy="534924"/>
            <a:chOff x="0" y="0"/>
            <a:chExt cx="3291840" cy="71323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356616"/>
                  </a:moveTo>
                  <a:cubicBezTo>
                    <a:pt x="0" y="159639"/>
                    <a:pt x="159639" y="0"/>
                    <a:pt x="356616" y="0"/>
                  </a:cubicBezTo>
                  <a:lnTo>
                    <a:pt x="2935224" y="0"/>
                  </a:lnTo>
                  <a:cubicBezTo>
                    <a:pt x="3132201" y="0"/>
                    <a:pt x="3291840" y="159639"/>
                    <a:pt x="3291840" y="356616"/>
                  </a:cubicBezTo>
                  <a:cubicBezTo>
                    <a:pt x="3291840" y="553593"/>
                    <a:pt x="3132201" y="713232"/>
                    <a:pt x="2935224" y="713232"/>
                  </a:cubicBezTo>
                  <a:lnTo>
                    <a:pt x="356616" y="713232"/>
                  </a:lnTo>
                  <a:cubicBezTo>
                    <a:pt x="159639" y="713232"/>
                    <a:pt x="0" y="553593"/>
                    <a:pt x="0" y="356616"/>
                  </a:cubicBezTo>
                  <a:close/>
                </a:path>
              </a:pathLst>
            </a:custGeom>
            <a:solidFill>
              <a:srgbClr val="E7F0F3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4744700" y="6707124"/>
            <a:ext cx="2468880" cy="534924"/>
            <a:chOff x="0" y="0"/>
            <a:chExt cx="3291840" cy="71323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291840" cy="75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iniciar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5280660" y="7461504"/>
            <a:ext cx="12179808" cy="754380"/>
            <a:chOff x="0" y="0"/>
            <a:chExt cx="16239744" cy="100584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623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2397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020287" y="0"/>
                  </a:lnTo>
                  <a:cubicBezTo>
                    <a:pt x="16141446" y="0"/>
                    <a:pt x="16239744" y="98298"/>
                    <a:pt x="16239744" y="219456"/>
                  </a:cubicBezTo>
                  <a:lnTo>
                    <a:pt x="16239744" y="786384"/>
                  </a:lnTo>
                  <a:cubicBezTo>
                    <a:pt x="16239744" y="907542"/>
                    <a:pt x="16141446" y="1005840"/>
                    <a:pt x="16020287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554980" y="7461504"/>
            <a:ext cx="5212080" cy="754380"/>
            <a:chOff x="0" y="0"/>
            <a:chExt cx="6949440" cy="100584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949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69494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Mockups y prototipo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835640" y="7461504"/>
            <a:ext cx="2880360" cy="754380"/>
            <a:chOff x="0" y="0"/>
            <a:chExt cx="3840480" cy="10058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840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38404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Muriel Miranda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4744700" y="7571232"/>
            <a:ext cx="2468880" cy="534924"/>
            <a:chOff x="0" y="0"/>
            <a:chExt cx="3291840" cy="71323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356616"/>
                  </a:moveTo>
                  <a:cubicBezTo>
                    <a:pt x="0" y="159639"/>
                    <a:pt x="159639" y="0"/>
                    <a:pt x="356616" y="0"/>
                  </a:cubicBezTo>
                  <a:lnTo>
                    <a:pt x="2935224" y="0"/>
                  </a:lnTo>
                  <a:cubicBezTo>
                    <a:pt x="3132201" y="0"/>
                    <a:pt x="3291840" y="159639"/>
                    <a:pt x="3291840" y="356616"/>
                  </a:cubicBezTo>
                  <a:cubicBezTo>
                    <a:pt x="3291840" y="553593"/>
                    <a:pt x="3132201" y="713232"/>
                    <a:pt x="2935224" y="713232"/>
                  </a:cubicBezTo>
                  <a:lnTo>
                    <a:pt x="356616" y="713232"/>
                  </a:lnTo>
                  <a:cubicBezTo>
                    <a:pt x="159639" y="713232"/>
                    <a:pt x="0" y="553593"/>
                    <a:pt x="0" y="356616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744700" y="7571232"/>
            <a:ext cx="2468880" cy="534924"/>
            <a:chOff x="0" y="0"/>
            <a:chExt cx="3291840" cy="71323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291840" cy="75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curso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280660" y="8325612"/>
            <a:ext cx="12179808" cy="754380"/>
            <a:chOff x="0" y="0"/>
            <a:chExt cx="16239744" cy="10058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6239744" cy="1005840"/>
            </a:xfrm>
            <a:custGeom>
              <a:avLst/>
              <a:gdLst/>
              <a:ahLst/>
              <a:cxnLst/>
              <a:rect r="r" b="b" t="t" l="l"/>
              <a:pathLst>
                <a:path h="1005840" w="162397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020287" y="0"/>
                  </a:lnTo>
                  <a:cubicBezTo>
                    <a:pt x="16141446" y="0"/>
                    <a:pt x="16239744" y="98298"/>
                    <a:pt x="16239744" y="219456"/>
                  </a:cubicBezTo>
                  <a:lnTo>
                    <a:pt x="16239744" y="786384"/>
                  </a:lnTo>
                  <a:cubicBezTo>
                    <a:pt x="16239744" y="907542"/>
                    <a:pt x="16141446" y="1005840"/>
                    <a:pt x="16020287" y="1005840"/>
                  </a:cubicBezTo>
                  <a:lnTo>
                    <a:pt x="219456" y="1005840"/>
                  </a:lnTo>
                  <a:cubicBezTo>
                    <a:pt x="98298" y="1005840"/>
                    <a:pt x="0" y="907542"/>
                    <a:pt x="0" y="78638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5554980" y="8325612"/>
            <a:ext cx="5212080" cy="754380"/>
            <a:chOff x="0" y="0"/>
            <a:chExt cx="6949440" cy="100584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69494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23" r="0" b="-84623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69494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y modelo probabilístico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835640" y="8325612"/>
            <a:ext cx="2880360" cy="754380"/>
            <a:chOff x="0" y="0"/>
            <a:chExt cx="3840480" cy="10058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8404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397" r="0" b="-24397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384048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Julio · Mauricio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4744700" y="8435340"/>
            <a:ext cx="2468880" cy="534924"/>
            <a:chOff x="0" y="0"/>
            <a:chExt cx="3291840" cy="71323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356616"/>
                  </a:moveTo>
                  <a:cubicBezTo>
                    <a:pt x="0" y="159639"/>
                    <a:pt x="159639" y="0"/>
                    <a:pt x="356616" y="0"/>
                  </a:cubicBezTo>
                  <a:lnTo>
                    <a:pt x="2935224" y="0"/>
                  </a:lnTo>
                  <a:cubicBezTo>
                    <a:pt x="3132201" y="0"/>
                    <a:pt x="3291840" y="159639"/>
                    <a:pt x="3291840" y="356616"/>
                  </a:cubicBezTo>
                  <a:cubicBezTo>
                    <a:pt x="3291840" y="553593"/>
                    <a:pt x="3132201" y="713232"/>
                    <a:pt x="2935224" y="713232"/>
                  </a:cubicBezTo>
                  <a:lnTo>
                    <a:pt x="356616" y="713232"/>
                  </a:lnTo>
                  <a:cubicBezTo>
                    <a:pt x="159639" y="713232"/>
                    <a:pt x="0" y="553593"/>
                    <a:pt x="0" y="356616"/>
                  </a:cubicBezTo>
                  <a:close/>
                </a:path>
              </a:pathLst>
            </a:custGeom>
            <a:solidFill>
              <a:srgbClr val="E7F0F3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4744700" y="8435340"/>
            <a:ext cx="2468880" cy="534924"/>
            <a:chOff x="0" y="0"/>
            <a:chExt cx="3291840" cy="71323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3291840" cy="713232"/>
            </a:xfrm>
            <a:custGeom>
              <a:avLst/>
              <a:gdLst/>
              <a:ahLst/>
              <a:cxnLst/>
              <a:rect r="r" b="b" t="t" l="l"/>
              <a:pathLst>
                <a:path h="7132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30" r="0" b="-3993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3291840" cy="7513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iniciar</a:t>
              </a: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Riesgos y gestión preventiva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3566160" cy="411480"/>
            <a:chOff x="0" y="0"/>
            <a:chExt cx="475488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4480560" y="0"/>
                  </a:lnTo>
                  <a:cubicBezTo>
                    <a:pt x="4632071" y="0"/>
                    <a:pt x="4754880" y="122809"/>
                    <a:pt x="4754880" y="274320"/>
                  </a:cubicBezTo>
                  <a:cubicBezTo>
                    <a:pt x="4754880" y="425831"/>
                    <a:pt x="4632071" y="548640"/>
                    <a:pt x="4480560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3566160" cy="411480"/>
            <a:chOff x="0" y="0"/>
            <a:chExt cx="475488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54880" cy="548640"/>
            </a:xfrm>
            <a:custGeom>
              <a:avLst/>
              <a:gdLst/>
              <a:ahLst/>
              <a:cxnLst/>
              <a:rect r="r" b="b" t="t" l="l"/>
              <a:pathLst>
                <a:path h="5486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75488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DEL PROYECTO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65860" y="2321052"/>
            <a:ext cx="41148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RIESGO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32320" y="2321052"/>
            <a:ext cx="4114800" cy="449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MITIGACIÓN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22960" y="2880360"/>
            <a:ext cx="11521440" cy="1069848"/>
            <a:chOff x="0" y="0"/>
            <a:chExt cx="15361920" cy="14264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361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361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5142463" y="0"/>
                  </a:lnTo>
                  <a:cubicBezTo>
                    <a:pt x="15263622" y="0"/>
                    <a:pt x="15361920" y="98298"/>
                    <a:pt x="15361920" y="219456"/>
                  </a:cubicBezTo>
                  <a:lnTo>
                    <a:pt x="15361920" y="1207008"/>
                  </a:lnTo>
                  <a:cubicBezTo>
                    <a:pt x="15361920" y="1328166"/>
                    <a:pt x="15263622" y="1426464"/>
                    <a:pt x="15142463" y="1426464"/>
                  </a:cubicBezTo>
                  <a:lnTo>
                    <a:pt x="219456" y="1426464"/>
                  </a:lnTo>
                  <a:cubicBezTo>
                    <a:pt x="98298" y="1426464"/>
                    <a:pt x="0" y="1328166"/>
                    <a:pt x="0" y="120700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3072384"/>
            <a:ext cx="685800" cy="685800"/>
            <a:chOff x="0" y="0"/>
            <a:chExt cx="9144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93292" y="3236976"/>
            <a:ext cx="356616" cy="356616"/>
            <a:chOff x="0" y="0"/>
            <a:chExt cx="475488" cy="475488"/>
          </a:xfrm>
        </p:grpSpPr>
        <p:sp>
          <p:nvSpPr>
            <p:cNvPr name="Freeform 20" id="20" descr="FiAlertTriangl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920240" y="2880360"/>
            <a:ext cx="4663440" cy="1069848"/>
            <a:chOff x="0" y="0"/>
            <a:chExt cx="6217920" cy="1426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34" r="0" b="-3493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62179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Sobrecarga de documentación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652260" y="3236976"/>
            <a:ext cx="356616" cy="356616"/>
            <a:chOff x="0" y="0"/>
            <a:chExt cx="475488" cy="475488"/>
          </a:xfrm>
        </p:grpSpPr>
        <p:sp>
          <p:nvSpPr>
            <p:cNvPr name="Freeform 25" id="25" descr="mitigación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269480" y="3209544"/>
            <a:ext cx="411480" cy="411480"/>
            <a:chOff x="0" y="0"/>
            <a:chExt cx="548640" cy="548640"/>
          </a:xfrm>
        </p:grpSpPr>
        <p:sp>
          <p:nvSpPr>
            <p:cNvPr name="Freeform 27" id="27" descr="escudo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886700" y="2880360"/>
            <a:ext cx="4320540" cy="1069848"/>
            <a:chOff x="0" y="0"/>
            <a:chExt cx="5760720" cy="14264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607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7607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Backlog priorizado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4114800"/>
            <a:ext cx="11521440" cy="1069848"/>
            <a:chOff x="0" y="0"/>
            <a:chExt cx="15361920" cy="1426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361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361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5142463" y="0"/>
                  </a:lnTo>
                  <a:cubicBezTo>
                    <a:pt x="15263622" y="0"/>
                    <a:pt x="15361920" y="98298"/>
                    <a:pt x="15361920" y="219456"/>
                  </a:cubicBezTo>
                  <a:lnTo>
                    <a:pt x="15361920" y="1207008"/>
                  </a:lnTo>
                  <a:cubicBezTo>
                    <a:pt x="15361920" y="1328166"/>
                    <a:pt x="15263622" y="1426464"/>
                    <a:pt x="15142463" y="1426464"/>
                  </a:cubicBezTo>
                  <a:lnTo>
                    <a:pt x="219456" y="1426464"/>
                  </a:lnTo>
                  <a:cubicBezTo>
                    <a:pt x="98298" y="1426464"/>
                    <a:pt x="0" y="1328166"/>
                    <a:pt x="0" y="120700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28700" y="4306824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93292" y="4471416"/>
            <a:ext cx="356616" cy="356616"/>
            <a:chOff x="0" y="0"/>
            <a:chExt cx="475488" cy="475488"/>
          </a:xfrm>
        </p:grpSpPr>
        <p:sp>
          <p:nvSpPr>
            <p:cNvPr name="Freeform 36" id="36" descr="FiAlertTriangl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20240" y="4114800"/>
            <a:ext cx="4663440" cy="1069848"/>
            <a:chOff x="0" y="0"/>
            <a:chExt cx="6217920" cy="14264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34" r="0" b="-3493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2179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 demasiado amplio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652260" y="4471416"/>
            <a:ext cx="356616" cy="356616"/>
            <a:chOff x="0" y="0"/>
            <a:chExt cx="475488" cy="475488"/>
          </a:xfrm>
        </p:grpSpPr>
        <p:sp>
          <p:nvSpPr>
            <p:cNvPr name="Freeform 41" id="41" descr="mitigación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269480" y="4443984"/>
            <a:ext cx="411480" cy="411480"/>
            <a:chOff x="0" y="0"/>
            <a:chExt cx="548640" cy="548640"/>
          </a:xfrm>
        </p:grpSpPr>
        <p:sp>
          <p:nvSpPr>
            <p:cNvPr name="Freeform 43" id="43" descr="escudo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886700" y="4114800"/>
            <a:ext cx="4320540" cy="1069848"/>
            <a:chOff x="0" y="0"/>
            <a:chExt cx="5760720" cy="14264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607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57607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Delimitación</a:t>
              </a: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estricta del flujo crítico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5349240"/>
            <a:ext cx="11521440" cy="1069848"/>
            <a:chOff x="0" y="0"/>
            <a:chExt cx="15361920" cy="14264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361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361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5142463" y="0"/>
                  </a:lnTo>
                  <a:cubicBezTo>
                    <a:pt x="15263622" y="0"/>
                    <a:pt x="15361920" y="98298"/>
                    <a:pt x="15361920" y="219456"/>
                  </a:cubicBezTo>
                  <a:lnTo>
                    <a:pt x="15361920" y="1207008"/>
                  </a:lnTo>
                  <a:cubicBezTo>
                    <a:pt x="15361920" y="1328166"/>
                    <a:pt x="15263622" y="1426464"/>
                    <a:pt x="15142463" y="1426464"/>
                  </a:cubicBezTo>
                  <a:lnTo>
                    <a:pt x="219456" y="1426464"/>
                  </a:lnTo>
                  <a:cubicBezTo>
                    <a:pt x="98298" y="1426464"/>
                    <a:pt x="0" y="1328166"/>
                    <a:pt x="0" y="120700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28700" y="5541264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93292" y="5705856"/>
            <a:ext cx="356616" cy="356616"/>
            <a:chOff x="0" y="0"/>
            <a:chExt cx="475488" cy="475488"/>
          </a:xfrm>
        </p:grpSpPr>
        <p:sp>
          <p:nvSpPr>
            <p:cNvPr name="Freeform 52" id="52" descr="FiAlertTriangl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920240" y="5349240"/>
            <a:ext cx="4663440" cy="1069848"/>
            <a:chOff x="0" y="0"/>
            <a:chExt cx="6217920" cy="14264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34" r="0" b="-3493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2179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Dependencia técnica de un integrante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52260" y="5705856"/>
            <a:ext cx="356616" cy="356616"/>
            <a:chOff x="0" y="0"/>
            <a:chExt cx="475488" cy="475488"/>
          </a:xfrm>
        </p:grpSpPr>
        <p:sp>
          <p:nvSpPr>
            <p:cNvPr name="Freeform 57" id="57" descr="mitigación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7269480" y="5678424"/>
            <a:ext cx="411480" cy="411480"/>
            <a:chOff x="0" y="0"/>
            <a:chExt cx="548640" cy="548640"/>
          </a:xfrm>
        </p:grpSpPr>
        <p:sp>
          <p:nvSpPr>
            <p:cNvPr name="Freeform 59" id="59" descr="escudo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886700" y="5349240"/>
            <a:ext cx="4320540" cy="1069848"/>
            <a:chOff x="0" y="0"/>
            <a:chExt cx="5760720" cy="14264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7607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57607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Pair programming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22960" y="6583680"/>
            <a:ext cx="11521440" cy="1069848"/>
            <a:chOff x="0" y="0"/>
            <a:chExt cx="15361920" cy="142646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5361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361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5142463" y="0"/>
                  </a:lnTo>
                  <a:cubicBezTo>
                    <a:pt x="15263622" y="0"/>
                    <a:pt x="15361920" y="98298"/>
                    <a:pt x="15361920" y="219456"/>
                  </a:cubicBezTo>
                  <a:lnTo>
                    <a:pt x="15361920" y="1207008"/>
                  </a:lnTo>
                  <a:cubicBezTo>
                    <a:pt x="15361920" y="1328166"/>
                    <a:pt x="15263622" y="1426464"/>
                    <a:pt x="15142463" y="1426464"/>
                  </a:cubicBezTo>
                  <a:lnTo>
                    <a:pt x="219456" y="1426464"/>
                  </a:lnTo>
                  <a:cubicBezTo>
                    <a:pt x="98298" y="1426464"/>
                    <a:pt x="0" y="1328166"/>
                    <a:pt x="0" y="120700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8700" y="6775704"/>
            <a:ext cx="685800" cy="685800"/>
            <a:chOff x="0" y="0"/>
            <a:chExt cx="9144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93292" y="6940296"/>
            <a:ext cx="356616" cy="356616"/>
            <a:chOff x="0" y="0"/>
            <a:chExt cx="475488" cy="475488"/>
          </a:xfrm>
        </p:grpSpPr>
        <p:sp>
          <p:nvSpPr>
            <p:cNvPr name="Freeform 68" id="68" descr="FiAlertTriangl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920240" y="6583680"/>
            <a:ext cx="4663440" cy="1069848"/>
            <a:chOff x="0" y="0"/>
            <a:chExt cx="6217920" cy="14264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217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34" r="0" b="-3493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2179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Integraciones de pago complejas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652260" y="6940296"/>
            <a:ext cx="356616" cy="356616"/>
            <a:chOff x="0" y="0"/>
            <a:chExt cx="475488" cy="475488"/>
          </a:xfrm>
        </p:grpSpPr>
        <p:sp>
          <p:nvSpPr>
            <p:cNvPr name="Freeform 73" id="73" descr="mitigación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269480" y="6912864"/>
            <a:ext cx="411480" cy="411480"/>
            <a:chOff x="0" y="0"/>
            <a:chExt cx="548640" cy="548640"/>
          </a:xfrm>
        </p:grpSpPr>
        <p:sp>
          <p:nvSpPr>
            <p:cNvPr name="Freeform 75" id="75" descr="escudo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886700" y="6583680"/>
            <a:ext cx="4320540" cy="1069848"/>
            <a:chOff x="0" y="0"/>
            <a:chExt cx="5760720" cy="142646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7607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57607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Pagos solo en sandbox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822960" y="7818120"/>
            <a:ext cx="11521440" cy="1069848"/>
            <a:chOff x="0" y="0"/>
            <a:chExt cx="15361920" cy="142646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5361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53619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5142463" y="0"/>
                  </a:lnTo>
                  <a:cubicBezTo>
                    <a:pt x="15263622" y="0"/>
                    <a:pt x="15361920" y="98298"/>
                    <a:pt x="15361920" y="219456"/>
                  </a:cubicBezTo>
                  <a:lnTo>
                    <a:pt x="15361920" y="1207008"/>
                  </a:lnTo>
                  <a:cubicBezTo>
                    <a:pt x="15361920" y="1328166"/>
                    <a:pt x="15263622" y="1426464"/>
                    <a:pt x="15142463" y="1426464"/>
                  </a:cubicBezTo>
                  <a:lnTo>
                    <a:pt x="219456" y="1426464"/>
                  </a:lnTo>
                  <a:cubicBezTo>
                    <a:pt x="98298" y="1426464"/>
                    <a:pt x="0" y="1328166"/>
                    <a:pt x="0" y="1207008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028700" y="8010144"/>
            <a:ext cx="685800" cy="685800"/>
            <a:chOff x="0" y="0"/>
            <a:chExt cx="914400" cy="914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93292" y="8174736"/>
            <a:ext cx="356616" cy="356616"/>
            <a:chOff x="0" y="0"/>
            <a:chExt cx="475488" cy="475488"/>
          </a:xfrm>
        </p:grpSpPr>
        <p:sp>
          <p:nvSpPr>
            <p:cNvPr name="Freeform 84" id="84" descr="FiAlertTriangl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920240" y="7818120"/>
            <a:ext cx="4663440" cy="1069848"/>
            <a:chOff x="0" y="0"/>
            <a:chExt cx="6217920" cy="14264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2179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934" r="0" b="-3493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62179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Falta de datos para minería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652260" y="8174736"/>
            <a:ext cx="356616" cy="356616"/>
            <a:chOff x="0" y="0"/>
            <a:chExt cx="475488" cy="475488"/>
          </a:xfrm>
        </p:grpSpPr>
        <p:sp>
          <p:nvSpPr>
            <p:cNvPr name="Freeform 89" id="89" descr="mitigación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7269480" y="8147304"/>
            <a:ext cx="411480" cy="411480"/>
            <a:chOff x="0" y="0"/>
            <a:chExt cx="548640" cy="548640"/>
          </a:xfrm>
        </p:grpSpPr>
        <p:sp>
          <p:nvSpPr>
            <p:cNvPr name="Freeform 91" id="91" descr="escudo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7886700" y="7818120"/>
            <a:ext cx="4320540" cy="1069848"/>
            <a:chOff x="0" y="0"/>
            <a:chExt cx="5760720" cy="14264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760720" cy="1426464"/>
            </a:xfrm>
            <a:custGeom>
              <a:avLst/>
              <a:gdLst/>
              <a:ahLst/>
              <a:cxnLst/>
              <a:rect r="r" b="b" t="t" l="l"/>
              <a:pathLst>
                <a:path h="1426464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1426464"/>
                  </a:lnTo>
                  <a:lnTo>
                    <a:pt x="0" y="1426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9" r="0" b="-28689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47625"/>
              <a:ext cx="5760720" cy="14740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0263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demo controlados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755880" y="2400300"/>
            <a:ext cx="4704588" cy="6652260"/>
            <a:chOff x="0" y="0"/>
            <a:chExt cx="6272784" cy="88696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272784" cy="8869680"/>
            </a:xfrm>
            <a:custGeom>
              <a:avLst/>
              <a:gdLst/>
              <a:ahLst/>
              <a:cxnLst/>
              <a:rect r="r" b="b" t="t" l="l"/>
              <a:pathLst>
                <a:path h="8869680" w="627278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053328" y="0"/>
                  </a:lnTo>
                  <a:cubicBezTo>
                    <a:pt x="6174486" y="0"/>
                    <a:pt x="6272784" y="98298"/>
                    <a:pt x="6272784" y="219456"/>
                  </a:cubicBezTo>
                  <a:lnTo>
                    <a:pt x="6272784" y="8650224"/>
                  </a:lnTo>
                  <a:cubicBezTo>
                    <a:pt x="6272784" y="8771382"/>
                    <a:pt x="6174486" y="8869680"/>
                    <a:pt x="6053328" y="8869680"/>
                  </a:cubicBezTo>
                  <a:lnTo>
                    <a:pt x="219456" y="8869680"/>
                  </a:lnTo>
                  <a:cubicBezTo>
                    <a:pt x="98298" y="8869680"/>
                    <a:pt x="0" y="8771382"/>
                    <a:pt x="0" y="86502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97" id="97"/>
          <p:cNvSpPr txBox="true"/>
          <p:nvPr/>
        </p:nvSpPr>
        <p:spPr>
          <a:xfrm rot="0">
            <a:off x="13098780" y="2655570"/>
            <a:ext cx="411480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Cómo controlamos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13098780" y="3675888"/>
            <a:ext cx="685800" cy="685800"/>
            <a:chOff x="0" y="0"/>
            <a:chExt cx="914400" cy="914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263372" y="3840480"/>
            <a:ext cx="356616" cy="356616"/>
            <a:chOff x="0" y="0"/>
            <a:chExt cx="475488" cy="475488"/>
          </a:xfrm>
        </p:grpSpPr>
        <p:sp>
          <p:nvSpPr>
            <p:cNvPr name="Freeform 101" id="101" descr="FiCalendar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990320" y="3566160"/>
            <a:ext cx="3291840" cy="905256"/>
            <a:chOff x="0" y="0"/>
            <a:chExt cx="4389120" cy="120700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3891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4389120" cy="125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Revisiones semanales y minutas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3098780" y="5020056"/>
            <a:ext cx="685800" cy="685800"/>
            <a:chOff x="0" y="0"/>
            <a:chExt cx="914400" cy="9144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3263372" y="5184648"/>
            <a:ext cx="356616" cy="356616"/>
            <a:chOff x="0" y="0"/>
            <a:chExt cx="475488" cy="475488"/>
          </a:xfrm>
        </p:grpSpPr>
        <p:sp>
          <p:nvSpPr>
            <p:cNvPr name="Freeform 108" id="108" descr="FiList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990320" y="4910328"/>
            <a:ext cx="3291840" cy="905256"/>
            <a:chOff x="0" y="0"/>
            <a:chExt cx="4389120" cy="120700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3891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4389120" cy="125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y Sprint Backlog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098780" y="6364224"/>
            <a:ext cx="685800" cy="685800"/>
            <a:chOff x="0" y="0"/>
            <a:chExt cx="914400" cy="9144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3263372" y="6528816"/>
            <a:ext cx="356616" cy="356616"/>
            <a:chOff x="0" y="0"/>
            <a:chExt cx="475488" cy="475488"/>
          </a:xfrm>
        </p:grpSpPr>
        <p:sp>
          <p:nvSpPr>
            <p:cNvPr name="Freeform 115" id="115" descr="FiTrendingUp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990320" y="6254496"/>
            <a:ext cx="3291840" cy="905256"/>
            <a:chOff x="0" y="0"/>
            <a:chExt cx="4389120" cy="120700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3891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47625"/>
              <a:ext cx="4389120" cy="125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Burndown, reviews y retrospectivas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098780" y="7708392"/>
            <a:ext cx="685800" cy="685800"/>
            <a:chOff x="0" y="0"/>
            <a:chExt cx="914400" cy="9144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263372" y="7872984"/>
            <a:ext cx="356616" cy="356616"/>
            <a:chOff x="0" y="0"/>
            <a:chExt cx="475488" cy="475488"/>
          </a:xfrm>
        </p:grpSpPr>
        <p:sp>
          <p:nvSpPr>
            <p:cNvPr name="Freeform 122" id="122" descr="FiCheckSquare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3990320" y="7598664"/>
            <a:ext cx="3291840" cy="905256"/>
            <a:chOff x="0" y="0"/>
            <a:chExt cx="4389120" cy="120700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389120" cy="1207008"/>
            </a:xfrm>
            <a:custGeom>
              <a:avLst/>
              <a:gdLst/>
              <a:ahLst/>
              <a:cxnLst/>
              <a:rect r="r" b="b" t="t" l="l"/>
              <a:pathLst>
                <a:path h="1207008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54" r="0" b="-2085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4389120" cy="12546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Pruebas y validación (V&amp;V)</a:t>
              </a:r>
            </a:p>
          </p:txBody>
        </p:sp>
      </p:grpSp>
      <p:sp>
        <p:nvSpPr>
          <p:cNvPr name="TextBox 126" id="126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6708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ServiGo · Presentación de avance · Fase 2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069848"/>
            <a:ext cx="16637508" cy="1097280"/>
            <a:chOff x="0" y="0"/>
            <a:chExt cx="22183344" cy="14630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83344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Conclusiones individuales y próximos pasos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548640"/>
            <a:ext cx="2702052" cy="411480"/>
            <a:chOff x="0" y="0"/>
            <a:chExt cx="3602736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2736" cy="548640"/>
            </a:xfrm>
            <a:custGeom>
              <a:avLst/>
              <a:gdLst/>
              <a:ahLst/>
              <a:cxnLst/>
              <a:rect r="r" b="b" t="t" l="l"/>
              <a:pathLst>
                <a:path h="548640" w="3602736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lnTo>
                    <a:pt x="3328416" y="0"/>
                  </a:lnTo>
                  <a:cubicBezTo>
                    <a:pt x="3479927" y="0"/>
                    <a:pt x="3602736" y="122809"/>
                    <a:pt x="3602736" y="274320"/>
                  </a:cubicBezTo>
                  <a:cubicBezTo>
                    <a:pt x="3602736" y="425831"/>
                    <a:pt x="3479927" y="548640"/>
                    <a:pt x="3328416" y="548640"/>
                  </a:cubicBezTo>
                  <a:lnTo>
                    <a:pt x="274320" y="548640"/>
                  </a:ln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FCEADA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548640"/>
            <a:ext cx="2702052" cy="411480"/>
            <a:chOff x="0" y="0"/>
            <a:chExt cx="3602736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02736" cy="548640"/>
            </a:xfrm>
            <a:custGeom>
              <a:avLst/>
              <a:gdLst/>
              <a:ahLst/>
              <a:cxnLst/>
              <a:rect r="r" b="b" t="t" l="l"/>
              <a:pathLst>
                <a:path h="54864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951" r="0" b="-7795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602736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CIERRE DE FASE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22960" y="2400300"/>
            <a:ext cx="5349240" cy="4251960"/>
            <a:chOff x="0" y="0"/>
            <a:chExt cx="7132320" cy="5669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323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449824"/>
                  </a:lnTo>
                  <a:cubicBezTo>
                    <a:pt x="7132320" y="5570982"/>
                    <a:pt x="7034022" y="5669280"/>
                    <a:pt x="691286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5860" y="2674620"/>
            <a:ext cx="1097280" cy="1097280"/>
            <a:chOff x="0" y="0"/>
            <a:chExt cx="146304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65860" y="2674620"/>
            <a:ext cx="1097280" cy="1097280"/>
            <a:chOff x="0" y="0"/>
            <a:chExt cx="146304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JS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468880" y="2683002"/>
            <a:ext cx="34975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Julio Soto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68880" y="3244215"/>
            <a:ext cx="349758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Arquitectura y gobierno ágil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65860" y="4086225"/>
            <a:ext cx="46634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Responsable de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5860" y="4437507"/>
            <a:ext cx="466344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Sprint 0, arquitectura y diccionario Firestore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65860" y="5370195"/>
            <a:ext cx="466344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1E276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“Definir arquitectura y datos antes de programar reduce el retrabajo.”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467094" y="2400300"/>
            <a:ext cx="5349240" cy="4251960"/>
            <a:chOff x="0" y="0"/>
            <a:chExt cx="7132320" cy="56692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323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449824"/>
                  </a:lnTo>
                  <a:cubicBezTo>
                    <a:pt x="7132320" y="5570982"/>
                    <a:pt x="7034022" y="5669280"/>
                    <a:pt x="691286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809994" y="2674620"/>
            <a:ext cx="1097280" cy="1097280"/>
            <a:chOff x="0" y="0"/>
            <a:chExt cx="1463040" cy="1463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809994" y="2674620"/>
            <a:ext cx="1097280" cy="1097280"/>
            <a:chOff x="0" y="0"/>
            <a:chExt cx="146304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MP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113014" y="2683002"/>
            <a:ext cx="34975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Mauricio Pardo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113014" y="3244215"/>
            <a:ext cx="349758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Desarrollo móvil y analítica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809994" y="4086225"/>
            <a:ext cx="46634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Responsable de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809994" y="4437507"/>
            <a:ext cx="466344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Base Ionic/Angular y KPI con modelo (con Julio)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809994" y="5370195"/>
            <a:ext cx="466344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1E276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“Integrar app, pagos y BI exige pruebas desde el primer sprint.”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111228" y="2400300"/>
            <a:ext cx="5349240" cy="4251960"/>
            <a:chOff x="0" y="0"/>
            <a:chExt cx="7132320" cy="5669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132320" cy="5669280"/>
            </a:xfrm>
            <a:custGeom>
              <a:avLst/>
              <a:gdLst/>
              <a:ahLst/>
              <a:cxnLst/>
              <a:rect r="r" b="b" t="t" l="l"/>
              <a:pathLst>
                <a:path h="5669280" w="713232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912864" y="0"/>
                  </a:lnTo>
                  <a:cubicBezTo>
                    <a:pt x="7034022" y="0"/>
                    <a:pt x="7132320" y="98298"/>
                    <a:pt x="7132320" y="219456"/>
                  </a:cubicBezTo>
                  <a:lnTo>
                    <a:pt x="7132320" y="5449824"/>
                  </a:lnTo>
                  <a:cubicBezTo>
                    <a:pt x="7132320" y="5570982"/>
                    <a:pt x="7034022" y="5669280"/>
                    <a:pt x="6912864" y="5669280"/>
                  </a:cubicBezTo>
                  <a:lnTo>
                    <a:pt x="219456" y="5669280"/>
                  </a:lnTo>
                  <a:cubicBezTo>
                    <a:pt x="98298" y="5669280"/>
                    <a:pt x="0" y="5570982"/>
                    <a:pt x="0" y="5449824"/>
                  </a:cubicBezTo>
                  <a:close/>
                </a:path>
              </a:pathLst>
            </a:custGeom>
            <a:solidFill>
              <a:srgbClr val="F5F7FB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454128" y="2674620"/>
            <a:ext cx="1097280" cy="1097280"/>
            <a:chOff x="0" y="0"/>
            <a:chExt cx="146304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454128" y="2674620"/>
            <a:ext cx="1097280" cy="1097280"/>
            <a:chOff x="0" y="0"/>
            <a:chExt cx="14630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46304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MM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3757148" y="2683002"/>
            <a:ext cx="3497580" cy="567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E2761"/>
                </a:solidFill>
                <a:latin typeface="Cambria Bold"/>
                <a:ea typeface="Cambria Bold"/>
                <a:cs typeface="Cambria Bold"/>
                <a:sym typeface="Cambria Bold"/>
              </a:rPr>
              <a:t>Muriel Miranda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57148" y="3244215"/>
            <a:ext cx="3497580" cy="527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C729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Diseño UX y prototipo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454128" y="4086225"/>
            <a:ext cx="46634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66708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Responsable de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454128" y="4437507"/>
            <a:ext cx="4663440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20263B"/>
                </a:solidFill>
                <a:latin typeface="Calibri (MS)"/>
                <a:ea typeface="Calibri (MS)"/>
                <a:cs typeface="Calibri (MS)"/>
                <a:sym typeface="Calibri (MS)"/>
              </a:rPr>
              <a:t>Mockups y prototipo del flujo del cliente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54128" y="5370195"/>
            <a:ext cx="466344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1E2761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“Diseñar para cliente y técnico simplifica el flujo y las pruebas de uso.”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822960" y="6926580"/>
            <a:ext cx="16637508" cy="2194560"/>
            <a:chOff x="0" y="0"/>
            <a:chExt cx="22183344" cy="2926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83344" cy="2926080"/>
            </a:xfrm>
            <a:custGeom>
              <a:avLst/>
              <a:gdLst/>
              <a:ahLst/>
              <a:cxnLst/>
              <a:rect r="r" b="b" t="t" l="l"/>
              <a:pathLst>
                <a:path h="2926080" w="22183344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963887" y="0"/>
                  </a:lnTo>
                  <a:cubicBezTo>
                    <a:pt x="22085046" y="0"/>
                    <a:pt x="22183344" y="98298"/>
                    <a:pt x="22183344" y="219456"/>
                  </a:cubicBezTo>
                  <a:lnTo>
                    <a:pt x="22183344" y="2706624"/>
                  </a:lnTo>
                  <a:cubicBezTo>
                    <a:pt x="22183344" y="2827782"/>
                    <a:pt x="22085046" y="2926080"/>
                    <a:pt x="21963887" y="2926080"/>
                  </a:cubicBezTo>
                  <a:lnTo>
                    <a:pt x="219456" y="2926080"/>
                  </a:lnTo>
                  <a:cubicBezTo>
                    <a:pt x="98298" y="2926080"/>
                    <a:pt x="0" y="2827782"/>
                    <a:pt x="0" y="2706624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1234440" y="7122795"/>
            <a:ext cx="7543800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Conclusión grupal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4440" y="7633335"/>
            <a:ext cx="8092440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CADCFC"/>
                </a:solidFill>
                <a:latin typeface="Calibri (MS)"/>
                <a:ea typeface="Calibri (MS)"/>
                <a:cs typeface="Calibri (MS)"/>
                <a:sym typeface="Calibri (MS)"/>
              </a:rPr>
              <a:t>ServiGo tiene una base sólida para iniciar el desarrollo: alcance, arquitectura, datos, procesos, backlog y responsables definidos.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75520" y="7103745"/>
            <a:ext cx="41148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99">
                <a:solidFill>
                  <a:srgbClr val="CADC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PRÓXIMOS PASOS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9875520" y="7612380"/>
            <a:ext cx="2304288" cy="1234440"/>
            <a:chOff x="0" y="0"/>
            <a:chExt cx="3072384" cy="16459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89504" y="0"/>
                  </a:lnTo>
                  <a:cubicBezTo>
                    <a:pt x="2990469" y="0"/>
                    <a:pt x="3072384" y="81915"/>
                    <a:pt x="3072384" y="182880"/>
                  </a:cubicBezTo>
                  <a:lnTo>
                    <a:pt x="3072384" y="1463040"/>
                  </a:lnTo>
                  <a:cubicBezTo>
                    <a:pt x="3072384" y="1564005"/>
                    <a:pt x="2990469" y="1645920"/>
                    <a:pt x="2889504" y="1645920"/>
                  </a:cubicBezTo>
                  <a:lnTo>
                    <a:pt x="182880" y="1645920"/>
                  </a:lnTo>
                  <a:cubicBezTo>
                    <a:pt x="81915" y="1645920"/>
                    <a:pt x="0" y="1564005"/>
                    <a:pt x="0" y="146304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985248" y="7612380"/>
            <a:ext cx="2084832" cy="1234440"/>
            <a:chOff x="0" y="0"/>
            <a:chExt cx="2779776" cy="1645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79776" cy="1645920"/>
            </a:xfrm>
            <a:custGeom>
              <a:avLst/>
              <a:gdLst/>
              <a:ahLst/>
              <a:cxnLst/>
              <a:rect r="r" b="b" t="t" l="l"/>
              <a:pathLst>
                <a:path h="164592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969" t="0" r="-25969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277977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Validar modelo Firestore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344400" y="7612380"/>
            <a:ext cx="2304288" cy="1234440"/>
            <a:chOff x="0" y="0"/>
            <a:chExt cx="3072384" cy="1645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89504" y="0"/>
                  </a:lnTo>
                  <a:cubicBezTo>
                    <a:pt x="2990469" y="0"/>
                    <a:pt x="3072384" y="81915"/>
                    <a:pt x="3072384" y="182880"/>
                  </a:cubicBezTo>
                  <a:lnTo>
                    <a:pt x="3072384" y="1463040"/>
                  </a:lnTo>
                  <a:cubicBezTo>
                    <a:pt x="3072384" y="1564005"/>
                    <a:pt x="2990469" y="1645920"/>
                    <a:pt x="2889504" y="1645920"/>
                  </a:cubicBezTo>
                  <a:lnTo>
                    <a:pt x="182880" y="1645920"/>
                  </a:lnTo>
                  <a:cubicBezTo>
                    <a:pt x="81915" y="1645920"/>
                    <a:pt x="0" y="1564005"/>
                    <a:pt x="0" y="146304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454128" y="7612380"/>
            <a:ext cx="2084832" cy="1234440"/>
            <a:chOff x="0" y="0"/>
            <a:chExt cx="2779776" cy="16459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79776" cy="1645920"/>
            </a:xfrm>
            <a:custGeom>
              <a:avLst/>
              <a:gdLst/>
              <a:ahLst/>
              <a:cxnLst/>
              <a:rect r="r" b="b" t="t" l="l"/>
              <a:pathLst>
                <a:path h="164592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969" t="0" r="-25969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77977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Implementar app móvil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813280" y="7612380"/>
            <a:ext cx="2304288" cy="1234440"/>
            <a:chOff x="0" y="0"/>
            <a:chExt cx="3072384" cy="16459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072384" cy="1645920"/>
            </a:xfrm>
            <a:custGeom>
              <a:avLst/>
              <a:gdLst/>
              <a:ahLst/>
              <a:cxnLst/>
              <a:rect r="r" b="b" t="t" l="l"/>
              <a:pathLst>
                <a:path h="1645920" w="3072384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889504" y="0"/>
                  </a:lnTo>
                  <a:cubicBezTo>
                    <a:pt x="2990469" y="0"/>
                    <a:pt x="3072384" y="81915"/>
                    <a:pt x="3072384" y="182880"/>
                  </a:cubicBezTo>
                  <a:lnTo>
                    <a:pt x="3072384" y="1463040"/>
                  </a:lnTo>
                  <a:cubicBezTo>
                    <a:pt x="3072384" y="1564005"/>
                    <a:pt x="2990469" y="1645920"/>
                    <a:pt x="2889504" y="1645920"/>
                  </a:cubicBezTo>
                  <a:lnTo>
                    <a:pt x="182880" y="1645920"/>
                  </a:lnTo>
                  <a:cubicBezTo>
                    <a:pt x="81915" y="1645920"/>
                    <a:pt x="0" y="1564005"/>
                    <a:pt x="0" y="146304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923008" y="7612380"/>
            <a:ext cx="2084832" cy="1234440"/>
            <a:chOff x="0" y="0"/>
            <a:chExt cx="2779776" cy="16459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79776" cy="1645920"/>
            </a:xfrm>
            <a:custGeom>
              <a:avLst/>
              <a:gdLst/>
              <a:ahLst/>
              <a:cxnLst/>
              <a:rect r="r" b="b" t="t" l="l"/>
              <a:pathLst>
                <a:path h="164592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969" t="0" r="-25969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2779776" cy="1693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Ejecutar plan de pruebas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16728948" y="9608820"/>
            <a:ext cx="640080" cy="26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>
                <a:solidFill>
                  <a:srgbClr val="667085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88028" y="4754863"/>
            <a:ext cx="7680960" cy="7680960"/>
            <a:chOff x="0" y="0"/>
            <a:chExt cx="10241280" cy="102412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1280" cy="10241280"/>
            </a:xfrm>
            <a:custGeom>
              <a:avLst/>
              <a:gdLst/>
              <a:ahLst/>
              <a:cxnLst/>
              <a:rect r="r" b="b" t="t" l="l"/>
              <a:pathLst>
                <a:path h="10241280" w="10241280">
                  <a:moveTo>
                    <a:pt x="0" y="5120640"/>
                  </a:moveTo>
                  <a:cubicBezTo>
                    <a:pt x="0" y="2292604"/>
                    <a:pt x="2292604" y="0"/>
                    <a:pt x="5120640" y="0"/>
                  </a:cubicBezTo>
                  <a:cubicBezTo>
                    <a:pt x="7948676" y="0"/>
                    <a:pt x="10241280" y="2292604"/>
                    <a:pt x="10241280" y="5120640"/>
                  </a:cubicBezTo>
                  <a:cubicBezTo>
                    <a:pt x="10241280" y="7948676"/>
                    <a:pt x="7948676" y="10241280"/>
                    <a:pt x="5120640" y="10241280"/>
                  </a:cubicBezTo>
                  <a:cubicBezTo>
                    <a:pt x="2292604" y="10241280"/>
                    <a:pt x="0" y="7948676"/>
                    <a:pt x="0" y="5120640"/>
                  </a:cubicBezTo>
                  <a:close/>
                </a:path>
              </a:pathLst>
            </a:custGeom>
            <a:solidFill>
              <a:srgbClr val="1C7293">
                <a:alpha val="8627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496788" y="6263623"/>
            <a:ext cx="4663440" cy="4663440"/>
            <a:chOff x="0" y="0"/>
            <a:chExt cx="6217920" cy="6217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1C7293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44700" y="5363195"/>
            <a:ext cx="1371600" cy="1371600"/>
            <a:chOff x="0" y="0"/>
            <a:chExt cx="18288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073884" y="5692379"/>
            <a:ext cx="713232" cy="713232"/>
            <a:chOff x="0" y="0"/>
            <a:chExt cx="950976" cy="950976"/>
          </a:xfrm>
        </p:grpSpPr>
        <p:sp>
          <p:nvSpPr>
            <p:cNvPr name="Freeform 9" id="9" descr="FiMapPin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239988" y="7635223"/>
            <a:ext cx="1371600" cy="1371600"/>
            <a:chOff x="0" y="0"/>
            <a:chExt cx="182880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569172" y="7964407"/>
            <a:ext cx="713232" cy="713232"/>
            <a:chOff x="0" y="0"/>
            <a:chExt cx="950976" cy="950976"/>
          </a:xfrm>
        </p:grpSpPr>
        <p:sp>
          <p:nvSpPr>
            <p:cNvPr name="Freeform 13" id="13" descr="FiTool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304764" y="9258300"/>
            <a:ext cx="1371600" cy="1371600"/>
            <a:chOff x="0" y="0"/>
            <a:chExt cx="182880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F2994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33948" y="9587484"/>
            <a:ext cx="713232" cy="713232"/>
            <a:chOff x="0" y="0"/>
            <a:chExt cx="950976" cy="950976"/>
          </a:xfrm>
        </p:grpSpPr>
        <p:sp>
          <p:nvSpPr>
            <p:cNvPr name="Freeform 17" id="17" descr="FiStar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224760" y="548640"/>
            <a:ext cx="2468880" cy="822960"/>
            <a:chOff x="0" y="0"/>
            <a:chExt cx="329184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1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32918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3108960" y="0"/>
                  </a:lnTo>
                  <a:cubicBezTo>
                    <a:pt x="3209925" y="0"/>
                    <a:pt x="3291840" y="81915"/>
                    <a:pt x="3291840" y="182880"/>
                  </a:cubicBezTo>
                  <a:lnTo>
                    <a:pt x="3291840" y="914400"/>
                  </a:lnTo>
                  <a:cubicBezTo>
                    <a:pt x="3291840" y="1015365"/>
                    <a:pt x="3209925" y="1097280"/>
                    <a:pt x="3108960" y="1097280"/>
                  </a:cubicBezTo>
                  <a:lnTo>
                    <a:pt x="182880" y="1097280"/>
                  </a:lnTo>
                  <a:cubicBezTo>
                    <a:pt x="81915" y="1097280"/>
                    <a:pt x="0" y="1015365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430500" y="685800"/>
            <a:ext cx="2057400" cy="514350"/>
            <a:chOff x="0" y="0"/>
            <a:chExt cx="2743200" cy="685800"/>
          </a:xfrm>
        </p:grpSpPr>
        <p:sp>
          <p:nvSpPr>
            <p:cNvPr name="Freeform 21" id="21" descr="Duoc UC"/>
            <p:cNvSpPr/>
            <p:nvPr/>
          </p:nvSpPr>
          <p:spPr>
            <a:xfrm flipH="false" flipV="false" rot="0">
              <a:off x="0" y="0"/>
              <a:ext cx="2743200" cy="685800"/>
            </a:xfrm>
            <a:custGeom>
              <a:avLst/>
              <a:gdLst/>
              <a:ahLst/>
              <a:cxnLst/>
              <a:rect r="r" b="b" t="t" l="l"/>
              <a:pathLst>
                <a:path h="6858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8700" y="4476733"/>
            <a:ext cx="9826626" cy="1324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15"/>
              </a:lnSpc>
              <a:spcBef>
                <a:spcPct val="0"/>
              </a:spcBef>
            </a:pPr>
            <a:r>
              <a:rPr lang="en-US" sz="8679">
                <a:solidFill>
                  <a:srgbClr val="FFFFFF"/>
                </a:solidFill>
                <a:latin typeface="Breathing"/>
                <a:ea typeface="Breathing"/>
                <a:cs typeface="Breathing"/>
                <a:sym typeface="Breathing"/>
              </a:rPr>
              <a:t>¡Muchas 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DAHYMzlTGOI</dc:identifier>
  <dcterms:modified xsi:type="dcterms:W3CDTF">2011-08-01T06:04:30Z</dcterms:modified>
  <cp:revision>1</cp:revision>
  <dc:title>ServiG_presentacion_fase2.pptx</dc:title>
</cp:coreProperties>
</file>