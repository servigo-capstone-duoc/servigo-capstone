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56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669280" cy="566928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2103120" y="4389120"/>
            <a:ext cx="4937760" cy="493776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assets/icon_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91622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6858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ServiGo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1965960" y="15361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para servicios técnicos a domicilio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971800"/>
            <a:ext cx="493776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avance · Fase 2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arquitectónico, datos, procesos y planificación ágil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16052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41A44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822960" y="4160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Soto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313432" y="4160520"/>
            <a:ext cx="1728216" cy="384048"/>
          </a:xfrm>
          <a:prstGeom prst="roundRect">
            <a:avLst>
              <a:gd name="adj" fmla="val 50000"/>
            </a:avLst>
          </a:prstGeom>
          <a:solidFill>
            <a:srgbClr val="141A44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2313432" y="4160520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Pardo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06240" y="4160520"/>
            <a:ext cx="1728216" cy="384048"/>
          </a:xfrm>
          <a:prstGeom prst="roundRect">
            <a:avLst>
              <a:gd name="adj" fmla="val 50000"/>
            </a:avLst>
          </a:prstGeom>
          <a:solidFill>
            <a:srgbClr val="141A44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4206240" y="4160520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Muriel Miranda</a:t>
            </a:r>
            <a:endParaRPr lang="en-US" sz="1150" dirty="0"/>
          </a:p>
        </p:txBody>
      </p:sp>
      <p:pic>
        <p:nvPicPr>
          <p:cNvPr id="16" name="Image 1" descr="/home/claude/assets/logo_du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8840" y="420624"/>
            <a:ext cx="14173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presentación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24128" y="16550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/home/claude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1735531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6002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y oportunidad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238658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4128" y="24414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/home/claude/assets/role_cl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" y="2521915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38658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ServiGo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" y="317296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1024128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/home/claude/assets/icon_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595" y="3308299"/>
            <a:ext cx="341986" cy="3419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1729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alcance MVP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57200" y="395935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1024128" y="40142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3" descr="/home/claude/assets/icon_git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595" y="4094683"/>
            <a:ext cx="341986" cy="34198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395935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ágil Scrum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57200" y="474573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24128" y="4800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4" descr="/home/claude/assets/icon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595" y="4881067"/>
            <a:ext cx="341986" cy="34198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474573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casos de uso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309360" y="160020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Shape 19"/>
          <p:cNvSpPr/>
          <p:nvPr/>
        </p:nvSpPr>
        <p:spPr>
          <a:xfrm>
            <a:off x="6876288" y="1655064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7" name="Image 5" descr="/home/claude/assets/icon_arrowr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755" y="1735531"/>
            <a:ext cx="341986" cy="34198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543800" y="16002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negocio TO-BE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6309360" y="238658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Shape 22"/>
          <p:cNvSpPr/>
          <p:nvPr/>
        </p:nvSpPr>
        <p:spPr>
          <a:xfrm>
            <a:off x="6876288" y="2441448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1" name="Image 6" descr="/home/claude/assets/icon_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55" y="2521915"/>
            <a:ext cx="341986" cy="34198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543800" y="238658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Firestore</a:t>
            </a:r>
            <a:endParaRPr lang="en-US" sz="1450" dirty="0"/>
          </a:p>
        </p:txBody>
      </p:sp>
      <p:sp>
        <p:nvSpPr>
          <p:cNvPr id="33" name="Text 24"/>
          <p:cNvSpPr/>
          <p:nvPr/>
        </p:nvSpPr>
        <p:spPr>
          <a:xfrm>
            <a:off x="6309360" y="317296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Shape 25"/>
          <p:cNvSpPr/>
          <p:nvPr/>
        </p:nvSpPr>
        <p:spPr>
          <a:xfrm>
            <a:off x="6876288" y="3227832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5" name="Image 7" descr="/home/claude/assets/icon_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6755" y="3308299"/>
            <a:ext cx="341986" cy="34198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543800" y="31729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y minería de datos</a:t>
            </a:r>
            <a:endParaRPr lang="en-US" sz="1450" dirty="0"/>
          </a:p>
        </p:txBody>
      </p:sp>
      <p:sp>
        <p:nvSpPr>
          <p:cNvPr id="37" name="Text 27"/>
          <p:cNvSpPr/>
          <p:nvPr/>
        </p:nvSpPr>
        <p:spPr>
          <a:xfrm>
            <a:off x="6309360" y="395935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8" name="Shape 28"/>
          <p:cNvSpPr/>
          <p:nvPr/>
        </p:nvSpPr>
        <p:spPr>
          <a:xfrm>
            <a:off x="6876288" y="4014216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9" name="Image 8" descr="/home/claude/assets/icon_smartpho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6755" y="4094683"/>
            <a:ext cx="341986" cy="34198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543800" y="395935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450" dirty="0"/>
          </a:p>
        </p:txBody>
      </p:sp>
      <p:sp>
        <p:nvSpPr>
          <p:cNvPr id="41" name="Text 30"/>
          <p:cNvSpPr/>
          <p:nvPr/>
        </p:nvSpPr>
        <p:spPr>
          <a:xfrm>
            <a:off x="6309360" y="474573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2" name="Shape 31"/>
          <p:cNvSpPr/>
          <p:nvPr/>
        </p:nvSpPr>
        <p:spPr>
          <a:xfrm>
            <a:off x="6876288" y="480060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3" name="Image 9" descr="/home/claude/assets/icon_calenda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6755" y="4881067"/>
            <a:ext cx="341986" cy="34198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543800" y="474573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Planificación, riesgos y conclusión</a:t>
            </a:r>
            <a:endParaRPr lang="en-US" sz="1450" dirty="0"/>
          </a:p>
        </p:txBody>
      </p:sp>
      <p:sp>
        <p:nvSpPr>
          <p:cNvPr id="4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 a resolver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servicios técnicos a domicilio en Chile opera con alta informalidad y baja trazabilidad.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456432" cy="2880360"/>
          </a:xfrm>
          <a:prstGeom prst="roundRect">
            <a:avLst>
              <a:gd name="adj" fmla="val 2857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749808" y="225856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assets/pain_cl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357323"/>
            <a:ext cx="460858" cy="46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Dolor del cliente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502152"/>
            <a:ext cx="2871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encontrar técnicos confiables, cercanos, disponibles y con reputación evaluada.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15384" y="1965960"/>
            <a:ext cx="3456432" cy="2880360"/>
          </a:xfrm>
          <a:prstGeom prst="roundRect">
            <a:avLst>
              <a:gd name="adj" fmla="val 2857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507992" y="225856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/home/claude/assets/pain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747" y="2357323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07992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Dolor del técnico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07992" y="3502152"/>
            <a:ext cx="2871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visibilidad de oportunidades por zona, dependencia de redes informales y poca información de demanda.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73568" y="1965960"/>
            <a:ext cx="3456432" cy="2880360"/>
          </a:xfrm>
          <a:prstGeom prst="roundRect">
            <a:avLst>
              <a:gd name="adj" fmla="val 2857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8266176" y="2258568"/>
            <a:ext cx="658368" cy="65836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/home/claude/assets/pain_o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931" y="2357323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66176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Dolor operacional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66176" y="3502152"/>
            <a:ext cx="2871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trazabilidad del servicio, seguimiento, reputación digital, pago controlado y evidencia del trabajo.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5193792"/>
            <a:ext cx="11274552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7"/>
          <p:cNvSpPr/>
          <p:nvPr/>
        </p:nvSpPr>
        <p:spPr>
          <a:xfrm>
            <a:off x="731520" y="5193792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ServiGo conecta oferta y demanda mediante geolocalización, reputación y analítica de datos, integrando desarrollo móvil, cloud, BI y minería de datos.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ServiGo por rol de usuario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79192" cy="4251960"/>
          </a:xfrm>
          <a:prstGeom prst="roundRect">
            <a:avLst>
              <a:gd name="adj" fmla="val 3072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408176" y="198424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/home/claude/assets/role_cl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534" y="2108606"/>
            <a:ext cx="528523" cy="5285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9260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58368" y="3383280"/>
            <a:ext cx="22768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un servicio, adjunta descripción y evidencia, visualiza técnicos cercanos, chatea, sigue el estado, paga en sandbox y evalúa al técnico.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55848" y="1691640"/>
            <a:ext cx="2679192" cy="4251960"/>
          </a:xfrm>
          <a:prstGeom prst="roundRect">
            <a:avLst>
              <a:gd name="adj" fmla="val 3072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4306824" y="1984248"/>
            <a:ext cx="777240" cy="7772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/home/claude/assets/role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182" y="2108606"/>
            <a:ext cx="528523" cy="5285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29260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Técnico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57016" y="3383280"/>
            <a:ext cx="22768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especialidades y disponibilidad, recibe solicitudes cercanas, acepta servicios, registra avance y recibe recomendaciones de zonas con demanda.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54496" y="1691640"/>
            <a:ext cx="2679192" cy="4251960"/>
          </a:xfrm>
          <a:prstGeom prst="roundRect">
            <a:avLst>
              <a:gd name="adj" fmla="val 3072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7205472" y="198424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2" descr="/home/claude/assets/role_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9830" y="2108606"/>
            <a:ext cx="528523" cy="52852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29260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55664" y="3383280"/>
            <a:ext cx="22768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técnicos, administra categorías de servicio, visualiza reportes, revisa reclamos y controla la calidad del servicio.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53144" y="1691640"/>
            <a:ext cx="2679192" cy="4251960"/>
          </a:xfrm>
          <a:prstGeom prst="roundRect">
            <a:avLst>
              <a:gd name="adj" fmla="val 3072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6"/>
          <p:cNvSpPr/>
          <p:nvPr/>
        </p:nvSpPr>
        <p:spPr>
          <a:xfrm>
            <a:off x="10104120" y="1984248"/>
            <a:ext cx="777240" cy="7772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3" descr="/home/claude/assets/role_syst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8478" y="2108606"/>
            <a:ext cx="528523" cy="52852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0304" y="29260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ServiGo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354312" y="3383280"/>
            <a:ext cx="22768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autenticación, matching geográfico, notificaciones, pagos sandbox, reputación bidireccional y analítica de demanda.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DE SOFTWARE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proyecto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E7F0F3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/home/claude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1881835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
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móvil inteligente que conecte clientes con técnicos de servicios domiciliarios mediante geolocalización, reputación digital, comunicación, pagos sandbox y analítica de demanda territorial.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5468112" cy="1572768"/>
          </a:xfrm>
          <a:prstGeom prst="roundRect">
            <a:avLst>
              <a:gd name="adj" fmla="val 5233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685800" y="30175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/home/claude/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307787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97180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específico 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3447288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autenticación y perfiles diferenciados para cliente, técnico y administrador.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63640" y="2788920"/>
            <a:ext cx="5468112" cy="1572768"/>
          </a:xfrm>
          <a:prstGeom prst="roundRect">
            <a:avLst>
              <a:gd name="adj" fmla="val 5233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6492240" y="30175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2" descr="/home/claude/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307787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297180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específico 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92240" y="3447288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solicitudes, asignación de técnicos cercanos y el ciclo completo del servicio.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581144"/>
            <a:ext cx="5468112" cy="1572768"/>
          </a:xfrm>
          <a:prstGeom prst="roundRect">
            <a:avLst>
              <a:gd name="adj" fmla="val 5233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5"/>
          <p:cNvSpPr/>
          <p:nvPr/>
        </p:nvSpPr>
        <p:spPr>
          <a:xfrm>
            <a:off x="685800" y="4809744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3" descr="/home/claude/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4870094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764024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específico 3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5800" y="5239512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chat, seguimiento, evidencia, pago sandbox y evaluación bidireccional.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263640" y="4581144"/>
            <a:ext cx="5468112" cy="1572768"/>
          </a:xfrm>
          <a:prstGeom prst="roundRect">
            <a:avLst>
              <a:gd name="adj" fmla="val 5233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19"/>
          <p:cNvSpPr/>
          <p:nvPr/>
        </p:nvSpPr>
        <p:spPr>
          <a:xfrm>
            <a:off x="6492240" y="4809744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6" name="Image 4" descr="/home/claude/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4870094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0" y="4764024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específico 4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92240" y="5239512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 de datos Firestore, dashboard con 3 KPI y modelo probabilístico de demanda.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MVP: qué hace y qué no hace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68112" cy="4434840"/>
          </a:xfrm>
          <a:prstGeom prst="roundRect">
            <a:avLst>
              <a:gd name="adj" fmla="val 185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 ServiGo</a:t>
            </a:r>
            <a:endParaRPr lang="en-US" sz="1550" dirty="0"/>
          </a:p>
        </p:txBody>
      </p:sp>
      <p:pic>
        <p:nvPicPr>
          <p:cNvPr id="7" name="Image 0" descr="/home/claude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957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322576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/ login de usuarios</a:t>
            </a:r>
            <a:endParaRPr lang="en-US" sz="1250" dirty="0"/>
          </a:p>
        </p:txBody>
      </p:sp>
      <p:pic>
        <p:nvPicPr>
          <p:cNvPr id="9" name="Image 1" descr="/home/claude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79806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724912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cliente y técnico</a:t>
            </a:r>
            <a:endParaRPr lang="en-US" sz="1250" dirty="0"/>
          </a:p>
        </p:txBody>
      </p:sp>
      <p:pic>
        <p:nvPicPr>
          <p:cNvPr id="11" name="Image 2" descr="/home/claude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004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12724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 solicitudes</a:t>
            </a:r>
            <a:endParaRPr lang="en-US" sz="1250" dirty="0"/>
          </a:p>
        </p:txBody>
      </p:sp>
      <p:pic>
        <p:nvPicPr>
          <p:cNvPr id="13" name="Image 3" descr="/home/claude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602736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529584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geográfico básico</a:t>
            </a:r>
            <a:endParaRPr lang="en-US" sz="1250" dirty="0"/>
          </a:p>
        </p:txBody>
      </p:sp>
      <p:pic>
        <p:nvPicPr>
          <p:cNvPr id="15" name="Image 4" descr="/home/claude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0507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393192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y seguimiento de estados</a:t>
            </a:r>
            <a:endParaRPr lang="en-US" sz="1250" dirty="0"/>
          </a:p>
        </p:txBody>
      </p:sp>
      <p:pic>
        <p:nvPicPr>
          <p:cNvPr id="17" name="Image 5" descr="/home/claude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40740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97280" y="4334256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sandbox</a:t>
            </a:r>
            <a:endParaRPr lang="en-US" sz="1250" dirty="0"/>
          </a:p>
        </p:txBody>
      </p:sp>
      <p:pic>
        <p:nvPicPr>
          <p:cNvPr id="19" name="Image 6" descr="/home/claude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809744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97280" y="4736592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bidireccional</a:t>
            </a:r>
            <a:endParaRPr lang="en-US" sz="1250" dirty="0"/>
          </a:p>
        </p:txBody>
      </p:sp>
      <p:pic>
        <p:nvPicPr>
          <p:cNvPr id="21" name="Image 7" descr="/home/claude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212080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97280" y="513892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básica</a:t>
            </a:r>
            <a:endParaRPr lang="en-US" sz="1250" dirty="0"/>
          </a:p>
        </p:txBody>
      </p:sp>
      <p:pic>
        <p:nvPicPr>
          <p:cNvPr id="23" name="Image 8" descr="/home/claude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14416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097280" y="5541264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y minería de datos</a:t>
            </a:r>
            <a:endParaRPr lang="en-US" sz="1250" dirty="0"/>
          </a:p>
        </p:txBody>
      </p:sp>
      <p:sp>
        <p:nvSpPr>
          <p:cNvPr id="25" name="Shape 14"/>
          <p:cNvSpPr/>
          <p:nvPr/>
        </p:nvSpPr>
        <p:spPr>
          <a:xfrm>
            <a:off x="6263640" y="1645920"/>
            <a:ext cx="5468112" cy="4434840"/>
          </a:xfrm>
          <a:prstGeom prst="roundRect">
            <a:avLst>
              <a:gd name="adj" fmla="val 185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Text 15"/>
          <p:cNvSpPr/>
          <p:nvPr/>
        </p:nvSpPr>
        <p:spPr>
          <a:xfrm>
            <a:off x="6556248" y="1847088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04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hace en el MVP</a:t>
            </a:r>
            <a:endParaRPr lang="en-US" sz="1550" dirty="0"/>
          </a:p>
        </p:txBody>
      </p:sp>
      <p:pic>
        <p:nvPicPr>
          <p:cNvPr id="27" name="Image 9" descr="/home/claud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395728"/>
            <a:ext cx="237744" cy="237744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903720" y="232257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 pagos productivos reales</a:t>
            </a:r>
            <a:endParaRPr lang="en-US" sz="1250" dirty="0"/>
          </a:p>
        </p:txBody>
      </p:sp>
      <p:pic>
        <p:nvPicPr>
          <p:cNvPr id="29" name="Image 10" descr="/home/claud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944368"/>
            <a:ext cx="237744" cy="237744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903720" y="287121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liquida dinero real a técnicos</a:t>
            </a:r>
            <a:endParaRPr lang="en-US" sz="1250" dirty="0"/>
          </a:p>
        </p:txBody>
      </p:sp>
      <p:pic>
        <p:nvPicPr>
          <p:cNvPr id="31" name="Image 11" descr="/home/claud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493008"/>
            <a:ext cx="237744" cy="237744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903720" y="341985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publica en App Store / Play Store</a:t>
            </a:r>
            <a:endParaRPr lang="en-US" sz="1250" dirty="0"/>
          </a:p>
        </p:txBody>
      </p:sp>
      <p:pic>
        <p:nvPicPr>
          <p:cNvPr id="33" name="Image 12" descr="/home/claud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041648"/>
            <a:ext cx="237744" cy="237744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6903720" y="396849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validaciones legales reales</a:t>
            </a:r>
            <a:endParaRPr lang="en-US" sz="1250" dirty="0"/>
          </a:p>
        </p:txBody>
      </p:sp>
      <p:pic>
        <p:nvPicPr>
          <p:cNvPr id="35" name="Image 13" descr="/home/claud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590288"/>
            <a:ext cx="237744" cy="237744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6903720" y="451713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 IA avanzada en producción</a:t>
            </a:r>
            <a:endParaRPr lang="en-US" sz="1250" dirty="0"/>
          </a:p>
        </p:txBody>
      </p:sp>
      <p:pic>
        <p:nvPicPr>
          <p:cNvPr id="37" name="Image 14" descr="/home/claud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5138928"/>
            <a:ext cx="237744" cy="237744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6903720" y="506577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cubre todas las comunas desde el inicio</a:t>
            </a:r>
            <a:endParaRPr lang="en-US" sz="1250" dirty="0"/>
          </a:p>
        </p:txBody>
      </p:sp>
      <p:sp>
        <p:nvSpPr>
          <p:cNvPr id="4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ÁGIL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trabajo: Scrum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50085" cy="2743200"/>
          </a:xfrm>
          <a:prstGeom prst="roundRect">
            <a:avLst>
              <a:gd name="adj" fmla="val 4014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162202" y="20848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/home/claude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214" y="21808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80360"/>
            <a:ext cx="1867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1792" y="3246120"/>
            <a:ext cx="172090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Objetivos, propuesta de valor y alcance MVP</a:t>
            </a:r>
            <a:endParaRPr lang="en-US" sz="1080" dirty="0"/>
          </a:p>
        </p:txBody>
      </p:sp>
      <p:pic>
        <p:nvPicPr>
          <p:cNvPr id="10" name="Image 1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573" y="2999232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63317" y="1828800"/>
            <a:ext cx="2050085" cy="2743200"/>
          </a:xfrm>
          <a:prstGeom prst="roundRect">
            <a:avLst>
              <a:gd name="adj" fmla="val 4014"/>
            </a:avLst>
          </a:prstGeom>
          <a:solidFill>
            <a:srgbClr val="E7F0F3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3468319" y="2084832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/home/claude/assets/icon_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331" y="2180844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54757" y="2880360"/>
            <a:ext cx="1867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927909" y="3246120"/>
            <a:ext cx="172090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Épicas, historias de usuario y criterios de aceptación</a:t>
            </a:r>
            <a:endParaRPr lang="en-US" sz="1080" dirty="0"/>
          </a:p>
        </p:txBody>
      </p:sp>
      <p:pic>
        <p:nvPicPr>
          <p:cNvPr id="16" name="Image 3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690" y="2999232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69434" y="1828800"/>
            <a:ext cx="2050085" cy="2743200"/>
          </a:xfrm>
          <a:prstGeom prst="roundRect">
            <a:avLst>
              <a:gd name="adj" fmla="val 4014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2"/>
          <p:cNvSpPr/>
          <p:nvPr/>
        </p:nvSpPr>
        <p:spPr>
          <a:xfrm>
            <a:off x="5774436" y="20848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4" descr="/home/claude/assets/icon_git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2180844"/>
            <a:ext cx="448056" cy="4480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60874" y="2880360"/>
            <a:ext cx="1867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5234026" y="3246120"/>
            <a:ext cx="172090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+ ciclos de desarrollo incremental</a:t>
            </a:r>
            <a:endParaRPr lang="en-US" sz="1080" dirty="0"/>
          </a:p>
        </p:txBody>
      </p:sp>
      <p:pic>
        <p:nvPicPr>
          <p:cNvPr id="22" name="Image 5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06" y="2999232"/>
            <a:ext cx="219456" cy="21945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75550" y="1828800"/>
            <a:ext cx="2050085" cy="2743200"/>
          </a:xfrm>
          <a:prstGeom prst="roundRect">
            <a:avLst>
              <a:gd name="adj" fmla="val 4014"/>
            </a:avLst>
          </a:prstGeom>
          <a:solidFill>
            <a:srgbClr val="E7F0F3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16"/>
          <p:cNvSpPr/>
          <p:nvPr/>
        </p:nvSpPr>
        <p:spPr>
          <a:xfrm>
            <a:off x="8080553" y="2084832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5" name="Image 6" descr="/home/claude/assets/icon_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6565" y="2180844"/>
            <a:ext cx="448056" cy="44805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466990" y="2880360"/>
            <a:ext cx="1867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7540142" y="3246120"/>
            <a:ext cx="172090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Scrumboard, burndown, review y retrospectiva</a:t>
            </a:r>
            <a:endParaRPr lang="en-US" sz="1080" dirty="0"/>
          </a:p>
        </p:txBody>
      </p:sp>
      <p:pic>
        <p:nvPicPr>
          <p:cNvPr id="28" name="Image 7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923" y="2999232"/>
            <a:ext cx="219456" cy="219456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681667" y="1828800"/>
            <a:ext cx="2050085" cy="2743200"/>
          </a:xfrm>
          <a:prstGeom prst="roundRect">
            <a:avLst>
              <a:gd name="adj" fmla="val 4014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0"/>
          <p:cNvSpPr/>
          <p:nvPr/>
        </p:nvSpPr>
        <p:spPr>
          <a:xfrm>
            <a:off x="10386670" y="20848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1" name="Image 8" descr="/home/claude/assets/icon_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2682" y="2180844"/>
            <a:ext cx="448056" cy="4480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773107" y="2880360"/>
            <a:ext cx="1867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1350" dirty="0"/>
          </a:p>
        </p:txBody>
      </p:sp>
      <p:sp>
        <p:nvSpPr>
          <p:cNvPr id="33" name="Text 22"/>
          <p:cNvSpPr/>
          <p:nvPr/>
        </p:nvSpPr>
        <p:spPr>
          <a:xfrm>
            <a:off x="9846259" y="3246120"/>
            <a:ext cx="172090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funcional y documentación verificable</a:t>
            </a:r>
            <a:endParaRPr lang="en-US" sz="1080" dirty="0"/>
          </a:p>
        </p:txBody>
      </p:sp>
      <p:sp>
        <p:nvSpPr>
          <p:cNvPr id="34" name="Text 23"/>
          <p:cNvSpPr/>
          <p:nvPr/>
        </p:nvSpPr>
        <p:spPr>
          <a:xfrm>
            <a:off x="457200" y="4892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requerimientos se administran según Scrum: épicas, historias, criterios y Product Backlog.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Sprint produce avance demostrable y evidencia documental verificable.</a:t>
            </a:r>
            <a:endParaRPr lang="en-US" sz="1250" dirty="0"/>
          </a:p>
        </p:txBody>
      </p:sp>
      <p:sp>
        <p:nvSpPr>
          <p:cNvPr id="36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SISTEMA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funcional y casos de uso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903720" cy="4480560"/>
          </a:xfrm>
          <a:prstGeom prst="roundRect">
            <a:avLst>
              <a:gd name="adj" fmla="val 1837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Ionic + Angular  ·  Firebase  ·  Servicios externos  ·  BI</a:t>
            </a:r>
            <a:endParaRPr lang="en-US" sz="1300" dirty="0"/>
          </a:p>
        </p:txBody>
      </p:sp>
      <p:pic>
        <p:nvPicPr>
          <p:cNvPr id="7" name="Image 0" descr="/home/claude/assets/diagram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6537960" cy="34472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43800" y="1645920"/>
            <a:ext cx="4187952" cy="4480560"/>
          </a:xfrm>
          <a:prstGeom prst="roundRect">
            <a:avLst>
              <a:gd name="adj" fmla="val 1965"/>
            </a:avLst>
          </a:prstGeom>
          <a:solidFill>
            <a:srgbClr val="E7F0F3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7799832" y="1810512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 prioritarios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99832" y="2240280"/>
            <a:ext cx="658368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7799832" y="2240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CU-005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67928" y="2221992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solicitud de servicio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99832" y="2807208"/>
            <a:ext cx="658368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7799832" y="280720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CU-006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567928" y="2788920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y notificar técnicos cercanos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99832" y="3374136"/>
            <a:ext cx="658368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7799832" y="3374136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CU-008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67928" y="3355848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seguimiento del servicio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99832" y="3941064"/>
            <a:ext cx="658368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7799832" y="3941064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CU-011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567928" y="3922776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pago sandbox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99832" y="4507992"/>
            <a:ext cx="658368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7799832" y="450799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CU-013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567928" y="4489704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técnico y cliente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799832" y="5074920"/>
            <a:ext cx="658368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7799832" y="50749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CU-015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567928" y="5056632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demanda por zona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99832" y="574243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Actores: Cliente, Técnico, Administrador, Sistema y Pasarela de Pago.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NEGOCIO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TO-BE: solicitud y atención de servicio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050085" cy="1965960"/>
          </a:xfrm>
          <a:prstGeom prst="roundRect">
            <a:avLst>
              <a:gd name="adj" fmla="val 418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21792" y="19019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/home/claude/assets/role_cl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5" y="1981505"/>
            <a:ext cx="371246" cy="3712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514600"/>
            <a:ext cx="1720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2834640"/>
            <a:ext cx="17391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necesidad, ubicación y evidencia</a:t>
            </a:r>
            <a:endParaRPr lang="en-US" sz="1080" dirty="0"/>
          </a:p>
        </p:txBody>
      </p:sp>
      <p:pic>
        <p:nvPicPr>
          <p:cNvPr id="10" name="Image 1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573" y="2560320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63317" y="1737360"/>
            <a:ext cx="2050085" cy="1965960"/>
          </a:xfrm>
          <a:prstGeom prst="roundRect">
            <a:avLst>
              <a:gd name="adj" fmla="val 418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2927909" y="19019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/home/claude/assets/icon_ho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462" y="1981505"/>
            <a:ext cx="371246" cy="3712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27909" y="2514600"/>
            <a:ext cx="1720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ServiGo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927909" y="2834640"/>
            <a:ext cx="17391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datos y busca técnicos cercanos</a:t>
            </a:r>
            <a:endParaRPr lang="en-US" sz="1080" dirty="0"/>
          </a:p>
        </p:txBody>
      </p:sp>
      <p:pic>
        <p:nvPicPr>
          <p:cNvPr id="16" name="Image 3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690" y="2560320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69434" y="1737360"/>
            <a:ext cx="2050085" cy="1965960"/>
          </a:xfrm>
          <a:prstGeom prst="roundRect">
            <a:avLst>
              <a:gd name="adj" fmla="val 418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2"/>
          <p:cNvSpPr/>
          <p:nvPr/>
        </p:nvSpPr>
        <p:spPr>
          <a:xfrm>
            <a:off x="5234026" y="19019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4" descr="/home/claude/assets/role_te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3578" y="1981505"/>
            <a:ext cx="371246" cy="37124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34026" y="2514600"/>
            <a:ext cx="1720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Técnico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234026" y="2834640"/>
            <a:ext cx="17391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Acepta, cotiza y se dirige al domicilio</a:t>
            </a:r>
            <a:endParaRPr lang="en-US" sz="1080" dirty="0"/>
          </a:p>
        </p:txBody>
      </p:sp>
      <p:pic>
        <p:nvPicPr>
          <p:cNvPr id="22" name="Image 5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06" y="2560320"/>
            <a:ext cx="219456" cy="21945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75550" y="1737360"/>
            <a:ext cx="2050085" cy="1965960"/>
          </a:xfrm>
          <a:prstGeom prst="roundRect">
            <a:avLst>
              <a:gd name="adj" fmla="val 418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16"/>
          <p:cNvSpPr/>
          <p:nvPr/>
        </p:nvSpPr>
        <p:spPr>
          <a:xfrm>
            <a:off x="7540142" y="19019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5" name="Image 6" descr="/home/claude/assets/icon_gitbra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695" y="1981505"/>
            <a:ext cx="371246" cy="37124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540142" y="2514600"/>
            <a:ext cx="1720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7540142" y="2834640"/>
            <a:ext cx="17391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ejecuta, registra evidencia y finaliza</a:t>
            </a:r>
            <a:endParaRPr lang="en-US" sz="1080" dirty="0"/>
          </a:p>
        </p:txBody>
      </p:sp>
      <p:pic>
        <p:nvPicPr>
          <p:cNvPr id="28" name="Image 7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923" y="2560320"/>
            <a:ext cx="219456" cy="219456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681667" y="1737360"/>
            <a:ext cx="2050085" cy="1965960"/>
          </a:xfrm>
          <a:prstGeom prst="roundRect">
            <a:avLst>
              <a:gd name="adj" fmla="val 418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0"/>
          <p:cNvSpPr/>
          <p:nvPr/>
        </p:nvSpPr>
        <p:spPr>
          <a:xfrm>
            <a:off x="9846259" y="19019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1" name="Image 8" descr="/home/claude/assets/icon_st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5812" y="1981505"/>
            <a:ext cx="371246" cy="37124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846259" y="2514600"/>
            <a:ext cx="1720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1300" dirty="0"/>
          </a:p>
        </p:txBody>
      </p:sp>
      <p:sp>
        <p:nvSpPr>
          <p:cNvPr id="33" name="Text 22"/>
          <p:cNvSpPr/>
          <p:nvPr/>
        </p:nvSpPr>
        <p:spPr>
          <a:xfrm>
            <a:off x="9846259" y="2834640"/>
            <a:ext cx="17391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Pago, evaluación bidireccional y analítica</a:t>
            </a:r>
            <a:endParaRPr lang="en-US" sz="1080" dirty="0"/>
          </a:p>
        </p:txBody>
      </p:sp>
      <p:sp>
        <p:nvSpPr>
          <p:cNvPr id="34" name="Text 23"/>
          <p:cNvSpPr/>
          <p:nvPr/>
        </p:nvSpPr>
        <p:spPr>
          <a:xfrm>
            <a:off x="457200" y="3977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analítico complementario: recomendación territorial al técnico</a:t>
            </a:r>
            <a:endParaRPr lang="en-US" sz="1400" dirty="0"/>
          </a:p>
        </p:txBody>
      </p:sp>
      <p:sp>
        <p:nvSpPr>
          <p:cNvPr id="35" name="Shape 24"/>
          <p:cNvSpPr/>
          <p:nvPr/>
        </p:nvSpPr>
        <p:spPr>
          <a:xfrm>
            <a:off x="457200" y="4434840"/>
            <a:ext cx="2050085" cy="1645920"/>
          </a:xfrm>
          <a:prstGeom prst="roundRect">
            <a:avLst>
              <a:gd name="adj" fmla="val 5000"/>
            </a:avLst>
          </a:prstGeom>
          <a:solidFill>
            <a:srgbClr val="FCEADA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25"/>
          <p:cNvSpPr/>
          <p:nvPr/>
        </p:nvSpPr>
        <p:spPr>
          <a:xfrm>
            <a:off x="603504" y="4581144"/>
            <a:ext cx="17574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históricos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603504" y="4910328"/>
            <a:ext cx="17574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por zona, categoría, hora y resultado</a:t>
            </a:r>
            <a:endParaRPr lang="en-US" sz="1000" dirty="0"/>
          </a:p>
        </p:txBody>
      </p:sp>
      <p:pic>
        <p:nvPicPr>
          <p:cNvPr id="38" name="Image 9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573" y="5120640"/>
            <a:ext cx="219456" cy="219456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2763317" y="4434840"/>
            <a:ext cx="2050085" cy="1645920"/>
          </a:xfrm>
          <a:prstGeom prst="roundRect">
            <a:avLst>
              <a:gd name="adj" fmla="val 5000"/>
            </a:avLst>
          </a:prstGeom>
          <a:solidFill>
            <a:srgbClr val="FCEADA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0" name="Text 28"/>
          <p:cNvSpPr/>
          <p:nvPr/>
        </p:nvSpPr>
        <p:spPr>
          <a:xfrm>
            <a:off x="2909621" y="4581144"/>
            <a:ext cx="17574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</a:t>
            </a:r>
            <a:endParaRPr lang="en-US" sz="1250" dirty="0"/>
          </a:p>
        </p:txBody>
      </p:sp>
      <p:sp>
        <p:nvSpPr>
          <p:cNvPr id="41" name="Text 29"/>
          <p:cNvSpPr/>
          <p:nvPr/>
        </p:nvSpPr>
        <p:spPr>
          <a:xfrm>
            <a:off x="2909621" y="4910328"/>
            <a:ext cx="17574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datos para BI y minería</a:t>
            </a:r>
            <a:endParaRPr lang="en-US" sz="1000" dirty="0"/>
          </a:p>
        </p:txBody>
      </p:sp>
      <p:pic>
        <p:nvPicPr>
          <p:cNvPr id="42" name="Image 10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690" y="5120640"/>
            <a:ext cx="219456" cy="219456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5069434" y="4434840"/>
            <a:ext cx="2050085" cy="1645920"/>
          </a:xfrm>
          <a:prstGeom prst="roundRect">
            <a:avLst>
              <a:gd name="adj" fmla="val 5000"/>
            </a:avLst>
          </a:prstGeom>
          <a:solidFill>
            <a:srgbClr val="FCEADA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4" name="Text 31"/>
          <p:cNvSpPr/>
          <p:nvPr/>
        </p:nvSpPr>
        <p:spPr>
          <a:xfrm>
            <a:off x="5215738" y="4581144"/>
            <a:ext cx="17574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1250" dirty="0"/>
          </a:p>
        </p:txBody>
      </p:sp>
      <p:sp>
        <p:nvSpPr>
          <p:cNvPr id="45" name="Text 32"/>
          <p:cNvSpPr/>
          <p:nvPr/>
        </p:nvSpPr>
        <p:spPr>
          <a:xfrm>
            <a:off x="5215738" y="4910328"/>
            <a:ext cx="17574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probabilidad de demanda</a:t>
            </a:r>
            <a:endParaRPr lang="en-US" sz="1000" dirty="0"/>
          </a:p>
        </p:txBody>
      </p:sp>
      <p:pic>
        <p:nvPicPr>
          <p:cNvPr id="46" name="Image 11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06" y="5120640"/>
            <a:ext cx="219456" cy="219456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7375550" y="4434840"/>
            <a:ext cx="2050085" cy="1645920"/>
          </a:xfrm>
          <a:prstGeom prst="roundRect">
            <a:avLst>
              <a:gd name="adj" fmla="val 5000"/>
            </a:avLst>
          </a:prstGeom>
          <a:solidFill>
            <a:srgbClr val="FCEADA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8" name="Text 34"/>
          <p:cNvSpPr/>
          <p:nvPr/>
        </p:nvSpPr>
        <p:spPr>
          <a:xfrm>
            <a:off x="7521854" y="4581144"/>
            <a:ext cx="17574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1250" dirty="0"/>
          </a:p>
        </p:txBody>
      </p:sp>
      <p:sp>
        <p:nvSpPr>
          <p:cNvPr id="49" name="Text 35"/>
          <p:cNvSpPr/>
          <p:nvPr/>
        </p:nvSpPr>
        <p:spPr>
          <a:xfrm>
            <a:off x="7521854" y="4910328"/>
            <a:ext cx="17574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comunas con mayor oportunidad</a:t>
            </a:r>
            <a:endParaRPr lang="en-US" sz="1000" dirty="0"/>
          </a:p>
        </p:txBody>
      </p:sp>
      <p:pic>
        <p:nvPicPr>
          <p:cNvPr id="50" name="Image 12" descr="/home/claude/assets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923" y="5120640"/>
            <a:ext cx="219456" cy="219456"/>
          </a:xfrm>
          <a:prstGeom prst="rect">
            <a:avLst/>
          </a:prstGeom>
        </p:spPr>
      </p:pic>
      <p:sp>
        <p:nvSpPr>
          <p:cNvPr id="51" name="Shape 36"/>
          <p:cNvSpPr/>
          <p:nvPr/>
        </p:nvSpPr>
        <p:spPr>
          <a:xfrm>
            <a:off x="9681667" y="4434840"/>
            <a:ext cx="2050085" cy="1645920"/>
          </a:xfrm>
          <a:prstGeom prst="roundRect">
            <a:avLst>
              <a:gd name="adj" fmla="val 5000"/>
            </a:avLst>
          </a:prstGeom>
          <a:solidFill>
            <a:srgbClr val="FCEADA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2" name="Text 37"/>
          <p:cNvSpPr/>
          <p:nvPr/>
        </p:nvSpPr>
        <p:spPr>
          <a:xfrm>
            <a:off x="9827971" y="4581144"/>
            <a:ext cx="17574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</a:t>
            </a:r>
            <a:endParaRPr lang="en-US" sz="1250" dirty="0"/>
          </a:p>
        </p:txBody>
      </p:sp>
      <p:sp>
        <p:nvSpPr>
          <p:cNvPr id="53" name="Text 38"/>
          <p:cNvSpPr/>
          <p:nvPr/>
        </p:nvSpPr>
        <p:spPr>
          <a:xfrm>
            <a:off x="9827971" y="4910328"/>
            <a:ext cx="17574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se desplaza o ajusta disponibilidad</a:t>
            </a:r>
            <a:endParaRPr lang="en-US" sz="1000" dirty="0"/>
          </a:p>
        </p:txBody>
      </p:sp>
      <p:sp>
        <p:nvSpPr>
          <p:cNvPr id="55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datos: Cloud Firestore (NoSQL)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720840" cy="4480560"/>
          </a:xfrm>
          <a:prstGeom prst="roundRect">
            <a:avLst>
              <a:gd name="adj" fmla="val 1837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6" name="Image 0" descr="/home/claude/assets/diagram_data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626364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60920" y="1645920"/>
            <a:ext cx="4370832" cy="4480560"/>
          </a:xfrm>
          <a:prstGeom prst="roundRect">
            <a:avLst>
              <a:gd name="adj" fmla="val 1883"/>
            </a:avLst>
          </a:prstGeom>
          <a:solidFill>
            <a:srgbClr val="E7F0F3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7616952" y="181051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colecciones principales</a:t>
            </a:r>
            <a:endParaRPr lang="en-US" sz="1350" dirty="0"/>
          </a:p>
        </p:txBody>
      </p:sp>
      <p:pic>
        <p:nvPicPr>
          <p:cNvPr id="9" name="Image 1" descr="/home/claude/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22402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46136" y="2203704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7946136" y="2459736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roles</a:t>
            </a:r>
            <a:endParaRPr lang="en-US" sz="950" dirty="0"/>
          </a:p>
        </p:txBody>
      </p:sp>
      <p:pic>
        <p:nvPicPr>
          <p:cNvPr id="12" name="Image 2" descr="/home/claude/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22402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5520" y="2203704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technicianProfiles</a:t>
            </a:r>
            <a:endParaRPr lang="en-US" sz="1080" dirty="0"/>
          </a:p>
        </p:txBody>
      </p:sp>
      <p:sp>
        <p:nvSpPr>
          <p:cNvPr id="14" name="Text 9"/>
          <p:cNvSpPr/>
          <p:nvPr/>
        </p:nvSpPr>
        <p:spPr>
          <a:xfrm>
            <a:off x="9875520" y="2459736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técnicos</a:t>
            </a:r>
            <a:endParaRPr lang="en-US" sz="950" dirty="0"/>
          </a:p>
        </p:txBody>
      </p:sp>
      <p:pic>
        <p:nvPicPr>
          <p:cNvPr id="15" name="Image 3" descr="/home/claude/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309067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46136" y="3054096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serviceRequests</a:t>
            </a:r>
            <a:endParaRPr lang="en-US" sz="1080" dirty="0"/>
          </a:p>
        </p:txBody>
      </p:sp>
      <p:sp>
        <p:nvSpPr>
          <p:cNvPr id="17" name="Text 11"/>
          <p:cNvSpPr/>
          <p:nvPr/>
        </p:nvSpPr>
        <p:spPr>
          <a:xfrm>
            <a:off x="7946136" y="331012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</a:t>
            </a:r>
            <a:endParaRPr lang="en-US" sz="950" dirty="0"/>
          </a:p>
        </p:txBody>
      </p:sp>
      <p:pic>
        <p:nvPicPr>
          <p:cNvPr id="18" name="Image 4" descr="/home/claude/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309067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875520" y="3054096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80" dirty="0"/>
          </a:p>
        </p:txBody>
      </p:sp>
      <p:sp>
        <p:nvSpPr>
          <p:cNvPr id="20" name="Text 13"/>
          <p:cNvSpPr/>
          <p:nvPr/>
        </p:nvSpPr>
        <p:spPr>
          <a:xfrm>
            <a:off x="9875520" y="331012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confirmados</a:t>
            </a:r>
            <a:endParaRPr lang="en-US" sz="950" dirty="0"/>
          </a:p>
        </p:txBody>
      </p:sp>
      <p:pic>
        <p:nvPicPr>
          <p:cNvPr id="21" name="Image 5" descr="/home/claude/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3941064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946136" y="390448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80" dirty="0"/>
          </a:p>
        </p:txBody>
      </p:sp>
      <p:sp>
        <p:nvSpPr>
          <p:cNvPr id="23" name="Text 15"/>
          <p:cNvSpPr/>
          <p:nvPr/>
        </p:nvSpPr>
        <p:spPr>
          <a:xfrm>
            <a:off x="7946136" y="41605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sandbox</a:t>
            </a:r>
            <a:endParaRPr lang="en-US" sz="950" dirty="0"/>
          </a:p>
        </p:txBody>
      </p:sp>
      <p:pic>
        <p:nvPicPr>
          <p:cNvPr id="24" name="Image 6" descr="/home/claude/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394106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875520" y="390448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80" dirty="0"/>
          </a:p>
        </p:txBody>
      </p:sp>
      <p:sp>
        <p:nvSpPr>
          <p:cNvPr id="26" name="Text 17"/>
          <p:cNvSpPr/>
          <p:nvPr/>
        </p:nvSpPr>
        <p:spPr>
          <a:xfrm>
            <a:off x="9875520" y="41605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 bidireccional</a:t>
            </a:r>
            <a:endParaRPr lang="en-US" sz="950" dirty="0"/>
          </a:p>
        </p:txBody>
      </p:sp>
      <p:pic>
        <p:nvPicPr>
          <p:cNvPr id="27" name="Image 7" descr="/home/claude/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4791456"/>
            <a:ext cx="274320" cy="2743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946136" y="475488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/ messages</a:t>
            </a:r>
            <a:endParaRPr lang="en-US" sz="1080" dirty="0"/>
          </a:p>
        </p:txBody>
      </p:sp>
      <p:sp>
        <p:nvSpPr>
          <p:cNvPr id="29" name="Text 19"/>
          <p:cNvSpPr/>
          <p:nvPr/>
        </p:nvSpPr>
        <p:spPr>
          <a:xfrm>
            <a:off x="7946136" y="5010912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950" dirty="0"/>
          </a:p>
        </p:txBody>
      </p:sp>
      <p:pic>
        <p:nvPicPr>
          <p:cNvPr id="30" name="Image 8" descr="/home/claude/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4791456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875520" y="475488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analyticsDemand</a:t>
            </a:r>
            <a:endParaRPr lang="en-US" sz="1080" dirty="0"/>
          </a:p>
        </p:txBody>
      </p:sp>
      <p:sp>
        <p:nvSpPr>
          <p:cNvPr id="32" name="Text 21"/>
          <p:cNvSpPr/>
          <p:nvPr/>
        </p:nvSpPr>
        <p:spPr>
          <a:xfrm>
            <a:off x="9875520" y="5010912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y minería</a:t>
            </a:r>
            <a:endParaRPr lang="en-US" sz="950" dirty="0"/>
          </a:p>
        </p:txBody>
      </p:sp>
      <p:sp>
        <p:nvSpPr>
          <p:cNvPr id="33" name="Text 22"/>
          <p:cNvSpPr/>
          <p:nvPr/>
        </p:nvSpPr>
        <p:spPr>
          <a:xfrm>
            <a:off x="7616952" y="57424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serviceCategories, complaints, notifications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y minería de datos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obligatorios definidos para el dashboard de ServiGo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456432" cy="1965960"/>
          </a:xfrm>
          <a:prstGeom prst="roundRect">
            <a:avLst>
              <a:gd name="adj" fmla="val 418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713232" y="21305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assets/icon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" y="2215591"/>
            <a:ext cx="396850" cy="3968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8541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BI 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288036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de servicios por comuna, categoría y franja horaria.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15384" y="1874520"/>
            <a:ext cx="3456432" cy="1965960"/>
          </a:xfrm>
          <a:prstGeom prst="roundRect">
            <a:avLst>
              <a:gd name="adj" fmla="val 418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471416" y="21305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/home/claude/assets/icon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455" y="2215591"/>
            <a:ext cx="396850" cy="3968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75504" y="218541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BI 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71416" y="288036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desde solicitud hasta asignación de técnico.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73568" y="1874520"/>
            <a:ext cx="3456432" cy="1965960"/>
          </a:xfrm>
          <a:prstGeom prst="roundRect">
            <a:avLst>
              <a:gd name="adj" fmla="val 418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8229600" y="21305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/home/claude/assets/icon_per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639" y="2215591"/>
            <a:ext cx="396850" cy="3968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33688" y="218541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BI 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29600" y="288036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servicios completados, cancelados y con reclamo.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11274552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777240" y="448056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3" descr="/home/claude/assets/icon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61772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96596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probabilístico de minería de datos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965960" y="4800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alta demanda por comuna, especialidad, día y horario, para recomendar zonas de oportunidad a los técnicos y aumentar la tasa de aceptación de servicios.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85800" y="181051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móvil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26771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assets/tech_io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7744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226771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295351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1" name="Image 1" descr="/home/claude/assets/tech_angu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0632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35024" y="295351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15968" y="164592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/>
          <p:nvPr/>
        </p:nvSpPr>
        <p:spPr>
          <a:xfrm>
            <a:off x="4544568" y="181051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44568" y="226771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6" name="Image 2" descr="/home/claude/assets/tech_fire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237744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93792" y="226771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Functions + Auth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44568" y="295351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9" name="Image 3" descr="/home/claude/assets/tech_google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306324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93792" y="295351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174736" y="164592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16"/>
          <p:cNvSpPr/>
          <p:nvPr/>
        </p:nvSpPr>
        <p:spPr>
          <a:xfrm>
            <a:off x="8403336" y="181051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y mapas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403336" y="226771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4" name="Image 4" descr="/home/claude/assets/tech_fire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2377440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052560" y="226771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+ Storage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8403336" y="295351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7" name="Image 5" descr="/home/claude/assets/tech_googlem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3063240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52560" y="295351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Platform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57200" y="402336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Text 22"/>
          <p:cNvSpPr/>
          <p:nvPr/>
        </p:nvSpPr>
        <p:spPr>
          <a:xfrm>
            <a:off x="685800" y="418795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Pagos sandbox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685800" y="464515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2" name="Image 6" descr="/home/claude/assets/tech_transba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4754880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335024" y="464515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Transbank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685800" y="533095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5" name="Image 7" descr="/home/claude/assets/tech_mercadopa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" y="5440680"/>
            <a:ext cx="310896" cy="31089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335024" y="533095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Pago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4315968" y="402336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28"/>
          <p:cNvSpPr/>
          <p:nvPr/>
        </p:nvSpPr>
        <p:spPr>
          <a:xfrm>
            <a:off x="4544568" y="418795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y minería</a:t>
            </a:r>
            <a:endParaRPr lang="en-US" sz="1250" dirty="0"/>
          </a:p>
        </p:txBody>
      </p:sp>
      <p:sp>
        <p:nvSpPr>
          <p:cNvPr id="39" name="Shape 29"/>
          <p:cNvSpPr/>
          <p:nvPr/>
        </p:nvSpPr>
        <p:spPr>
          <a:xfrm>
            <a:off x="4544568" y="464515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0" name="Image 8" descr="/home/claude/assets/tech_powerb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4296" y="4754880"/>
            <a:ext cx="310896" cy="31089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193792" y="464515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ETL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4544568" y="533095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3" name="Image 9" descr="/home/claude/assets/tech_pyth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4296" y="5440680"/>
            <a:ext cx="310896" cy="31089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193792" y="533095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8174736" y="402336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6" name="Text 34"/>
          <p:cNvSpPr/>
          <p:nvPr/>
        </p:nvSpPr>
        <p:spPr>
          <a:xfrm>
            <a:off x="8403336" y="418795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Analítica avanzada</a:t>
            </a:r>
            <a:endParaRPr lang="en-US" sz="1250" dirty="0"/>
          </a:p>
        </p:txBody>
      </p:sp>
      <p:sp>
        <p:nvSpPr>
          <p:cNvPr id="47" name="Shape 35"/>
          <p:cNvSpPr/>
          <p:nvPr/>
        </p:nvSpPr>
        <p:spPr>
          <a:xfrm>
            <a:off x="8403336" y="464515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8" name="Image 10" descr="/home/claude/assets/tech_panda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3064" y="4754880"/>
            <a:ext cx="310896" cy="31089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9052560" y="464515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50" name="Shape 37"/>
          <p:cNvSpPr/>
          <p:nvPr/>
        </p:nvSpPr>
        <p:spPr>
          <a:xfrm>
            <a:off x="8403336" y="533095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1" name="Image 11" descr="/home/claude/assets/tech_sklear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13064" y="5440680"/>
            <a:ext cx="310896" cy="31089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9052560" y="533095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54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y estado de avance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26614" cy="1417320"/>
          </a:xfrm>
          <a:prstGeom prst="roundRect">
            <a:avLst>
              <a:gd name="adj" fmla="val 5806"/>
            </a:avLst>
          </a:prstGeom>
          <a:solidFill>
            <a:srgbClr val="E7F0F3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60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608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ágil, cuentas, arquitectura y datos</a:t>
            </a:r>
            <a:endParaRPr lang="en-US" sz="1000" dirty="0"/>
          </a:p>
        </p:txBody>
      </p:sp>
      <p:pic>
        <p:nvPicPr>
          <p:cNvPr id="8" name="Image 0" descr="/home/claude/assets/icon_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102" y="2240280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9846" y="1645920"/>
            <a:ext cx="2626614" cy="1417320"/>
          </a:xfrm>
          <a:prstGeom prst="roundRect">
            <a:avLst>
              <a:gd name="adj" fmla="val 5806"/>
            </a:avLst>
          </a:prstGeom>
          <a:solidFill>
            <a:srgbClr val="E7F0F3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3522726" y="1783080"/>
            <a:ext cx="2260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· Arquitectura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22726" y="2194560"/>
            <a:ext cx="22608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DAS, TO-BE, diccionario y presentación</a:t>
            </a:r>
            <a:endParaRPr lang="en-US" sz="1000" dirty="0"/>
          </a:p>
        </p:txBody>
      </p:sp>
      <p:pic>
        <p:nvPicPr>
          <p:cNvPr id="12" name="Image 1" descr="/home/claude/assets/icon_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748" y="2240280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22492" y="1645920"/>
            <a:ext cx="2626614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/>
          <p:nvPr/>
        </p:nvSpPr>
        <p:spPr>
          <a:xfrm>
            <a:off x="6405372" y="1783080"/>
            <a:ext cx="2260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100%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5372" y="2194560"/>
            <a:ext cx="22608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integrada, BD, pagos sandbox, BI/minería</a:t>
            </a:r>
            <a:endParaRPr lang="en-US" sz="1000" dirty="0"/>
          </a:p>
        </p:txBody>
      </p:sp>
      <p:pic>
        <p:nvPicPr>
          <p:cNvPr id="16" name="Image 2" descr="/home/claude/assets/icon_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394" y="2240280"/>
            <a:ext cx="219456" cy="2194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05138" y="1645920"/>
            <a:ext cx="2626614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Text 13"/>
          <p:cNvSpPr/>
          <p:nvPr/>
        </p:nvSpPr>
        <p:spPr>
          <a:xfrm>
            <a:off x="9288018" y="1783080"/>
            <a:ext cx="2260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288018" y="2194560"/>
            <a:ext cx="22608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manual, informe de cierre y defensa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3310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plan de trabajo por actividad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3703320"/>
            <a:ext cx="11274552" cy="2377440"/>
          </a:xfrm>
          <a:prstGeom prst="roundRect">
            <a:avLst>
              <a:gd name="adj" fmla="val 2692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7"/>
          <p:cNvSpPr/>
          <p:nvPr/>
        </p:nvSpPr>
        <p:spPr>
          <a:xfrm>
            <a:off x="685800" y="37581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y gobierno ágil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440680" y="3758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Soto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144000" y="383133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0"/>
          <p:cNvSpPr/>
          <p:nvPr/>
        </p:nvSpPr>
        <p:spPr>
          <a:xfrm>
            <a:off x="9144000" y="38313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85800" y="4215384"/>
            <a:ext cx="10817352" cy="0"/>
          </a:xfrm>
          <a:prstGeom prst="line">
            <a:avLst/>
          </a:prstGeom>
          <a:noFill/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2"/>
          <p:cNvSpPr/>
          <p:nvPr/>
        </p:nvSpPr>
        <p:spPr>
          <a:xfrm>
            <a:off x="685800" y="42153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Firestore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440680" y="42153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Soto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9144000" y="428853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5"/>
          <p:cNvSpPr/>
          <p:nvPr/>
        </p:nvSpPr>
        <p:spPr>
          <a:xfrm>
            <a:off x="9144000" y="4288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85800" y="4672584"/>
            <a:ext cx="10817352" cy="0"/>
          </a:xfrm>
          <a:prstGeom prst="line">
            <a:avLst/>
          </a:prstGeom>
          <a:noFill/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7"/>
          <p:cNvSpPr/>
          <p:nvPr/>
        </p:nvSpPr>
        <p:spPr>
          <a:xfrm>
            <a:off x="685800" y="46725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móvil Ionic / Angular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440680" y="46725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Soto · Mauricio Pardo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9144000" y="474573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66708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0"/>
          <p:cNvSpPr/>
          <p:nvPr/>
        </p:nvSpPr>
        <p:spPr>
          <a:xfrm>
            <a:off x="9144000" y="47457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iniciado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85800" y="5129784"/>
            <a:ext cx="10817352" cy="0"/>
          </a:xfrm>
          <a:prstGeom prst="line">
            <a:avLst/>
          </a:prstGeom>
          <a:noFill/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2"/>
          <p:cNvSpPr/>
          <p:nvPr/>
        </p:nvSpPr>
        <p:spPr>
          <a:xfrm>
            <a:off x="685800" y="51297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y prototipo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5440680" y="51297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Muriel Miranda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9144000" y="520293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5"/>
          <p:cNvSpPr/>
          <p:nvPr/>
        </p:nvSpPr>
        <p:spPr>
          <a:xfrm>
            <a:off x="9144000" y="52029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85800" y="5586984"/>
            <a:ext cx="10817352" cy="0"/>
          </a:xfrm>
          <a:prstGeom prst="line">
            <a:avLst/>
          </a:prstGeom>
          <a:noFill/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7"/>
          <p:cNvSpPr/>
          <p:nvPr/>
        </p:nvSpPr>
        <p:spPr>
          <a:xfrm>
            <a:off x="685800" y="55869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y modelo probabilístico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5440680" y="55869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Soto · Mauricio Pardo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9144000" y="566013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66708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0"/>
          <p:cNvSpPr/>
          <p:nvPr/>
        </p:nvSpPr>
        <p:spPr>
          <a:xfrm>
            <a:off x="9144000" y="5660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iniciado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gestión preventiva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39312" cy="4480560"/>
          </a:xfrm>
          <a:prstGeom prst="roundRect">
            <a:avLst>
              <a:gd name="adj" fmla="val 2261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13232" y="1901952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/home/claude/assets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842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principales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118104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932688" y="3008376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de documentación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31520" y="3721608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932688" y="361188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demasiado amplio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31520" y="4325112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932688" y="421538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técnica de un integrante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31520" y="4928616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932688" y="481888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de pago complejas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31520" y="5532120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932688" y="5422392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datos para minería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315968" y="1645920"/>
            <a:ext cx="3639312" cy="4480560"/>
          </a:xfrm>
          <a:prstGeom prst="roundRect">
            <a:avLst>
              <a:gd name="adj" fmla="val 2261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4572000" y="19019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1" descr="/home/claude/assets/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98424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72000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Mitigaciones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590288" y="31181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0"/>
          <p:cNvSpPr/>
          <p:nvPr/>
        </p:nvSpPr>
        <p:spPr>
          <a:xfrm>
            <a:off x="4791456" y="3008376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4590288" y="372160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2"/>
          <p:cNvSpPr/>
          <p:nvPr/>
        </p:nvSpPr>
        <p:spPr>
          <a:xfrm>
            <a:off x="4791456" y="361188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estricto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4590288" y="43251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4"/>
          <p:cNvSpPr/>
          <p:nvPr/>
        </p:nvSpPr>
        <p:spPr>
          <a:xfrm>
            <a:off x="4791456" y="421538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1080" dirty="0"/>
          </a:p>
        </p:txBody>
      </p:sp>
      <p:sp>
        <p:nvSpPr>
          <p:cNvPr id="29" name="Shape 25"/>
          <p:cNvSpPr/>
          <p:nvPr/>
        </p:nvSpPr>
        <p:spPr>
          <a:xfrm>
            <a:off x="4590288" y="49286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6"/>
          <p:cNvSpPr/>
          <p:nvPr/>
        </p:nvSpPr>
        <p:spPr>
          <a:xfrm>
            <a:off x="4791456" y="481888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en ambiente sandbox</a:t>
            </a:r>
            <a:endParaRPr lang="en-US" sz="1080" dirty="0"/>
          </a:p>
        </p:txBody>
      </p:sp>
      <p:sp>
        <p:nvSpPr>
          <p:cNvPr id="31" name="Shape 27"/>
          <p:cNvSpPr/>
          <p:nvPr/>
        </p:nvSpPr>
        <p:spPr>
          <a:xfrm>
            <a:off x="4590288" y="55321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28"/>
          <p:cNvSpPr/>
          <p:nvPr/>
        </p:nvSpPr>
        <p:spPr>
          <a:xfrm>
            <a:off x="4791456" y="5422392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demo controlados</a:t>
            </a:r>
            <a:endParaRPr lang="en-US" sz="1080" dirty="0"/>
          </a:p>
        </p:txBody>
      </p:sp>
      <p:sp>
        <p:nvSpPr>
          <p:cNvPr id="33" name="Shape 29"/>
          <p:cNvSpPr/>
          <p:nvPr/>
        </p:nvSpPr>
        <p:spPr>
          <a:xfrm>
            <a:off x="8174736" y="1645920"/>
            <a:ext cx="3639312" cy="4480560"/>
          </a:xfrm>
          <a:prstGeom prst="roundRect">
            <a:avLst>
              <a:gd name="adj" fmla="val 2261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Shape 30"/>
          <p:cNvSpPr/>
          <p:nvPr/>
        </p:nvSpPr>
        <p:spPr>
          <a:xfrm>
            <a:off x="8430768" y="1901952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5" name="Image 2" descr="/home/claude/assets/icon_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1984248"/>
            <a:ext cx="384048" cy="38404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430768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8449056" y="3118104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3"/>
          <p:cNvSpPr/>
          <p:nvPr/>
        </p:nvSpPr>
        <p:spPr>
          <a:xfrm>
            <a:off x="8650224" y="3008376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semanales y minutas</a:t>
            </a:r>
            <a:endParaRPr lang="en-US" sz="1080" dirty="0"/>
          </a:p>
        </p:txBody>
      </p:sp>
      <p:sp>
        <p:nvSpPr>
          <p:cNvPr id="39" name="Shape 34"/>
          <p:cNvSpPr/>
          <p:nvPr/>
        </p:nvSpPr>
        <p:spPr>
          <a:xfrm>
            <a:off x="8449056" y="3721608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5"/>
          <p:cNvSpPr/>
          <p:nvPr/>
        </p:nvSpPr>
        <p:spPr>
          <a:xfrm>
            <a:off x="8650224" y="361188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y Sprint Backlog</a:t>
            </a:r>
            <a:endParaRPr lang="en-US" sz="1080" dirty="0"/>
          </a:p>
        </p:txBody>
      </p:sp>
      <p:sp>
        <p:nvSpPr>
          <p:cNvPr id="41" name="Shape 36"/>
          <p:cNvSpPr/>
          <p:nvPr/>
        </p:nvSpPr>
        <p:spPr>
          <a:xfrm>
            <a:off x="8449056" y="4325112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7"/>
          <p:cNvSpPr/>
          <p:nvPr/>
        </p:nvSpPr>
        <p:spPr>
          <a:xfrm>
            <a:off x="8650224" y="421538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Burndown, reviews y retrospectivas</a:t>
            </a:r>
            <a:endParaRPr lang="en-US" sz="1080" dirty="0"/>
          </a:p>
        </p:txBody>
      </p:sp>
      <p:sp>
        <p:nvSpPr>
          <p:cNvPr id="43" name="Shape 38"/>
          <p:cNvSpPr/>
          <p:nvPr/>
        </p:nvSpPr>
        <p:spPr>
          <a:xfrm>
            <a:off x="8449056" y="4928616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4" name="Text 39"/>
          <p:cNvSpPr/>
          <p:nvPr/>
        </p:nvSpPr>
        <p:spPr>
          <a:xfrm>
            <a:off x="8650224" y="481888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validación (V&amp;V)</a:t>
            </a:r>
            <a:endParaRPr lang="en-US" sz="1080" dirty="0"/>
          </a:p>
        </p:txBody>
      </p:sp>
      <p:sp>
        <p:nvSpPr>
          <p:cNvPr id="46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CEA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FASE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 y próximos pasos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74552" cy="1783080"/>
          </a:xfrm>
          <a:prstGeom prst="roundRect">
            <a:avLst>
              <a:gd name="adj" fmla="val 4615"/>
            </a:avLst>
          </a:prstGeom>
          <a:solidFill>
            <a:srgbClr val="E7F0F3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ServiGo presenta una solución integral y viable, alineada con el perfil de egreso: combina desarrollo móvil, arquitectura cloud, modelamiento NoSQL, gestión ágil, pagos sandbox, geolocalización, reputación digital, BI y minería de datos aplicados a una problemática real de servicios técnicos domiciliarios.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3639312" cy="2331720"/>
          </a:xfrm>
          <a:prstGeom prst="roundRect">
            <a:avLst>
              <a:gd name="adj" fmla="val 3529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94944" y="3941064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0" descr="/home/claude/assets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2336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" y="46177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el modelo Firestore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94944" y="512064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colecciones, índices y reglas de seguridad antes de programar.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15968" y="3703320"/>
            <a:ext cx="3639312" cy="2331720"/>
          </a:xfrm>
          <a:prstGeom prst="roundRect">
            <a:avLst>
              <a:gd name="adj" fmla="val 3529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4553712" y="3941064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4" name="Image 1" descr="/home/claude/assets/icon_smart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402336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3712" y="46177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implementación móvil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53712" y="512064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Sprint de desarrollo Ionic/Angular con tareas pequeñas y revisión semanal.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8174736" y="3703320"/>
            <a:ext cx="3639312" cy="2331720"/>
          </a:xfrm>
          <a:prstGeom prst="roundRect">
            <a:avLst>
              <a:gd name="adj" fmla="val 3529"/>
            </a:avLst>
          </a:prstGeom>
          <a:solidFill>
            <a:srgbClr val="F5F7FB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4"/>
          <p:cNvSpPr/>
          <p:nvPr/>
        </p:nvSpPr>
        <p:spPr>
          <a:xfrm>
            <a:off x="8412480" y="3941064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2" descr="/home/claude/assets/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402336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46177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Mantener trazabilidad ágil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412480" y="512064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Scrum permite adaptar el alcance sin perder evidencia académica.</a:t>
            </a:r>
            <a:endParaRPr lang="en-US" sz="108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8961120" y="3840480"/>
            <a:ext cx="5486400" cy="548640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184648" y="137160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assets/icon_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51790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4688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2918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ServiGo convierte datos operativos en mejores decisiones para clientes y técnicos.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270248" y="4023360"/>
            <a:ext cx="3657600" cy="0"/>
          </a:xfrm>
          <a:prstGeom prst="line">
            <a:avLst/>
          </a:prstGeom>
          <a:noFill/>
          <a:ln w="1905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1" name="Image 1" descr="/home/claude/assets/logo_du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427863"/>
            <a:ext cx="1417320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1209</Words>
  <Application>Microsoft Office PowerPoint</Application>
  <PresentationFormat>Panorámica</PresentationFormat>
  <Paragraphs>270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muriel miranda</cp:lastModifiedBy>
  <cp:revision>2</cp:revision>
  <dcterms:created xsi:type="dcterms:W3CDTF">2026-09-23T00:32:44Z</dcterms:created>
  <dcterms:modified xsi:type="dcterms:W3CDTF">2026-09-23T00:38:02Z</dcterms:modified>
</cp:coreProperties>
</file>